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7" r:id="rId82"/>
    <p:sldId id="336" r:id="rId83"/>
    <p:sldId id="338" r:id="rId84"/>
    <p:sldId id="339" r:id="rId85"/>
    <p:sldId id="340" r:id="rId86"/>
    <p:sldId id="341" r:id="rId87"/>
    <p:sldId id="342" r:id="rId88"/>
    <p:sldId id="343" r:id="rId89"/>
    <p:sldId id="344" r:id="rId90"/>
    <p:sldId id="345" r:id="rId91"/>
    <p:sldId id="346" r:id="rId92"/>
    <p:sldId id="348" r:id="rId93"/>
    <p:sldId id="347" r:id="rId94"/>
    <p:sldId id="349" r:id="rId95"/>
    <p:sldId id="351" r:id="rId96"/>
    <p:sldId id="350"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71" r:id="rId111"/>
    <p:sldId id="370" r:id="rId112"/>
    <p:sldId id="369" r:id="rId113"/>
    <p:sldId id="368" r:id="rId114"/>
    <p:sldId id="367" r:id="rId115"/>
    <p:sldId id="366" r:id="rId116"/>
    <p:sldId id="365" r:id="rId117"/>
    <p:sldId id="372" r:id="rId118"/>
    <p:sldId id="373" r:id="rId119"/>
    <p:sldId id="374" r:id="rId120"/>
    <p:sldId id="375" r:id="rId121"/>
    <p:sldId id="376" r:id="rId122"/>
    <p:sldId id="377" r:id="rId123"/>
    <p:sldId id="378" r:id="rId124"/>
    <p:sldId id="379" r:id="rId125"/>
    <p:sldId id="380" r:id="rId126"/>
    <p:sldId id="381" r:id="rId127"/>
    <p:sldId id="382" r:id="rId128"/>
    <p:sldId id="385" r:id="rId129"/>
    <p:sldId id="383" r:id="rId130"/>
    <p:sldId id="384" r:id="rId131"/>
    <p:sldId id="386" r:id="rId132"/>
    <p:sldId id="390" r:id="rId133"/>
    <p:sldId id="389" r:id="rId134"/>
    <p:sldId id="388" r:id="rId135"/>
    <p:sldId id="387" r:id="rId136"/>
    <p:sldId id="391" r:id="rId137"/>
    <p:sldId id="392" r:id="rId138"/>
    <p:sldId id="393" r:id="rId139"/>
    <p:sldId id="394" r:id="rId140"/>
    <p:sldId id="395" r:id="rId141"/>
    <p:sldId id="399" r:id="rId142"/>
    <p:sldId id="398" r:id="rId143"/>
    <p:sldId id="397" r:id="rId144"/>
    <p:sldId id="396" r:id="rId145"/>
    <p:sldId id="400" r:id="rId146"/>
    <p:sldId id="406" r:id="rId147"/>
    <p:sldId id="405" r:id="rId148"/>
    <p:sldId id="407" r:id="rId149"/>
    <p:sldId id="412" r:id="rId150"/>
    <p:sldId id="411" r:id="rId151"/>
    <p:sldId id="401" r:id="rId152"/>
    <p:sldId id="410" r:id="rId153"/>
    <p:sldId id="409" r:id="rId154"/>
    <p:sldId id="417" r:id="rId155"/>
    <p:sldId id="416" r:id="rId156"/>
    <p:sldId id="415" r:id="rId157"/>
    <p:sldId id="414" r:id="rId158"/>
    <p:sldId id="413" r:id="rId159"/>
    <p:sldId id="408" r:id="rId160"/>
  </p:sldIdLst>
  <p:sldSz cx="9144000" cy="6858000" type="screen4x3"/>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73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usz Gogola" userId="bed65073f56a5fe3" providerId="LiveId" clId="{38A73129-2211-4902-8ED1-D0E4E27FB80E}"/>
    <pc:docChg chg="custSel addSld modSld">
      <pc:chgData name="Mariusz Gogola" userId="bed65073f56a5fe3" providerId="LiveId" clId="{38A73129-2211-4902-8ED1-D0E4E27FB80E}" dt="2019-02-28T12:28:25.052" v="2223" actId="27636"/>
      <pc:docMkLst>
        <pc:docMk/>
      </pc:docMkLst>
      <pc:sldChg chg="modSp">
        <pc:chgData name="Mariusz Gogola" userId="bed65073f56a5fe3" providerId="LiveId" clId="{38A73129-2211-4902-8ED1-D0E4E27FB80E}" dt="2019-02-28T07:31:51.406" v="38"/>
        <pc:sldMkLst>
          <pc:docMk/>
          <pc:sldMk cId="839067735" sldId="408"/>
        </pc:sldMkLst>
        <pc:spChg chg="mod">
          <ac:chgData name="Mariusz Gogola" userId="bed65073f56a5fe3" providerId="LiveId" clId="{38A73129-2211-4902-8ED1-D0E4E27FB80E}" dt="2019-02-28T07:31:51.406" v="38"/>
          <ac:spMkLst>
            <pc:docMk/>
            <pc:sldMk cId="839067735" sldId="408"/>
            <ac:spMk id="2" creationId="{DA221EA5-2519-48C6-ABBE-95828383E16C}"/>
          </ac:spMkLst>
        </pc:spChg>
      </pc:sldChg>
      <pc:sldChg chg="modSp">
        <pc:chgData name="Mariusz Gogola" userId="bed65073f56a5fe3" providerId="LiveId" clId="{38A73129-2211-4902-8ED1-D0E4E27FB80E}" dt="2019-02-28T12:28:25.052" v="2223" actId="27636"/>
        <pc:sldMkLst>
          <pc:docMk/>
          <pc:sldMk cId="1516441654" sldId="409"/>
        </pc:sldMkLst>
        <pc:spChg chg="mod">
          <ac:chgData name="Mariusz Gogola" userId="bed65073f56a5fe3" providerId="LiveId" clId="{38A73129-2211-4902-8ED1-D0E4E27FB80E}" dt="2019-02-28T07:31:47.639" v="37"/>
          <ac:spMkLst>
            <pc:docMk/>
            <pc:sldMk cId="1516441654" sldId="409"/>
            <ac:spMk id="2" creationId="{DA221EA5-2519-48C6-ABBE-95828383E16C}"/>
          </ac:spMkLst>
        </pc:spChg>
        <pc:spChg chg="mod">
          <ac:chgData name="Mariusz Gogola" userId="bed65073f56a5fe3" providerId="LiveId" clId="{38A73129-2211-4902-8ED1-D0E4E27FB80E}" dt="2019-02-28T12:28:25.052" v="2223" actId="27636"/>
          <ac:spMkLst>
            <pc:docMk/>
            <pc:sldMk cId="1516441654" sldId="409"/>
            <ac:spMk id="3" creationId="{3C93B7A5-A89E-4EB5-924F-62826E1A3A7E}"/>
          </ac:spMkLst>
        </pc:spChg>
      </pc:sldChg>
      <pc:sldChg chg="modSp">
        <pc:chgData name="Mariusz Gogola" userId="bed65073f56a5fe3" providerId="LiveId" clId="{38A73129-2211-4902-8ED1-D0E4E27FB80E}" dt="2019-02-28T07:40:41.357" v="797" actId="20577"/>
        <pc:sldMkLst>
          <pc:docMk/>
          <pc:sldMk cId="3671527587" sldId="410"/>
        </pc:sldMkLst>
        <pc:spChg chg="mod">
          <ac:chgData name="Mariusz Gogola" userId="bed65073f56a5fe3" providerId="LiveId" clId="{38A73129-2211-4902-8ED1-D0E4E27FB80E}" dt="2019-02-28T07:31:38.316" v="36" actId="20577"/>
          <ac:spMkLst>
            <pc:docMk/>
            <pc:sldMk cId="3671527587" sldId="410"/>
            <ac:spMk id="2" creationId="{DA221EA5-2519-48C6-ABBE-95828383E16C}"/>
          </ac:spMkLst>
        </pc:spChg>
        <pc:spChg chg="mod">
          <ac:chgData name="Mariusz Gogola" userId="bed65073f56a5fe3" providerId="LiveId" clId="{38A73129-2211-4902-8ED1-D0E4E27FB80E}" dt="2019-02-28T07:40:41.357" v="797" actId="20577"/>
          <ac:spMkLst>
            <pc:docMk/>
            <pc:sldMk cId="3671527587" sldId="410"/>
            <ac:spMk id="3" creationId="{3C93B7A5-A89E-4EB5-924F-62826E1A3A7E}"/>
          </ac:spMkLst>
        </pc:spChg>
      </pc:sldChg>
      <pc:sldChg chg="add">
        <pc:chgData name="Mariusz Gogola" userId="bed65073f56a5fe3" providerId="LiveId" clId="{38A73129-2211-4902-8ED1-D0E4E27FB80E}" dt="2019-02-28T07:31:54.384" v="39"/>
        <pc:sldMkLst>
          <pc:docMk/>
          <pc:sldMk cId="3694657477" sldId="413"/>
        </pc:sldMkLst>
      </pc:sldChg>
      <pc:sldChg chg="modSp add">
        <pc:chgData name="Mariusz Gogola" userId="bed65073f56a5fe3" providerId="LiveId" clId="{38A73129-2211-4902-8ED1-D0E4E27FB80E}" dt="2019-02-28T08:04:10.789" v="2218" actId="20577"/>
        <pc:sldMkLst>
          <pc:docMk/>
          <pc:sldMk cId="2345627027" sldId="414"/>
        </pc:sldMkLst>
        <pc:spChg chg="mod">
          <ac:chgData name="Mariusz Gogola" userId="bed65073f56a5fe3" providerId="LiveId" clId="{38A73129-2211-4902-8ED1-D0E4E27FB80E}" dt="2019-02-28T08:04:10.789" v="2218" actId="20577"/>
          <ac:spMkLst>
            <pc:docMk/>
            <pc:sldMk cId="2345627027" sldId="414"/>
            <ac:spMk id="3" creationId="{3C93B7A5-A89E-4EB5-924F-62826E1A3A7E}"/>
          </ac:spMkLst>
        </pc:spChg>
      </pc:sldChg>
      <pc:sldChg chg="modSp add">
        <pc:chgData name="Mariusz Gogola" userId="bed65073f56a5fe3" providerId="LiveId" clId="{38A73129-2211-4902-8ED1-D0E4E27FB80E}" dt="2019-02-28T08:01:44.044" v="1767" actId="27636"/>
        <pc:sldMkLst>
          <pc:docMk/>
          <pc:sldMk cId="2621751714" sldId="415"/>
        </pc:sldMkLst>
        <pc:spChg chg="mod">
          <ac:chgData name="Mariusz Gogola" userId="bed65073f56a5fe3" providerId="LiveId" clId="{38A73129-2211-4902-8ED1-D0E4E27FB80E}" dt="2019-02-28T08:01:44.044" v="1767" actId="27636"/>
          <ac:spMkLst>
            <pc:docMk/>
            <pc:sldMk cId="2621751714" sldId="415"/>
            <ac:spMk id="3" creationId="{3C93B7A5-A89E-4EB5-924F-62826E1A3A7E}"/>
          </ac:spMkLst>
        </pc:spChg>
      </pc:sldChg>
      <pc:sldChg chg="modSp add">
        <pc:chgData name="Mariusz Gogola" userId="bed65073f56a5fe3" providerId="LiveId" clId="{38A73129-2211-4902-8ED1-D0E4E27FB80E}" dt="2019-02-28T07:59:18.228" v="1764" actId="20577"/>
        <pc:sldMkLst>
          <pc:docMk/>
          <pc:sldMk cId="3947524854" sldId="416"/>
        </pc:sldMkLst>
        <pc:spChg chg="mod">
          <ac:chgData name="Mariusz Gogola" userId="bed65073f56a5fe3" providerId="LiveId" clId="{38A73129-2211-4902-8ED1-D0E4E27FB80E}" dt="2019-02-28T07:59:18.228" v="1764" actId="20577"/>
          <ac:spMkLst>
            <pc:docMk/>
            <pc:sldMk cId="3947524854" sldId="416"/>
            <ac:spMk id="3" creationId="{3C93B7A5-A89E-4EB5-924F-62826E1A3A7E}"/>
          </ac:spMkLst>
        </pc:spChg>
      </pc:sldChg>
      <pc:sldChg chg="modSp add">
        <pc:chgData name="Mariusz Gogola" userId="bed65073f56a5fe3" providerId="LiveId" clId="{38A73129-2211-4902-8ED1-D0E4E27FB80E}" dt="2019-02-28T07:50:59.449" v="1480" actId="20577"/>
        <pc:sldMkLst>
          <pc:docMk/>
          <pc:sldMk cId="316771231" sldId="417"/>
        </pc:sldMkLst>
        <pc:spChg chg="mod">
          <ac:chgData name="Mariusz Gogola" userId="bed65073f56a5fe3" providerId="LiveId" clId="{38A73129-2211-4902-8ED1-D0E4E27FB80E}" dt="2019-02-28T07:50:59.449" v="1480" actId="20577"/>
          <ac:spMkLst>
            <pc:docMk/>
            <pc:sldMk cId="316771231" sldId="417"/>
            <ac:spMk id="3" creationId="{3C93B7A5-A89E-4EB5-924F-62826E1A3A7E}"/>
          </ac:spMkLst>
        </pc:spChg>
      </pc:sldChg>
    </pc:docChg>
  </pc:docChgLst>
  <pc:docChgLst>
    <pc:chgData name="Mariusz Gogola" userId="bed65073f56a5fe3" providerId="LiveId" clId="{F028701C-11BD-40A1-BA24-569C1A6C9896}"/>
    <pc:docChg chg="undo custSel modSld">
      <pc:chgData name="Mariusz Gogola" userId="bed65073f56a5fe3" providerId="LiveId" clId="{F028701C-11BD-40A1-BA24-569C1A6C9896}" dt="2024-10-07T11:21:58.711" v="10" actId="1076"/>
      <pc:docMkLst>
        <pc:docMk/>
      </pc:docMkLst>
      <pc:sldChg chg="modSp mod">
        <pc:chgData name="Mariusz Gogola" userId="bed65073f56a5fe3" providerId="LiveId" clId="{F028701C-11BD-40A1-BA24-569C1A6C9896}" dt="2024-10-07T11:21:58.711" v="10" actId="1076"/>
        <pc:sldMkLst>
          <pc:docMk/>
          <pc:sldMk cId="2489084239" sldId="267"/>
        </pc:sldMkLst>
        <pc:spChg chg="mod">
          <ac:chgData name="Mariusz Gogola" userId="bed65073f56a5fe3" providerId="LiveId" clId="{F028701C-11BD-40A1-BA24-569C1A6C9896}" dt="2024-10-07T11:21:58.711" v="10" actId="1076"/>
          <ac:spMkLst>
            <pc:docMk/>
            <pc:sldMk cId="2489084239" sldId="267"/>
            <ac:spMk id="3" creationId="{00000000-0000-0000-0000-000000000000}"/>
          </ac:spMkLst>
        </pc:spChg>
      </pc:sldChg>
      <pc:sldChg chg="modSp mod">
        <pc:chgData name="Mariusz Gogola" userId="bed65073f56a5fe3" providerId="LiveId" clId="{F028701C-11BD-40A1-BA24-569C1A6C9896}" dt="2024-10-04T07:21:02.599" v="9" actId="27636"/>
        <pc:sldMkLst>
          <pc:docMk/>
          <pc:sldMk cId="1450346782" sldId="284"/>
        </pc:sldMkLst>
        <pc:spChg chg="mod">
          <ac:chgData name="Mariusz Gogola" userId="bed65073f56a5fe3" providerId="LiveId" clId="{F028701C-11BD-40A1-BA24-569C1A6C9896}" dt="2024-10-04T07:21:02.599" v="9" actId="27636"/>
          <ac:spMkLst>
            <pc:docMk/>
            <pc:sldMk cId="1450346782" sldId="284"/>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FD17FA3B-C404-4317-B0BC-953931111309}" type="datetimeFigureOut">
              <a:rPr lang="pl-PL" smtClean="0"/>
              <a:t>07.10.2024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D17FA3B-C404-4317-B0BC-953931111309}" type="datetimeFigureOut">
              <a:rPr lang="pl-PL" smtClean="0"/>
              <a:t>07.10.2024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FD17FA3B-C404-4317-B0BC-953931111309}" type="datetimeFigureOut">
              <a:rPr lang="pl-PL" smtClean="0"/>
              <a:t>07.10.2024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D17FA3B-C404-4317-B0BC-953931111309}" type="datetimeFigureOut">
              <a:rPr lang="pl-PL" smtClean="0"/>
              <a:t>07.10.2024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FD17FA3B-C404-4317-B0BC-953931111309}" type="datetimeFigureOut">
              <a:rPr lang="pl-PL" smtClean="0"/>
              <a:t>07.10.2024</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D17FA3B-C404-4317-B0BC-953931111309}" type="datetimeFigureOut">
              <a:rPr lang="pl-PL" smtClean="0"/>
              <a:t>07.10.2024</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FD17FA3B-C404-4317-B0BC-953931111309}" type="datetimeFigureOut">
              <a:rPr lang="pl-PL" smtClean="0"/>
              <a:t>07.10.2024</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D17FA3B-C404-4317-B0BC-953931111309}" type="datetimeFigureOut">
              <a:rPr lang="pl-PL" smtClean="0"/>
              <a:t>07.10.2024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D17FA3B-C404-4317-B0BC-953931111309}" type="datetimeFigureOut">
              <a:rPr lang="pl-PL" smtClean="0"/>
              <a:t>07.10.2024</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D17FA3B-C404-4317-B0BC-953931111309}" type="datetimeFigureOut">
              <a:rPr lang="pl-PL" smtClean="0"/>
              <a:t>07.10.2024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FD17FA3B-C404-4317-B0BC-953931111309}" type="datetimeFigureOut">
              <a:rPr lang="pl-PL" smtClean="0"/>
              <a:t>07.10.2024</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0931897F-8F23-433E-A660-EFF8D3EDA506}" type="slidenum">
              <a:rPr lang="pl-PL" smtClean="0"/>
              <a:t>‹#›</a:t>
            </a:fld>
            <a:endParaRPr lang="pl-P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17FA3B-C404-4317-B0BC-953931111309}" type="datetimeFigureOut">
              <a:rPr lang="pl-PL" smtClean="0"/>
              <a:t>07.10.2024</a:t>
            </a:fld>
            <a:endParaRPr lang="pl-PL"/>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31897F-8F23-433E-A660-EFF8D3EDA506}" type="slidenum">
              <a:rPr lang="pl-PL" smtClean="0"/>
              <a:t>‹#›</a:t>
            </a:fld>
            <a:endParaRPr lang="pl-P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xampp/htdocs/CSS/13.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xampp/htdocs/CSS/14.html"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hyperlink" Target="file:///C:\xampp\htdocs\CSS\29.html" TargetMode="Externa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lstStyle/>
          <a:p>
            <a:r>
              <a:rPr lang="pl-PL" dirty="0"/>
              <a:t>Kaskadowe arkusze stylów CSS</a:t>
            </a:r>
          </a:p>
        </p:txBody>
      </p:sp>
      <p:sp>
        <p:nvSpPr>
          <p:cNvPr id="3" name="Podtytuł 2"/>
          <p:cNvSpPr>
            <a:spLocks noGrp="1"/>
          </p:cNvSpPr>
          <p:nvPr>
            <p:ph type="subTitle" idx="1"/>
          </p:nvPr>
        </p:nvSpPr>
        <p:spPr/>
        <p:txBody>
          <a:bodyPr/>
          <a:lstStyle/>
          <a:p>
            <a:endParaRPr lang="pl-PL" dirty="0"/>
          </a:p>
        </p:txBody>
      </p:sp>
    </p:spTree>
    <p:extLst>
      <p:ext uri="{BB962C8B-B14F-4D97-AF65-F5344CB8AC3E}">
        <p14:creationId xmlns:p14="http://schemas.microsoft.com/office/powerpoint/2010/main" val="2696768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CSS - wprowadzenie</a:t>
            </a:r>
          </a:p>
        </p:txBody>
      </p:sp>
      <p:sp>
        <p:nvSpPr>
          <p:cNvPr id="3" name="Symbol zastępczy zawartości 2"/>
          <p:cNvSpPr>
            <a:spLocks noGrp="1"/>
          </p:cNvSpPr>
          <p:nvPr>
            <p:ph idx="1"/>
          </p:nvPr>
        </p:nvSpPr>
        <p:spPr/>
        <p:txBody>
          <a:bodyPr/>
          <a:lstStyle/>
          <a:p>
            <a:r>
              <a:rPr lang="pl-PL" dirty="0"/>
              <a:t>CSS (</a:t>
            </a:r>
            <a:r>
              <a:rPr lang="pl-PL" dirty="0" err="1"/>
              <a:t>Cascading</a:t>
            </a:r>
            <a:r>
              <a:rPr lang="pl-PL" dirty="0"/>
              <a:t> Style </a:t>
            </a:r>
            <a:r>
              <a:rPr lang="pl-PL" dirty="0" err="1"/>
              <a:t>Sheets</a:t>
            </a:r>
            <a:r>
              <a:rPr lang="pl-PL" dirty="0"/>
              <a:t>) – Kaskadowe Arkusze Stylów</a:t>
            </a:r>
          </a:p>
          <a:p>
            <a:r>
              <a:rPr lang="pl-PL" dirty="0"/>
              <a:t>Język CSS powstał do określania układu graficznego dokumentu HTML. Wszystkie polecenia dotyczące formatowania wyglądu powinny zostać umieszczone w osobnym pliku i powiązane z elementami zdefiniowanymi w kodzie HTML.</a:t>
            </a:r>
          </a:p>
        </p:txBody>
      </p:sp>
    </p:spTree>
    <p:extLst>
      <p:ext uri="{BB962C8B-B14F-4D97-AF65-F5344CB8AC3E}">
        <p14:creationId xmlns:p14="http://schemas.microsoft.com/office/powerpoint/2010/main" val="577740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Cechy języka CSS</a:t>
            </a:r>
          </a:p>
        </p:txBody>
      </p:sp>
      <p:sp>
        <p:nvSpPr>
          <p:cNvPr id="3" name="Symbol zastępczy zawartości 2"/>
          <p:cNvSpPr>
            <a:spLocks noGrp="1"/>
          </p:cNvSpPr>
          <p:nvPr>
            <p:ph idx="1"/>
          </p:nvPr>
        </p:nvSpPr>
        <p:spPr/>
        <p:txBody>
          <a:bodyPr>
            <a:normAutofit fontScale="85000" lnSpcReduction="10000"/>
          </a:bodyPr>
          <a:lstStyle/>
          <a:p>
            <a:r>
              <a:rPr lang="pl-PL" dirty="0"/>
              <a:t>Oddziela strukturę informacyjną witryny od jej warstwy prezentacyjnej</a:t>
            </a:r>
          </a:p>
          <a:p>
            <a:r>
              <a:rPr lang="pl-PL" dirty="0"/>
              <a:t>Daje większe możliwości formatowania tekstu</a:t>
            </a:r>
          </a:p>
          <a:p>
            <a:r>
              <a:rPr lang="pl-PL" dirty="0"/>
              <a:t>Pozwala zapisać wszystkie informacje dotyczące wyglądu dokumentu w oddzielnym pliku tekstowym dołączonym później do dokumentów HTML</a:t>
            </a:r>
          </a:p>
          <a:p>
            <a:r>
              <a:rPr lang="pl-PL" dirty="0"/>
              <a:t>Umożliwia formatowanie wielu dokumentów przy pomocy jednego arkusza CSS</a:t>
            </a:r>
          </a:p>
          <a:p>
            <a:r>
              <a:rPr lang="pl-PL" dirty="0"/>
              <a:t>Umożliwia stosowanie różnych układów graficznych w zależności od typu urządzenia na którym zamierzamy wyświetlić projektowaną stronę</a:t>
            </a:r>
          </a:p>
        </p:txBody>
      </p:sp>
    </p:spTree>
    <p:extLst>
      <p:ext uri="{BB962C8B-B14F-4D97-AF65-F5344CB8AC3E}">
        <p14:creationId xmlns:p14="http://schemas.microsoft.com/office/powerpoint/2010/main" val="1096889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Podstawowa składnia kaskadowego arkusza stylów</a:t>
            </a:r>
          </a:p>
        </p:txBody>
      </p:sp>
      <p:sp>
        <p:nvSpPr>
          <p:cNvPr id="3" name="Symbol zastępczy zawartości 2"/>
          <p:cNvSpPr>
            <a:spLocks noGrp="1"/>
          </p:cNvSpPr>
          <p:nvPr>
            <p:ph idx="1"/>
          </p:nvPr>
        </p:nvSpPr>
        <p:spPr/>
        <p:txBody>
          <a:bodyPr/>
          <a:lstStyle/>
          <a:p>
            <a:pPr marL="0" indent="0">
              <a:buNone/>
            </a:pPr>
            <a:endParaRPr lang="pl-PL" dirty="0"/>
          </a:p>
          <a:p>
            <a:pPr marL="0" indent="0">
              <a:buNone/>
            </a:pPr>
            <a:r>
              <a:rPr lang="pl-PL" dirty="0"/>
              <a:t>			wartość</a:t>
            </a:r>
          </a:p>
          <a:p>
            <a:pPr marL="0" indent="0">
              <a:buNone/>
            </a:pPr>
            <a:endParaRPr lang="pl-PL" dirty="0"/>
          </a:p>
          <a:p>
            <a:pPr marL="0" indent="0">
              <a:buNone/>
            </a:pPr>
            <a:r>
              <a:rPr lang="pl-PL" dirty="0"/>
              <a:t>	p {</a:t>
            </a:r>
            <a:r>
              <a:rPr lang="pl-PL" dirty="0" err="1"/>
              <a:t>color</a:t>
            </a:r>
            <a:r>
              <a:rPr lang="pl-PL" dirty="0"/>
              <a:t>: </a:t>
            </a:r>
            <a:r>
              <a:rPr lang="pl-PL" dirty="0" err="1"/>
              <a:t>blue</a:t>
            </a:r>
            <a:r>
              <a:rPr lang="pl-PL" dirty="0"/>
              <a:t>; </a:t>
            </a:r>
            <a:r>
              <a:rPr lang="pl-PL" dirty="0" err="1"/>
              <a:t>font-size</a:t>
            </a:r>
            <a:r>
              <a:rPr lang="pl-PL" dirty="0"/>
              <a:t>: 20px;}</a:t>
            </a:r>
          </a:p>
          <a:p>
            <a:pPr marL="0" indent="0">
              <a:buNone/>
            </a:pPr>
            <a:endParaRPr lang="pl-PL" dirty="0"/>
          </a:p>
          <a:p>
            <a:pPr marL="0" indent="0">
              <a:buNone/>
            </a:pPr>
            <a:r>
              <a:rPr lang="pl-PL" dirty="0"/>
              <a:t>		deklaracja (właściwość)</a:t>
            </a:r>
          </a:p>
          <a:p>
            <a:pPr marL="0" indent="0">
              <a:buNone/>
            </a:pPr>
            <a:r>
              <a:rPr lang="pl-PL" dirty="0"/>
              <a:t>selektor</a:t>
            </a:r>
          </a:p>
        </p:txBody>
      </p:sp>
      <p:cxnSp>
        <p:nvCxnSpPr>
          <p:cNvPr id="5" name="Łącznik prosty ze strzałką 4"/>
          <p:cNvCxnSpPr/>
          <p:nvPr/>
        </p:nvCxnSpPr>
        <p:spPr>
          <a:xfrm flipH="1">
            <a:off x="1341543" y="3861048"/>
            <a:ext cx="206121" cy="11152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Łącznik prosty ze strzałką 6"/>
          <p:cNvCxnSpPr/>
          <p:nvPr/>
        </p:nvCxnSpPr>
        <p:spPr>
          <a:xfrm>
            <a:off x="2540022" y="3861048"/>
            <a:ext cx="1584176"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Łącznik prosty ze strzałką 8"/>
          <p:cNvCxnSpPr/>
          <p:nvPr/>
        </p:nvCxnSpPr>
        <p:spPr>
          <a:xfrm flipH="1">
            <a:off x="4193569" y="3820041"/>
            <a:ext cx="792088"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Łącznik prosty ze strzałką 11"/>
          <p:cNvCxnSpPr/>
          <p:nvPr/>
        </p:nvCxnSpPr>
        <p:spPr>
          <a:xfrm flipH="1">
            <a:off x="3332110" y="2780928"/>
            <a:ext cx="663826"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p:cNvCxnSpPr/>
          <p:nvPr/>
        </p:nvCxnSpPr>
        <p:spPr>
          <a:xfrm>
            <a:off x="4124198" y="2780928"/>
            <a:ext cx="1599930"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840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Podstawowa składnia kaskadowego arkusza stylów</a:t>
            </a:r>
          </a:p>
        </p:txBody>
      </p:sp>
      <p:sp>
        <p:nvSpPr>
          <p:cNvPr id="3" name="Symbol zastępczy zawartości 2"/>
          <p:cNvSpPr>
            <a:spLocks noGrp="1"/>
          </p:cNvSpPr>
          <p:nvPr>
            <p:ph idx="1"/>
          </p:nvPr>
        </p:nvSpPr>
        <p:spPr/>
        <p:txBody>
          <a:bodyPr>
            <a:normAutofit fontScale="92500" lnSpcReduction="10000"/>
          </a:bodyPr>
          <a:lstStyle/>
          <a:p>
            <a:r>
              <a:rPr lang="pl-PL" b="1" dirty="0"/>
              <a:t>Selektor –</a:t>
            </a:r>
            <a:r>
              <a:rPr lang="pl-PL" dirty="0"/>
              <a:t> określa do jakich znaczników języka HTML odnosi się dalsza część definicji stylu. Selektorem może być dowolny znacznik HTML np. p, body, li, h1. Selektor służy do wskazania dla jakiego elementu chcemy ustawić styl.</a:t>
            </a:r>
          </a:p>
          <a:p>
            <a:r>
              <a:rPr lang="pl-PL" b="1" dirty="0"/>
              <a:t>Właściwość –</a:t>
            </a:r>
            <a:r>
              <a:rPr lang="pl-PL" dirty="0"/>
              <a:t> służy do określenia jaki atrybut znacznika będziemy ustawiali np. wielkość czcionki, kolor czcionki, rodzaj czcionki</a:t>
            </a:r>
          </a:p>
          <a:p>
            <a:r>
              <a:rPr lang="pl-PL" b="1" dirty="0"/>
              <a:t>Wartość –</a:t>
            </a:r>
            <a:r>
              <a:rPr lang="pl-PL" dirty="0"/>
              <a:t> określa konkretną wartość atrybutu np. 20px, </a:t>
            </a:r>
            <a:r>
              <a:rPr lang="pl-PL" dirty="0" err="1"/>
              <a:t>blue</a:t>
            </a:r>
            <a:r>
              <a:rPr lang="pl-PL" dirty="0"/>
              <a:t>, #348282 </a:t>
            </a:r>
          </a:p>
          <a:p>
            <a:endParaRPr lang="pl-PL" dirty="0"/>
          </a:p>
          <a:p>
            <a:endParaRPr lang="pl-PL" dirty="0"/>
          </a:p>
        </p:txBody>
      </p:sp>
    </p:spTree>
    <p:extLst>
      <p:ext uri="{BB962C8B-B14F-4D97-AF65-F5344CB8AC3E}">
        <p14:creationId xmlns:p14="http://schemas.microsoft.com/office/powerpoint/2010/main" val="315744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Reguły obowiązujące w składni kaskadowych arkuszy stylów</a:t>
            </a:r>
          </a:p>
        </p:txBody>
      </p:sp>
      <p:sp>
        <p:nvSpPr>
          <p:cNvPr id="3" name="Symbol zastępczy zawartości 2"/>
          <p:cNvSpPr>
            <a:spLocks noGrp="1"/>
          </p:cNvSpPr>
          <p:nvPr>
            <p:ph idx="1"/>
          </p:nvPr>
        </p:nvSpPr>
        <p:spPr/>
        <p:txBody>
          <a:bodyPr>
            <a:normAutofit fontScale="92500" lnSpcReduction="10000"/>
          </a:bodyPr>
          <a:lstStyle/>
          <a:p>
            <a:r>
              <a:rPr lang="pl-PL" dirty="0"/>
              <a:t>Selektor wskazuje na element w których chcemy zmienić styl</a:t>
            </a:r>
          </a:p>
          <a:p>
            <a:r>
              <a:rPr lang="pl-PL" dirty="0"/>
              <a:t>Blok deklaracji zawiera jedną lub kilka deklaracji rozdzielonych średnikami</a:t>
            </a:r>
          </a:p>
          <a:p>
            <a:r>
              <a:rPr lang="pl-PL" dirty="0"/>
              <a:t>Każda deklaracja zawiera nazwę właściwości oraz po dwukropku wartość przypisaną tej właściwości</a:t>
            </a:r>
          </a:p>
          <a:p>
            <a:r>
              <a:rPr lang="pl-PL" dirty="0"/>
              <a:t>Każda deklaracja kończy się średnikiem</a:t>
            </a:r>
          </a:p>
          <a:p>
            <a:r>
              <a:rPr lang="pl-PL" dirty="0"/>
              <a:t>Blok deklaracji jest otoczony nawiasami klamrowymi</a:t>
            </a:r>
          </a:p>
        </p:txBody>
      </p:sp>
    </p:spTree>
    <p:extLst>
      <p:ext uri="{BB962C8B-B14F-4D97-AF65-F5344CB8AC3E}">
        <p14:creationId xmlns:p14="http://schemas.microsoft.com/office/powerpoint/2010/main" val="308451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Sposoby dołączania stylów</a:t>
            </a:r>
          </a:p>
        </p:txBody>
      </p:sp>
      <p:sp>
        <p:nvSpPr>
          <p:cNvPr id="3" name="Symbol zastępczy zawartości 2"/>
          <p:cNvSpPr>
            <a:spLocks noGrp="1"/>
          </p:cNvSpPr>
          <p:nvPr>
            <p:ph idx="1"/>
          </p:nvPr>
        </p:nvSpPr>
        <p:spPr/>
        <p:txBody>
          <a:bodyPr/>
          <a:lstStyle/>
          <a:p>
            <a:r>
              <a:rPr lang="pl-PL" dirty="0"/>
              <a:t>Styl lokalny (w linii)</a:t>
            </a:r>
          </a:p>
          <a:p>
            <a:r>
              <a:rPr lang="pl-PL" dirty="0"/>
              <a:t>Styl wewnętrzny</a:t>
            </a:r>
          </a:p>
          <a:p>
            <a:r>
              <a:rPr lang="pl-PL" dirty="0"/>
              <a:t>Styl zewnętrzny (z pliku)</a:t>
            </a:r>
          </a:p>
          <a:p>
            <a:pPr marL="0" indent="0">
              <a:buNone/>
            </a:pPr>
            <a:endParaRPr lang="pl-PL" dirty="0"/>
          </a:p>
          <a:p>
            <a:endParaRPr lang="pl-PL" dirty="0"/>
          </a:p>
        </p:txBody>
      </p:sp>
    </p:spTree>
    <p:extLst>
      <p:ext uri="{BB962C8B-B14F-4D97-AF65-F5344CB8AC3E}">
        <p14:creationId xmlns:p14="http://schemas.microsoft.com/office/powerpoint/2010/main" val="34553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Styl lokalny</a:t>
            </a:r>
          </a:p>
        </p:txBody>
      </p:sp>
      <p:sp>
        <p:nvSpPr>
          <p:cNvPr id="3" name="Symbol zastępczy zawartości 2"/>
          <p:cNvSpPr>
            <a:spLocks noGrp="1"/>
          </p:cNvSpPr>
          <p:nvPr>
            <p:ph idx="1"/>
          </p:nvPr>
        </p:nvSpPr>
        <p:spPr/>
        <p:txBody>
          <a:bodyPr>
            <a:normAutofit fontScale="85000" lnSpcReduction="10000"/>
          </a:bodyPr>
          <a:lstStyle/>
          <a:p>
            <a:r>
              <a:rPr lang="pl-PL" dirty="0"/>
              <a:t>Korzystając ze stylu lokalnego, można zdefiniować formatowanie pojedynczego elementu strony. Taki styl definiowany jest w tej samej linii, w której znajduje się element formatowany, dlatego nazywany jest on również stylem w linii. Umieszczany jest on  bezpośrednio w dokumencie HTML. Wadą tego sposobu jest mieszanie warstwy struktury i treści z warstwą prezentacji. Powinien być on stosowany tylko w wyjątkowych sytuacjach.</a:t>
            </a:r>
          </a:p>
          <a:p>
            <a:pPr marL="0" indent="0">
              <a:buNone/>
            </a:pPr>
            <a:r>
              <a:rPr lang="pl-PL" dirty="0"/>
              <a:t>&lt;body style=”</a:t>
            </a:r>
            <a:r>
              <a:rPr lang="pl-PL" dirty="0" err="1"/>
              <a:t>backgroud-color</a:t>
            </a:r>
            <a:r>
              <a:rPr lang="pl-PL" dirty="0"/>
              <a:t>: #df1092;”&gt;</a:t>
            </a:r>
          </a:p>
          <a:p>
            <a:pPr marL="0" indent="0">
              <a:buNone/>
            </a:pPr>
            <a:r>
              <a:rPr lang="pl-PL" dirty="0"/>
              <a:t>&lt;p style=”</a:t>
            </a:r>
            <a:r>
              <a:rPr lang="pl-PL" dirty="0" err="1"/>
              <a:t>color</a:t>
            </a:r>
            <a:r>
              <a:rPr lang="pl-PL" dirty="0"/>
              <a:t>: </a:t>
            </a:r>
            <a:r>
              <a:rPr lang="pl-PL" dirty="0" err="1"/>
              <a:t>blue</a:t>
            </a:r>
            <a:r>
              <a:rPr lang="pl-PL" dirty="0"/>
              <a:t>; </a:t>
            </a:r>
            <a:r>
              <a:rPr lang="pl-PL" dirty="0" err="1"/>
              <a:t>font-size</a:t>
            </a:r>
            <a:r>
              <a:rPr lang="pl-PL" dirty="0"/>
              <a:t>: 12px”&gt; nasz tekst &lt;/p&gt;</a:t>
            </a:r>
          </a:p>
        </p:txBody>
      </p:sp>
    </p:spTree>
    <p:extLst>
      <p:ext uri="{BB962C8B-B14F-4D97-AF65-F5344CB8AC3E}">
        <p14:creationId xmlns:p14="http://schemas.microsoft.com/office/powerpoint/2010/main" val="2647657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Znacznik </a:t>
            </a:r>
            <a:r>
              <a:rPr lang="pl-PL" dirty="0" err="1"/>
              <a:t>span</a:t>
            </a:r>
            <a:endParaRPr lang="pl-PL" dirty="0"/>
          </a:p>
        </p:txBody>
      </p:sp>
      <p:sp>
        <p:nvSpPr>
          <p:cNvPr id="3" name="Symbol zastępczy zawartości 2"/>
          <p:cNvSpPr>
            <a:spLocks noGrp="1"/>
          </p:cNvSpPr>
          <p:nvPr>
            <p:ph idx="1"/>
          </p:nvPr>
        </p:nvSpPr>
        <p:spPr/>
        <p:txBody>
          <a:bodyPr/>
          <a:lstStyle/>
          <a:p>
            <a:pPr marL="0" indent="0">
              <a:buNone/>
            </a:pPr>
            <a:r>
              <a:rPr lang="pl-PL" dirty="0"/>
              <a:t>Jeżeli chcemy wyróżnić fragment tekstu używamy znacznika </a:t>
            </a:r>
            <a:r>
              <a:rPr lang="pl-PL" dirty="0" err="1"/>
              <a:t>span</a:t>
            </a:r>
            <a:r>
              <a:rPr lang="pl-PL" dirty="0"/>
              <a:t>.</a:t>
            </a:r>
          </a:p>
          <a:p>
            <a:pPr marL="0" indent="0">
              <a:buNone/>
            </a:pPr>
            <a:endParaRPr lang="pl-PL" dirty="0"/>
          </a:p>
          <a:p>
            <a:pPr marL="0" indent="0">
              <a:buNone/>
            </a:pPr>
            <a:r>
              <a:rPr lang="pl-PL" dirty="0"/>
              <a:t>&lt;p&gt; TEKST NORMALNY &lt;</a:t>
            </a:r>
            <a:r>
              <a:rPr lang="pl-PL" dirty="0" err="1"/>
              <a:t>span</a:t>
            </a:r>
            <a:r>
              <a:rPr lang="pl-PL" dirty="0"/>
              <a:t> style style=”</a:t>
            </a:r>
            <a:r>
              <a:rPr lang="pl-PL" dirty="0" err="1"/>
              <a:t>color</a:t>
            </a:r>
            <a:r>
              <a:rPr lang="pl-PL" dirty="0"/>
              <a:t>: </a:t>
            </a:r>
            <a:r>
              <a:rPr lang="pl-PL" dirty="0" err="1"/>
              <a:t>blue</a:t>
            </a:r>
            <a:r>
              <a:rPr lang="pl-PL" dirty="0"/>
              <a:t>; </a:t>
            </a:r>
            <a:r>
              <a:rPr lang="pl-PL" dirty="0" err="1"/>
              <a:t>font-size</a:t>
            </a:r>
            <a:r>
              <a:rPr lang="pl-PL" dirty="0"/>
              <a:t>: 12px”&gt; TEKST WYRÓŻNIONY &lt;/</a:t>
            </a:r>
            <a:r>
              <a:rPr lang="pl-PL" dirty="0" err="1"/>
              <a:t>span</a:t>
            </a:r>
            <a:r>
              <a:rPr lang="pl-PL" dirty="0"/>
              <a:t>&gt; TEKST NORMALNY &lt;/p&gt;</a:t>
            </a:r>
          </a:p>
          <a:p>
            <a:pPr marL="0" indent="0">
              <a:buNone/>
            </a:pPr>
            <a:endParaRPr lang="pl-PL" dirty="0"/>
          </a:p>
          <a:p>
            <a:pPr marL="0" indent="0">
              <a:buNone/>
            </a:pPr>
            <a:r>
              <a:rPr lang="pl-PL" dirty="0"/>
              <a:t> </a:t>
            </a:r>
          </a:p>
        </p:txBody>
      </p:sp>
    </p:spTree>
    <p:extLst>
      <p:ext uri="{BB962C8B-B14F-4D97-AF65-F5344CB8AC3E}">
        <p14:creationId xmlns:p14="http://schemas.microsoft.com/office/powerpoint/2010/main" val="2351166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Znacznik div</a:t>
            </a:r>
          </a:p>
        </p:txBody>
      </p:sp>
      <p:sp>
        <p:nvSpPr>
          <p:cNvPr id="3" name="Symbol zastępczy zawartości 2"/>
          <p:cNvSpPr>
            <a:spLocks noGrp="1"/>
          </p:cNvSpPr>
          <p:nvPr>
            <p:ph idx="1"/>
          </p:nvPr>
        </p:nvSpPr>
        <p:spPr/>
        <p:txBody>
          <a:bodyPr>
            <a:normAutofit fontScale="62500" lnSpcReduction="20000"/>
          </a:bodyPr>
          <a:lstStyle/>
          <a:p>
            <a:pPr marL="0" indent="0">
              <a:buNone/>
            </a:pPr>
            <a:r>
              <a:rPr lang="pl-PL" dirty="0"/>
              <a:t>Znacznika div używamy aby pogrupować elementy na stronie internetowej. Zdefiniowane bloki mogą zawierać akapity, listy, tabele oraz inne bloki. Znacznik div umożliwia wydzielenie na stronie większych, logicznych fragmentów w celu nadania im specyficznego formatowania z użyciem stylów.</a:t>
            </a:r>
          </a:p>
          <a:p>
            <a:pPr marL="0" indent="0">
              <a:buNone/>
            </a:pPr>
            <a:endParaRPr lang="pl-PL" dirty="0"/>
          </a:p>
          <a:p>
            <a:pPr marL="0" indent="0">
              <a:buNone/>
            </a:pPr>
            <a:r>
              <a:rPr lang="pl-PL" dirty="0"/>
              <a:t>&lt;div style=”</a:t>
            </a:r>
            <a:r>
              <a:rPr lang="pl-PL" dirty="0" err="1"/>
              <a:t>właściowość</a:t>
            </a:r>
            <a:r>
              <a:rPr lang="pl-PL" dirty="0"/>
              <a:t>: wartość;”&gt; … &lt;/div&gt;</a:t>
            </a:r>
          </a:p>
          <a:p>
            <a:pPr marL="0" indent="0">
              <a:buNone/>
            </a:pPr>
            <a:endParaRPr lang="pl-PL" dirty="0"/>
          </a:p>
          <a:p>
            <a:pPr marL="0" indent="0">
              <a:buNone/>
            </a:pPr>
            <a:r>
              <a:rPr lang="pl-PL" dirty="0"/>
              <a:t>Np.</a:t>
            </a:r>
          </a:p>
          <a:p>
            <a:pPr marL="0" indent="0">
              <a:buNone/>
            </a:pPr>
            <a:endParaRPr lang="pl-PL" dirty="0"/>
          </a:p>
          <a:p>
            <a:pPr marL="0" indent="0">
              <a:buNone/>
            </a:pPr>
            <a:r>
              <a:rPr lang="pl-PL" dirty="0"/>
              <a:t>&lt;div style style=”</a:t>
            </a:r>
            <a:r>
              <a:rPr lang="pl-PL" dirty="0" err="1"/>
              <a:t>color</a:t>
            </a:r>
            <a:r>
              <a:rPr lang="pl-PL" dirty="0"/>
              <a:t>: </a:t>
            </a:r>
            <a:r>
              <a:rPr lang="pl-PL" dirty="0" err="1"/>
              <a:t>blue</a:t>
            </a:r>
            <a:r>
              <a:rPr lang="pl-PL" dirty="0"/>
              <a:t>; </a:t>
            </a:r>
            <a:r>
              <a:rPr lang="pl-PL" dirty="0" err="1"/>
              <a:t>font-size</a:t>
            </a:r>
            <a:r>
              <a:rPr lang="pl-PL" dirty="0"/>
              <a:t>: 12px”&gt;</a:t>
            </a:r>
          </a:p>
          <a:p>
            <a:pPr marL="0" indent="0">
              <a:buNone/>
            </a:pPr>
            <a:r>
              <a:rPr lang="pl-PL" dirty="0"/>
              <a:t>&lt;h1&gt;Tytuł&lt;/h1&gt;</a:t>
            </a:r>
          </a:p>
          <a:p>
            <a:pPr marL="0" indent="0">
              <a:buNone/>
            </a:pPr>
            <a:r>
              <a:rPr lang="pl-PL" dirty="0"/>
              <a:t>&lt;p&gt;Pierwszy akapit&lt;/p&gt;</a:t>
            </a:r>
          </a:p>
          <a:p>
            <a:pPr marL="0" indent="0">
              <a:buNone/>
            </a:pPr>
            <a:r>
              <a:rPr lang="pl-PL" dirty="0"/>
              <a:t>&lt;p&gt;Drugi akapit&lt;/p&gt;</a:t>
            </a:r>
          </a:p>
          <a:p>
            <a:pPr marL="0" indent="0">
              <a:buNone/>
            </a:pPr>
            <a:r>
              <a:rPr lang="pl-PL" dirty="0"/>
              <a:t>&lt;/div&gt;</a:t>
            </a:r>
          </a:p>
        </p:txBody>
      </p:sp>
    </p:spTree>
    <p:extLst>
      <p:ext uri="{BB962C8B-B14F-4D97-AF65-F5344CB8AC3E}">
        <p14:creationId xmlns:p14="http://schemas.microsoft.com/office/powerpoint/2010/main" val="308833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Wewnętrzny arkusz stylów</a:t>
            </a:r>
          </a:p>
        </p:txBody>
      </p:sp>
      <p:sp>
        <p:nvSpPr>
          <p:cNvPr id="3" name="Symbol zastępczy zawartości 2"/>
          <p:cNvSpPr>
            <a:spLocks noGrp="1"/>
          </p:cNvSpPr>
          <p:nvPr>
            <p:ph idx="1"/>
          </p:nvPr>
        </p:nvSpPr>
        <p:spPr/>
        <p:txBody>
          <a:bodyPr/>
          <a:lstStyle/>
          <a:p>
            <a:pPr marL="0" indent="0">
              <a:buNone/>
            </a:pPr>
            <a:r>
              <a:rPr lang="pl-PL" dirty="0"/>
              <a:t>Wewnętrzny arkusz stylów jest umieszczany w dokumencie HTML dzięki zastosowaniu znacznika &lt;style&gt;, który zawsze występuje w części nagłówkowej dokumentu (&lt;</a:t>
            </a:r>
            <a:r>
              <a:rPr lang="pl-PL" dirty="0" err="1"/>
              <a:t>head</a:t>
            </a:r>
            <a:r>
              <a:rPr lang="pl-PL" dirty="0"/>
              <a:t>&gt;). Tę metodę wstawiania do dokumentu arkusza stylów stosuje się, gdy elementy formatowane pojawiają się na stronie wielokrotnie i wszystkie powinny mieć takie same atrybuty formatowania.	</a:t>
            </a:r>
          </a:p>
          <a:p>
            <a:pPr marL="0" indent="0">
              <a:buNone/>
            </a:pPr>
            <a:endParaRPr lang="pl-PL" dirty="0"/>
          </a:p>
        </p:txBody>
      </p:sp>
    </p:spTree>
    <p:extLst>
      <p:ext uri="{BB962C8B-B14F-4D97-AF65-F5344CB8AC3E}">
        <p14:creationId xmlns:p14="http://schemas.microsoft.com/office/powerpoint/2010/main" val="2578425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Wewnętrzny arkusz stylów</a:t>
            </a:r>
          </a:p>
        </p:txBody>
      </p:sp>
      <p:sp>
        <p:nvSpPr>
          <p:cNvPr id="3" name="Symbol zastępczy zawartości 2"/>
          <p:cNvSpPr>
            <a:spLocks noGrp="1"/>
          </p:cNvSpPr>
          <p:nvPr>
            <p:ph idx="1"/>
          </p:nvPr>
        </p:nvSpPr>
        <p:spPr>
          <a:xfrm>
            <a:off x="457200" y="1700808"/>
            <a:ext cx="8229600" cy="4525963"/>
          </a:xfrm>
        </p:spPr>
        <p:txBody>
          <a:bodyPr>
            <a:normAutofit fontScale="47500" lnSpcReduction="20000"/>
          </a:bodyPr>
          <a:lstStyle/>
          <a:p>
            <a:pPr marL="0" indent="0">
              <a:buNone/>
            </a:pPr>
            <a:r>
              <a:rPr lang="pl-PL" dirty="0">
                <a:solidFill>
                  <a:srgbClr val="0070C0"/>
                </a:solidFill>
              </a:rPr>
              <a:t>&lt;!</a:t>
            </a:r>
            <a:r>
              <a:rPr lang="pl-PL" dirty="0" err="1">
                <a:solidFill>
                  <a:srgbClr val="0070C0"/>
                </a:solidFill>
              </a:rPr>
              <a:t>doctype</a:t>
            </a:r>
            <a:r>
              <a:rPr lang="pl-PL" dirty="0">
                <a:solidFill>
                  <a:srgbClr val="0070C0"/>
                </a:solidFill>
              </a:rPr>
              <a:t> HTML&gt;</a:t>
            </a:r>
          </a:p>
          <a:p>
            <a:pPr marL="0" indent="0">
              <a:buNone/>
            </a:pPr>
            <a:r>
              <a:rPr lang="pl-PL" dirty="0">
                <a:solidFill>
                  <a:srgbClr val="0070C0"/>
                </a:solidFill>
              </a:rPr>
              <a:t>&lt;HTML </a:t>
            </a:r>
            <a:r>
              <a:rPr lang="pl-PL" dirty="0" err="1">
                <a:solidFill>
                  <a:srgbClr val="FF0000"/>
                </a:solidFill>
              </a:rPr>
              <a:t>lang</a:t>
            </a:r>
            <a:r>
              <a:rPr lang="pl-PL" dirty="0"/>
              <a:t>=</a:t>
            </a:r>
            <a:r>
              <a:rPr lang="pl-PL" dirty="0">
                <a:solidFill>
                  <a:srgbClr val="7030A0"/>
                </a:solidFill>
              </a:rPr>
              <a:t>"</a:t>
            </a:r>
            <a:r>
              <a:rPr lang="pl-PL" dirty="0" err="1">
                <a:solidFill>
                  <a:srgbClr val="7030A0"/>
                </a:solidFill>
              </a:rPr>
              <a:t>pl</a:t>
            </a:r>
            <a:r>
              <a:rPr lang="pl-PL" dirty="0">
                <a:solidFill>
                  <a:srgbClr val="7030A0"/>
                </a:solidFill>
              </a:rPr>
              <a:t>-PL"</a:t>
            </a:r>
            <a:r>
              <a:rPr lang="pl-PL" dirty="0">
                <a:solidFill>
                  <a:srgbClr val="0070C0"/>
                </a:solidFill>
              </a:rPr>
              <a:t>&gt;</a:t>
            </a:r>
          </a:p>
          <a:p>
            <a:pPr marL="0" indent="0">
              <a:buNone/>
            </a:pPr>
            <a:r>
              <a:rPr lang="pl-PL" dirty="0">
                <a:solidFill>
                  <a:srgbClr val="0070C0"/>
                </a:solidFill>
              </a:rPr>
              <a:t>&lt;HEAD&gt;</a:t>
            </a:r>
          </a:p>
          <a:p>
            <a:pPr marL="0" indent="0">
              <a:buNone/>
            </a:pPr>
            <a:r>
              <a:rPr lang="pl-PL" dirty="0">
                <a:solidFill>
                  <a:srgbClr val="0070C0"/>
                </a:solidFill>
              </a:rPr>
              <a:t>&lt;style&gt;</a:t>
            </a:r>
          </a:p>
          <a:p>
            <a:pPr marL="0" indent="0">
              <a:buNone/>
            </a:pPr>
            <a:r>
              <a:rPr lang="pl-PL" dirty="0"/>
              <a:t>p{</a:t>
            </a:r>
          </a:p>
          <a:p>
            <a:pPr marL="0" indent="0">
              <a:buNone/>
            </a:pPr>
            <a:r>
              <a:rPr lang="pl-PL" dirty="0"/>
              <a:t>	</a:t>
            </a:r>
            <a:r>
              <a:rPr lang="pl-PL" dirty="0" err="1"/>
              <a:t>color</a:t>
            </a:r>
            <a:r>
              <a:rPr lang="pl-PL" dirty="0"/>
              <a:t>:#237722; </a:t>
            </a:r>
          </a:p>
          <a:p>
            <a:pPr marL="0" indent="0">
              <a:buNone/>
            </a:pPr>
            <a:r>
              <a:rPr lang="pl-PL" dirty="0"/>
              <a:t>	</a:t>
            </a:r>
            <a:r>
              <a:rPr lang="pl-PL" dirty="0" err="1"/>
              <a:t>text-align:center</a:t>
            </a:r>
            <a:r>
              <a:rPr lang="pl-PL" dirty="0"/>
              <a:t>; </a:t>
            </a:r>
          </a:p>
          <a:p>
            <a:pPr marL="0" indent="0">
              <a:buNone/>
            </a:pPr>
            <a:r>
              <a:rPr lang="pl-PL" dirty="0"/>
              <a:t>	font-size:70px;</a:t>
            </a:r>
          </a:p>
          <a:p>
            <a:pPr marL="0" indent="0">
              <a:buNone/>
            </a:pPr>
            <a:r>
              <a:rPr lang="pl-PL" dirty="0"/>
              <a:t>}</a:t>
            </a:r>
          </a:p>
          <a:p>
            <a:pPr marL="0" indent="0">
              <a:buNone/>
            </a:pPr>
            <a:r>
              <a:rPr lang="pl-PL" dirty="0">
                <a:solidFill>
                  <a:srgbClr val="0070C0"/>
                </a:solidFill>
              </a:rPr>
              <a:t>&lt;/style&gt;</a:t>
            </a:r>
          </a:p>
          <a:p>
            <a:pPr marL="0" indent="0">
              <a:buNone/>
            </a:pPr>
            <a:r>
              <a:rPr lang="pl-PL" dirty="0">
                <a:solidFill>
                  <a:srgbClr val="0070C0"/>
                </a:solidFill>
              </a:rPr>
              <a:t>&lt;META </a:t>
            </a:r>
            <a:r>
              <a:rPr lang="pl-PL" dirty="0" err="1">
                <a:solidFill>
                  <a:srgbClr val="FF0000"/>
                </a:solidFill>
              </a:rPr>
              <a:t>charset</a:t>
            </a:r>
            <a:r>
              <a:rPr lang="pl-PL" dirty="0"/>
              <a:t>=</a:t>
            </a:r>
            <a:r>
              <a:rPr lang="pl-PL" dirty="0">
                <a:solidFill>
                  <a:srgbClr val="7030A0"/>
                </a:solidFill>
              </a:rPr>
              <a:t>"UTF-8"</a:t>
            </a:r>
            <a:r>
              <a:rPr lang="pl-PL" dirty="0">
                <a:solidFill>
                  <a:srgbClr val="0070C0"/>
                </a:solidFill>
              </a:rPr>
              <a:t>&gt;</a:t>
            </a:r>
          </a:p>
          <a:p>
            <a:pPr marL="0" indent="0">
              <a:buNone/>
            </a:pPr>
            <a:r>
              <a:rPr lang="pl-PL" dirty="0">
                <a:solidFill>
                  <a:srgbClr val="0070C0"/>
                </a:solidFill>
              </a:rPr>
              <a:t>&lt;TITLE&gt;</a:t>
            </a:r>
            <a:r>
              <a:rPr lang="pl-PL" dirty="0"/>
              <a:t>CSS</a:t>
            </a:r>
            <a:r>
              <a:rPr lang="pl-PL" dirty="0">
                <a:solidFill>
                  <a:srgbClr val="0070C0"/>
                </a:solidFill>
              </a:rPr>
              <a:t>&lt;/TITLE&gt;</a:t>
            </a:r>
          </a:p>
          <a:p>
            <a:pPr marL="0" indent="0">
              <a:buNone/>
            </a:pPr>
            <a:r>
              <a:rPr lang="pl-PL" dirty="0">
                <a:solidFill>
                  <a:srgbClr val="0070C0"/>
                </a:solidFill>
              </a:rPr>
              <a:t>&lt;/HEAD&gt;</a:t>
            </a:r>
          </a:p>
          <a:p>
            <a:pPr marL="0" indent="0">
              <a:buNone/>
            </a:pPr>
            <a:r>
              <a:rPr lang="pl-PL" dirty="0">
                <a:solidFill>
                  <a:srgbClr val="0070C0"/>
                </a:solidFill>
              </a:rPr>
              <a:t>&lt;BODY&gt;</a:t>
            </a:r>
          </a:p>
          <a:p>
            <a:pPr marL="0" indent="0">
              <a:buNone/>
            </a:pPr>
            <a:r>
              <a:rPr lang="pl-PL" dirty="0">
                <a:solidFill>
                  <a:srgbClr val="0070C0"/>
                </a:solidFill>
              </a:rPr>
              <a:t>&lt;p&gt;</a:t>
            </a:r>
            <a:r>
              <a:rPr lang="pl-PL" dirty="0"/>
              <a:t>Tekst testowy</a:t>
            </a:r>
            <a:r>
              <a:rPr lang="pl-PL" dirty="0">
                <a:solidFill>
                  <a:srgbClr val="0070C0"/>
                </a:solidFill>
              </a:rPr>
              <a:t>&lt;/p&gt;</a:t>
            </a:r>
          </a:p>
          <a:p>
            <a:pPr marL="0" indent="0">
              <a:buNone/>
            </a:pPr>
            <a:r>
              <a:rPr lang="pl-PL" dirty="0">
                <a:solidFill>
                  <a:srgbClr val="0070C0"/>
                </a:solidFill>
              </a:rPr>
              <a:t>&lt;p&gt;</a:t>
            </a:r>
            <a:r>
              <a:rPr lang="pl-PL" dirty="0"/>
              <a:t>Nowy tekst</a:t>
            </a:r>
            <a:r>
              <a:rPr lang="pl-PL" dirty="0">
                <a:solidFill>
                  <a:srgbClr val="0070C0"/>
                </a:solidFill>
              </a:rPr>
              <a:t>&lt;/p&gt;</a:t>
            </a:r>
          </a:p>
          <a:p>
            <a:pPr marL="0" indent="0">
              <a:buNone/>
            </a:pPr>
            <a:r>
              <a:rPr lang="pl-PL" dirty="0">
                <a:solidFill>
                  <a:srgbClr val="0070C0"/>
                </a:solidFill>
              </a:rPr>
              <a:t>&lt;p&gt;</a:t>
            </a:r>
            <a:r>
              <a:rPr lang="pl-PL" dirty="0"/>
              <a:t>Kolejny tekst</a:t>
            </a:r>
            <a:r>
              <a:rPr lang="pl-PL" dirty="0">
                <a:solidFill>
                  <a:srgbClr val="0070C0"/>
                </a:solidFill>
              </a:rPr>
              <a:t>&lt;/p&gt;</a:t>
            </a:r>
          </a:p>
          <a:p>
            <a:pPr marL="0" indent="0">
              <a:buNone/>
            </a:pPr>
            <a:r>
              <a:rPr lang="pl-PL" dirty="0">
                <a:solidFill>
                  <a:srgbClr val="0070C0"/>
                </a:solidFill>
              </a:rPr>
              <a:t>&lt;/BODY&gt;</a:t>
            </a:r>
          </a:p>
          <a:p>
            <a:pPr marL="0" indent="0">
              <a:buNone/>
            </a:pPr>
            <a:r>
              <a:rPr lang="pl-PL" dirty="0">
                <a:solidFill>
                  <a:srgbClr val="0070C0"/>
                </a:solidFill>
              </a:rPr>
              <a:t>&lt;/HTML&gt;</a:t>
            </a:r>
          </a:p>
        </p:txBody>
      </p:sp>
    </p:spTree>
    <p:extLst>
      <p:ext uri="{BB962C8B-B14F-4D97-AF65-F5344CB8AC3E}">
        <p14:creationId xmlns:p14="http://schemas.microsoft.com/office/powerpoint/2010/main" val="2489084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Zewnętrzny arkusz stylów</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Dodanie zewnętrznego arkusza stylów polega na utworzeniu pliku tekstowego z rozszerzeniem .</a:t>
            </a:r>
            <a:r>
              <a:rPr lang="pl-PL" dirty="0" err="1"/>
              <a:t>css</a:t>
            </a:r>
            <a:r>
              <a:rPr lang="pl-PL" dirty="0"/>
              <a:t>, który będzie zawierał definicję wszystkich stylów używanych w projektowanej witrynie. W dokumencie HTML powinien znaleźć się odnośnik do tzw. zewnętrznego arkusza stylów, czyli do pliku z rozszerzeniem .</a:t>
            </a:r>
            <a:r>
              <a:rPr lang="pl-PL" dirty="0" err="1"/>
              <a:t>css</a:t>
            </a:r>
            <a:r>
              <a:rPr lang="pl-PL" dirty="0"/>
              <a:t>.</a:t>
            </a:r>
          </a:p>
          <a:p>
            <a:pPr marL="0" indent="0">
              <a:buNone/>
            </a:pPr>
            <a:endParaRPr lang="pl-PL" dirty="0"/>
          </a:p>
          <a:p>
            <a:pPr marL="0" indent="0">
              <a:buNone/>
            </a:pPr>
            <a:r>
              <a:rPr lang="pl-PL" dirty="0"/>
              <a:t>Odnośnik powinien zostać umieszczony w sekcji &lt;</a:t>
            </a:r>
            <a:r>
              <a:rPr lang="pl-PL" dirty="0" err="1"/>
              <a:t>head</a:t>
            </a:r>
            <a:r>
              <a:rPr lang="pl-PL" dirty="0"/>
              <a:t>&gt; i mieć postać:</a:t>
            </a:r>
          </a:p>
          <a:p>
            <a:pPr marL="0" indent="0">
              <a:buNone/>
            </a:pPr>
            <a:r>
              <a:rPr lang="en-US" dirty="0"/>
              <a:t>&lt;link </a:t>
            </a:r>
            <a:r>
              <a:rPr lang="en-US" dirty="0" err="1"/>
              <a:t>rel</a:t>
            </a:r>
            <a:r>
              <a:rPr lang="en-US" dirty="0"/>
              <a:t>="</a:t>
            </a:r>
            <a:r>
              <a:rPr lang="en-US" dirty="0" err="1"/>
              <a:t>stylesheet</a:t>
            </a:r>
            <a:r>
              <a:rPr lang="en-US" dirty="0"/>
              <a:t>" type="text/</a:t>
            </a:r>
            <a:r>
              <a:rPr lang="en-US" dirty="0" err="1"/>
              <a:t>css</a:t>
            </a:r>
            <a:r>
              <a:rPr lang="en-US" dirty="0"/>
              <a:t>" </a:t>
            </a:r>
            <a:r>
              <a:rPr lang="en-US" dirty="0" err="1"/>
              <a:t>href</a:t>
            </a:r>
            <a:r>
              <a:rPr lang="en-US" dirty="0"/>
              <a:t>="</a:t>
            </a:r>
            <a:r>
              <a:rPr lang="pl-PL" dirty="0"/>
              <a:t>nazwa</a:t>
            </a:r>
            <a:r>
              <a:rPr lang="en-US" dirty="0"/>
              <a:t>.</a:t>
            </a:r>
            <a:r>
              <a:rPr lang="en-US" dirty="0" err="1"/>
              <a:t>css</a:t>
            </a:r>
            <a:r>
              <a:rPr lang="en-US" dirty="0"/>
              <a:t>"&gt;</a:t>
            </a:r>
            <a:endParaRPr lang="pl-PL" dirty="0"/>
          </a:p>
        </p:txBody>
      </p:sp>
    </p:spTree>
    <p:extLst>
      <p:ext uri="{BB962C8B-B14F-4D97-AF65-F5344CB8AC3E}">
        <p14:creationId xmlns:p14="http://schemas.microsoft.com/office/powerpoint/2010/main" val="1998184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Zewnętrzny arkusz stylów – przykład dołączenia stylu</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29972"/>
            <a:ext cx="8229600" cy="3666418"/>
          </a:xfrm>
        </p:spPr>
      </p:pic>
    </p:spTree>
    <p:extLst>
      <p:ext uri="{BB962C8B-B14F-4D97-AF65-F5344CB8AC3E}">
        <p14:creationId xmlns:p14="http://schemas.microsoft.com/office/powerpoint/2010/main" val="3117869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Zewnętrzny arkusz stylów – przykład pliku </a:t>
            </a:r>
            <a:r>
              <a:rPr lang="pl-PL" dirty="0" err="1"/>
              <a:t>css</a:t>
            </a:r>
            <a:endParaRPr lang="pl-PL" dirty="0"/>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6635" y="1600200"/>
            <a:ext cx="6310729" cy="4525963"/>
          </a:xfrm>
        </p:spPr>
      </p:pic>
    </p:spTree>
    <p:extLst>
      <p:ext uri="{BB962C8B-B14F-4D97-AF65-F5344CB8AC3E}">
        <p14:creationId xmlns:p14="http://schemas.microsoft.com/office/powerpoint/2010/main" val="457331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Import arkusza stylów</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a:t>Do zewnętrznego lub wewnętrznego arkusza stylów można zaimportować zewnętrzny arkusz stylów. Oprócz importowania arkusza można między znacznikami &lt;style&gt; i &lt;/style&gt; umieszczać inne deklaracje stylów. Polecenie importowania arkusza muszą występować na początku arkusza stylów, przed właściwymi regułami CSS.</a:t>
            </a:r>
          </a:p>
          <a:p>
            <a:pPr marL="0" indent="0">
              <a:buNone/>
            </a:pPr>
            <a:endParaRPr lang="pl-PL" dirty="0"/>
          </a:p>
          <a:p>
            <a:pPr marL="0" indent="0">
              <a:buNone/>
            </a:pPr>
            <a:r>
              <a:rPr lang="pl-PL" dirty="0"/>
              <a:t>&lt;style&gt;</a:t>
            </a:r>
          </a:p>
          <a:p>
            <a:pPr marL="0" indent="0">
              <a:buNone/>
            </a:pPr>
            <a:r>
              <a:rPr lang="pl-PL" dirty="0"/>
              <a:t>@import </a:t>
            </a:r>
            <a:r>
              <a:rPr lang="pl-PL" dirty="0" err="1"/>
              <a:t>url</a:t>
            </a:r>
            <a:r>
              <a:rPr lang="pl-PL" dirty="0"/>
              <a:t>(”nazwa.css”);</a:t>
            </a:r>
          </a:p>
          <a:p>
            <a:pPr marL="0" indent="0">
              <a:buNone/>
            </a:pPr>
            <a:r>
              <a:rPr lang="pl-PL" dirty="0"/>
              <a:t>&lt;/style&gt;</a:t>
            </a:r>
          </a:p>
        </p:txBody>
      </p:sp>
    </p:spTree>
    <p:extLst>
      <p:ext uri="{BB962C8B-B14F-4D97-AF65-F5344CB8AC3E}">
        <p14:creationId xmlns:p14="http://schemas.microsoft.com/office/powerpoint/2010/main" val="1747549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Kaskadowość arkuszy stylów</a:t>
            </a:r>
          </a:p>
        </p:txBody>
      </p:sp>
      <p:sp>
        <p:nvSpPr>
          <p:cNvPr id="3" name="Symbol zastępczy zawartości 2"/>
          <p:cNvSpPr>
            <a:spLocks noGrp="1"/>
          </p:cNvSpPr>
          <p:nvPr>
            <p:ph idx="1"/>
          </p:nvPr>
        </p:nvSpPr>
        <p:spPr/>
        <p:txBody>
          <a:bodyPr/>
          <a:lstStyle/>
          <a:p>
            <a:r>
              <a:rPr lang="pl-PL" dirty="0"/>
              <a:t>Styl lokalny</a:t>
            </a:r>
          </a:p>
          <a:p>
            <a:r>
              <a:rPr lang="pl-PL" dirty="0"/>
              <a:t>Wydzielone bloki</a:t>
            </a:r>
          </a:p>
          <a:p>
            <a:r>
              <a:rPr lang="pl-PL" dirty="0"/>
              <a:t>Wewnętrzny arkusz stylów</a:t>
            </a:r>
          </a:p>
          <a:p>
            <a:r>
              <a:rPr lang="pl-PL" dirty="0"/>
              <a:t>Zewnętrzny arkusz stylów</a:t>
            </a:r>
          </a:p>
          <a:p>
            <a:r>
              <a:rPr lang="pl-PL" dirty="0"/>
              <a:t>Import stylów do zewnętrznego arkusza</a:t>
            </a:r>
          </a:p>
          <a:p>
            <a:pPr marL="0" indent="0">
              <a:buNone/>
            </a:pPr>
            <a:endParaRPr lang="pl-PL" dirty="0"/>
          </a:p>
        </p:txBody>
      </p:sp>
    </p:spTree>
    <p:extLst>
      <p:ext uri="{BB962C8B-B14F-4D97-AF65-F5344CB8AC3E}">
        <p14:creationId xmlns:p14="http://schemas.microsoft.com/office/powerpoint/2010/main" val="1621072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Zmiana kaskadowości stylów</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a:t>Aby zmienić kaskadowość stylów możemy użyć polecenia !</a:t>
            </a:r>
            <a:r>
              <a:rPr lang="pl-PL" dirty="0" err="1"/>
              <a:t>important</a:t>
            </a:r>
            <a:r>
              <a:rPr lang="pl-PL" dirty="0"/>
              <a:t> umieszczonego w deklaracji stylu po wartości, której dotyczy. Takie umiejscowienie tego polecenia spowoduje, że właściwość zdefiniowana dla elementu będzie miała pierwszeństwo, dla której zostało użyte, pozostałe właściwości elementu będą obsługiwane zgodnie z ogólnymi zasadami kaskadowości stylów.</a:t>
            </a:r>
          </a:p>
          <a:p>
            <a:pPr marL="0" indent="0">
              <a:buNone/>
            </a:pPr>
            <a:endParaRPr lang="pl-PL" dirty="0"/>
          </a:p>
          <a:p>
            <a:pPr marL="0" indent="0">
              <a:buNone/>
            </a:pPr>
            <a:r>
              <a:rPr lang="pl-PL" dirty="0"/>
              <a:t>&lt;p style=”</a:t>
            </a:r>
            <a:r>
              <a:rPr lang="pl-PL" dirty="0" err="1"/>
              <a:t>color</a:t>
            </a:r>
            <a:r>
              <a:rPr lang="pl-PL" dirty="0"/>
              <a:t>: </a:t>
            </a:r>
            <a:r>
              <a:rPr lang="pl-PL" dirty="0" err="1"/>
              <a:t>blue</a:t>
            </a:r>
            <a:r>
              <a:rPr lang="pl-PL" dirty="0"/>
              <a:t> !</a:t>
            </a:r>
            <a:r>
              <a:rPr lang="pl-PL" dirty="0" err="1"/>
              <a:t>important</a:t>
            </a:r>
            <a:r>
              <a:rPr lang="pl-PL" dirty="0"/>
              <a:t>; </a:t>
            </a:r>
            <a:r>
              <a:rPr lang="pl-PL" dirty="0" err="1"/>
              <a:t>font-size</a:t>
            </a:r>
            <a:r>
              <a:rPr lang="pl-PL" dirty="0"/>
              <a:t>: 12px”&gt; nasz tekst &lt;/p&gt;</a:t>
            </a:r>
          </a:p>
          <a:p>
            <a:pPr marL="0" indent="0">
              <a:buNone/>
            </a:pP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1898523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Kaskadowość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6716" y="1600200"/>
            <a:ext cx="5190568" cy="4525963"/>
          </a:xfrm>
        </p:spPr>
      </p:pic>
    </p:spTree>
    <p:extLst>
      <p:ext uri="{BB962C8B-B14F-4D97-AF65-F5344CB8AC3E}">
        <p14:creationId xmlns:p14="http://schemas.microsoft.com/office/powerpoint/2010/main" val="2630813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Zmiana kaskadowości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6033" y="1600200"/>
            <a:ext cx="6811934" cy="4525963"/>
          </a:xfrm>
        </p:spPr>
      </p:pic>
    </p:spTree>
    <p:extLst>
      <p:ext uri="{BB962C8B-B14F-4D97-AF65-F5344CB8AC3E}">
        <p14:creationId xmlns:p14="http://schemas.microsoft.com/office/powerpoint/2010/main" val="573487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Dziedziczenie w CSS</a:t>
            </a:r>
          </a:p>
        </p:txBody>
      </p:sp>
      <p:sp>
        <p:nvSpPr>
          <p:cNvPr id="3" name="Symbol zastępczy zawartości 2"/>
          <p:cNvSpPr>
            <a:spLocks noGrp="1"/>
          </p:cNvSpPr>
          <p:nvPr>
            <p:ph idx="1"/>
          </p:nvPr>
        </p:nvSpPr>
        <p:spPr/>
        <p:txBody>
          <a:bodyPr/>
          <a:lstStyle/>
          <a:p>
            <a:pPr marL="0" indent="0">
              <a:buNone/>
            </a:pPr>
            <a:r>
              <a:rPr lang="pl-PL" dirty="0"/>
              <a:t>W języku HTML często występują zagnieżdżenia jednego elementu wewnątrz drugiego. Jeżeli dla elementu nadrzędnego w arkuszach stylów zostały zdefiniowane właściwości, to w większości przypadków elementowi podrzędnemu zostaną przypisane te same właściwości, nawet jeżeli nie zostały dla niego zdefiniowane. Mechanizm ten nazywamy dziedziczeniem.</a:t>
            </a:r>
          </a:p>
        </p:txBody>
      </p:sp>
    </p:spTree>
    <p:extLst>
      <p:ext uri="{BB962C8B-B14F-4D97-AF65-F5344CB8AC3E}">
        <p14:creationId xmlns:p14="http://schemas.microsoft.com/office/powerpoint/2010/main" val="3255145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Dziedziczenie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6323" y="1600200"/>
            <a:ext cx="4551354" cy="4525963"/>
          </a:xfrm>
        </p:spPr>
      </p:pic>
    </p:spTree>
    <p:extLst>
      <p:ext uri="{BB962C8B-B14F-4D97-AF65-F5344CB8AC3E}">
        <p14:creationId xmlns:p14="http://schemas.microsoft.com/office/powerpoint/2010/main" val="3778688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Wartości stosowane w stylach CSS</a:t>
            </a:r>
          </a:p>
        </p:txBody>
      </p:sp>
      <p:sp>
        <p:nvSpPr>
          <p:cNvPr id="3" name="Symbol zastępczy zawartości 2"/>
          <p:cNvSpPr>
            <a:spLocks noGrp="1"/>
          </p:cNvSpPr>
          <p:nvPr>
            <p:ph idx="1"/>
          </p:nvPr>
        </p:nvSpPr>
        <p:spPr/>
        <p:txBody>
          <a:bodyPr>
            <a:normAutofit fontScale="92500" lnSpcReduction="10000"/>
          </a:bodyPr>
          <a:lstStyle/>
          <a:p>
            <a:r>
              <a:rPr lang="pl-PL" dirty="0"/>
              <a:t>Liczby – całkowite lub rzeczywiste. Liczba całkowita składa się z cyfr od 0 do 9. Liczba rzeczywista  może zawierać część całkowitą i ułamkową zapisaną po kropce.</a:t>
            </a:r>
          </a:p>
          <a:p>
            <a:r>
              <a:rPr lang="pl-PL" dirty="0"/>
              <a:t>Procenty – zawsze są określane względem innej wartości (np. wielkości okna przeglądarki)</a:t>
            </a:r>
          </a:p>
          <a:p>
            <a:r>
              <a:rPr lang="pl-PL" dirty="0"/>
              <a:t>Słowa kluczowe – nie zawsze wartości reprezentowane przez słowa kluczowe są poprawnie interpretowane przez przeglądarki (np. </a:t>
            </a:r>
            <a:r>
              <a:rPr lang="pl-PL" dirty="0" err="1"/>
              <a:t>blue</a:t>
            </a:r>
            <a:r>
              <a:rPr lang="pl-PL" dirty="0"/>
              <a:t>, red)</a:t>
            </a:r>
          </a:p>
          <a:p>
            <a:endParaRPr lang="pl-PL" dirty="0"/>
          </a:p>
        </p:txBody>
      </p:sp>
    </p:spTree>
    <p:extLst>
      <p:ext uri="{BB962C8B-B14F-4D97-AF65-F5344CB8AC3E}">
        <p14:creationId xmlns:p14="http://schemas.microsoft.com/office/powerpoint/2010/main" val="4060251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Wartości stosowane w stylach CSS</a:t>
            </a:r>
          </a:p>
        </p:txBody>
      </p:sp>
      <p:sp>
        <p:nvSpPr>
          <p:cNvPr id="3" name="Symbol zastępczy zawartości 2"/>
          <p:cNvSpPr>
            <a:spLocks noGrp="1"/>
          </p:cNvSpPr>
          <p:nvPr>
            <p:ph idx="1"/>
          </p:nvPr>
        </p:nvSpPr>
        <p:spPr/>
        <p:txBody>
          <a:bodyPr>
            <a:normAutofit fontScale="70000" lnSpcReduction="20000"/>
          </a:bodyPr>
          <a:lstStyle/>
          <a:p>
            <a:r>
              <a:rPr lang="pl-PL" dirty="0"/>
              <a:t>Wartości bezwzględne:</a:t>
            </a:r>
          </a:p>
          <a:p>
            <a:pPr>
              <a:buFontTx/>
              <a:buChar char="-"/>
            </a:pPr>
            <a:r>
              <a:rPr lang="pl-PL" b="1" dirty="0"/>
              <a:t>in</a:t>
            </a:r>
            <a:r>
              <a:rPr lang="pl-PL" dirty="0"/>
              <a:t> (cal, 1 in = 2,54 cm)</a:t>
            </a:r>
          </a:p>
          <a:p>
            <a:pPr>
              <a:buFontTx/>
              <a:buChar char="-"/>
            </a:pPr>
            <a:r>
              <a:rPr lang="pl-PL" b="1" dirty="0"/>
              <a:t>cm</a:t>
            </a:r>
            <a:r>
              <a:rPr lang="pl-PL" dirty="0"/>
              <a:t> (centymetr)</a:t>
            </a:r>
          </a:p>
          <a:p>
            <a:pPr>
              <a:buFontTx/>
              <a:buChar char="-"/>
            </a:pPr>
            <a:r>
              <a:rPr lang="pl-PL" b="1" dirty="0"/>
              <a:t>mm</a:t>
            </a:r>
            <a:r>
              <a:rPr lang="pl-PL" dirty="0"/>
              <a:t> (milimetr)</a:t>
            </a:r>
          </a:p>
          <a:p>
            <a:pPr>
              <a:buFontTx/>
              <a:buChar char="-"/>
            </a:pPr>
            <a:r>
              <a:rPr lang="pl-PL" b="1" dirty="0" err="1"/>
              <a:t>pt</a:t>
            </a:r>
            <a:r>
              <a:rPr lang="pl-PL" dirty="0"/>
              <a:t> (punkt, 1 cal to 72 punkty)</a:t>
            </a:r>
          </a:p>
          <a:p>
            <a:pPr>
              <a:buFontTx/>
              <a:buChar char="-"/>
            </a:pPr>
            <a:r>
              <a:rPr lang="pl-PL" b="1" dirty="0" err="1"/>
              <a:t>pc</a:t>
            </a:r>
            <a:r>
              <a:rPr lang="pl-PL" dirty="0"/>
              <a:t> (pica, 1pc = 12 </a:t>
            </a:r>
            <a:r>
              <a:rPr lang="pl-PL" dirty="0" err="1"/>
              <a:t>pt</a:t>
            </a:r>
            <a:r>
              <a:rPr lang="pl-PL" dirty="0"/>
              <a:t>)</a:t>
            </a:r>
          </a:p>
          <a:p>
            <a:pPr>
              <a:buFontTx/>
              <a:buChar char="-"/>
            </a:pPr>
            <a:r>
              <a:rPr lang="pl-PL" b="1" dirty="0" err="1"/>
              <a:t>px</a:t>
            </a:r>
            <a:r>
              <a:rPr lang="pl-PL" dirty="0"/>
              <a:t> (piksel, 1 </a:t>
            </a:r>
            <a:r>
              <a:rPr lang="pl-PL" dirty="0" err="1"/>
              <a:t>px</a:t>
            </a:r>
            <a:r>
              <a:rPr lang="pl-PL" dirty="0"/>
              <a:t> = 0,75 </a:t>
            </a:r>
            <a:r>
              <a:rPr lang="pl-PL" dirty="0" err="1"/>
              <a:t>pt</a:t>
            </a:r>
            <a:r>
              <a:rPr lang="pl-PL" dirty="0"/>
              <a:t>)</a:t>
            </a:r>
          </a:p>
          <a:p>
            <a:r>
              <a:rPr lang="pl-PL" dirty="0"/>
              <a:t>Wartości względne</a:t>
            </a:r>
          </a:p>
          <a:p>
            <a:pPr>
              <a:buFontTx/>
              <a:buChar char="-"/>
            </a:pPr>
            <a:r>
              <a:rPr lang="pl-PL" b="1" dirty="0"/>
              <a:t>em</a:t>
            </a:r>
            <a:r>
              <a:rPr lang="pl-PL" dirty="0"/>
              <a:t> (1 em jest wielkością rozmiaru czcionki, jaką posiada dany element. Wartość 0.1 em jest wartością najmniejszą jaką przeglądarka może rozpoznać)</a:t>
            </a:r>
          </a:p>
          <a:p>
            <a:pPr>
              <a:buFontTx/>
              <a:buChar char="-"/>
            </a:pPr>
            <a:r>
              <a:rPr lang="pl-PL" b="1" dirty="0"/>
              <a:t>ex</a:t>
            </a:r>
            <a:r>
              <a:rPr lang="pl-PL" dirty="0"/>
              <a:t> (obliczana na podstawie wysokości małej litery x użytej w czcionce)</a:t>
            </a:r>
          </a:p>
          <a:p>
            <a:r>
              <a:rPr lang="pl-PL" dirty="0"/>
              <a:t>Jednostki czasu to: </a:t>
            </a:r>
            <a:r>
              <a:rPr lang="pl-PL" b="1" dirty="0"/>
              <a:t>s</a:t>
            </a:r>
            <a:r>
              <a:rPr lang="pl-PL" dirty="0"/>
              <a:t> lub </a:t>
            </a:r>
            <a:r>
              <a:rPr lang="pl-PL" b="1" dirty="0"/>
              <a:t>ms</a:t>
            </a:r>
          </a:p>
          <a:p>
            <a:pPr marL="0" indent="0">
              <a:buNone/>
            </a:pPr>
            <a:endParaRPr lang="pl-PL" dirty="0"/>
          </a:p>
        </p:txBody>
      </p:sp>
    </p:spTree>
    <p:extLst>
      <p:ext uri="{BB962C8B-B14F-4D97-AF65-F5344CB8AC3E}">
        <p14:creationId xmlns:p14="http://schemas.microsoft.com/office/powerpoint/2010/main" val="3075381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Wartości stosowane w stylach CSS</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1982" y="1600200"/>
            <a:ext cx="7240036" cy="4525963"/>
          </a:xfrm>
        </p:spPr>
      </p:pic>
    </p:spTree>
    <p:extLst>
      <p:ext uri="{BB962C8B-B14F-4D97-AF65-F5344CB8AC3E}">
        <p14:creationId xmlns:p14="http://schemas.microsoft.com/office/powerpoint/2010/main" val="1613282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Wartości stosowane w stylach CSS</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0084" y="1600200"/>
            <a:ext cx="3383831" cy="4525963"/>
          </a:xfrm>
        </p:spPr>
      </p:pic>
    </p:spTree>
    <p:extLst>
      <p:ext uri="{BB962C8B-B14F-4D97-AF65-F5344CB8AC3E}">
        <p14:creationId xmlns:p14="http://schemas.microsoft.com/office/powerpoint/2010/main" val="1669035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Wartości kolorów w CSS</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8893" y="1600200"/>
            <a:ext cx="5106214" cy="4525963"/>
          </a:xfrm>
        </p:spPr>
      </p:pic>
    </p:spTree>
    <p:extLst>
      <p:ext uri="{BB962C8B-B14F-4D97-AF65-F5344CB8AC3E}">
        <p14:creationId xmlns:p14="http://schemas.microsoft.com/office/powerpoint/2010/main" val="2691653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Sposoby podawania kolorów w CSS</a:t>
            </a:r>
          </a:p>
        </p:txBody>
      </p:sp>
      <p:sp>
        <p:nvSpPr>
          <p:cNvPr id="3" name="Symbol zastępczy zawartości 2"/>
          <p:cNvSpPr>
            <a:spLocks noGrp="1"/>
          </p:cNvSpPr>
          <p:nvPr>
            <p:ph idx="1"/>
          </p:nvPr>
        </p:nvSpPr>
        <p:spPr/>
        <p:txBody>
          <a:bodyPr>
            <a:normAutofit fontScale="77500" lnSpcReduction="20000"/>
          </a:bodyPr>
          <a:lstStyle/>
          <a:p>
            <a:r>
              <a:rPr lang="pl-PL" b="1" dirty="0"/>
              <a:t>Predefiniowane</a:t>
            </a:r>
            <a:r>
              <a:rPr lang="pl-PL" dirty="0"/>
              <a:t> – podawanie kolorów w postaci nazw np. p {</a:t>
            </a:r>
            <a:r>
              <a:rPr lang="pl-PL" dirty="0" err="1"/>
              <a:t>color</a:t>
            </a:r>
            <a:r>
              <a:rPr lang="pl-PL" dirty="0"/>
              <a:t>: </a:t>
            </a:r>
            <a:r>
              <a:rPr lang="pl-PL" dirty="0" err="1"/>
              <a:t>orange</a:t>
            </a:r>
            <a:r>
              <a:rPr lang="pl-PL" dirty="0"/>
              <a:t>;}</a:t>
            </a:r>
          </a:p>
          <a:p>
            <a:r>
              <a:rPr lang="pl-PL" b="1" dirty="0"/>
              <a:t>#</a:t>
            </a:r>
            <a:r>
              <a:rPr lang="pl-PL" b="1" dirty="0" err="1"/>
              <a:t>rrggbb</a:t>
            </a:r>
            <a:r>
              <a:rPr lang="pl-PL" b="1" dirty="0"/>
              <a:t> </a:t>
            </a:r>
            <a:r>
              <a:rPr lang="pl-PL" dirty="0"/>
              <a:t>– podanie wartości każdej składowej kolorów podstawowych w systemie szesnastkowym. Do zapisu każdego z kolorów używamy pod dwa znaki (</a:t>
            </a:r>
            <a:r>
              <a:rPr lang="pl-PL" dirty="0" err="1"/>
              <a:t>rr</a:t>
            </a:r>
            <a:r>
              <a:rPr lang="pl-PL" dirty="0"/>
              <a:t> – czerwony, </a:t>
            </a:r>
            <a:r>
              <a:rPr lang="pl-PL" dirty="0" err="1"/>
              <a:t>gg</a:t>
            </a:r>
            <a:r>
              <a:rPr lang="pl-PL" dirty="0"/>
              <a:t> – zielony, </a:t>
            </a:r>
            <a:r>
              <a:rPr lang="pl-PL" dirty="0" err="1"/>
              <a:t>bb</a:t>
            </a:r>
            <a:r>
              <a:rPr lang="pl-PL" dirty="0"/>
              <a:t> – niebieski) np. </a:t>
            </a:r>
            <a:r>
              <a:rPr lang="pl-PL" dirty="0">
                <a:solidFill>
                  <a:srgbClr val="0070C0"/>
                </a:solidFill>
              </a:rPr>
              <a:t>p {</a:t>
            </a:r>
            <a:r>
              <a:rPr lang="pl-PL" dirty="0" err="1">
                <a:solidFill>
                  <a:srgbClr val="0070C0"/>
                </a:solidFill>
              </a:rPr>
              <a:t>color</a:t>
            </a:r>
            <a:r>
              <a:rPr lang="pl-PL" dirty="0">
                <a:solidFill>
                  <a:srgbClr val="0070C0"/>
                </a:solidFill>
              </a:rPr>
              <a:t>: #f0e982;}</a:t>
            </a:r>
          </a:p>
          <a:p>
            <a:r>
              <a:rPr lang="pl-PL" b="1" dirty="0"/>
              <a:t>#</a:t>
            </a:r>
            <a:r>
              <a:rPr lang="pl-PL" b="1" dirty="0" err="1"/>
              <a:t>rgb</a:t>
            </a:r>
            <a:r>
              <a:rPr lang="pl-PL" b="1" dirty="0"/>
              <a:t> </a:t>
            </a:r>
            <a:r>
              <a:rPr lang="pl-PL" dirty="0"/>
              <a:t>– jako składowe podajemy liczby jednocyfrowe w systemie szesnastkowym </a:t>
            </a:r>
            <a:br>
              <a:rPr lang="pl-PL" dirty="0"/>
            </a:br>
            <a:r>
              <a:rPr lang="pl-PL" dirty="0"/>
              <a:t>np. </a:t>
            </a:r>
            <a:r>
              <a:rPr lang="pl-PL" dirty="0">
                <a:solidFill>
                  <a:srgbClr val="0070C0"/>
                </a:solidFill>
              </a:rPr>
              <a:t>p {</a:t>
            </a:r>
            <a:r>
              <a:rPr lang="pl-PL" dirty="0" err="1">
                <a:solidFill>
                  <a:srgbClr val="0070C0"/>
                </a:solidFill>
              </a:rPr>
              <a:t>color</a:t>
            </a:r>
            <a:r>
              <a:rPr lang="pl-PL" dirty="0">
                <a:solidFill>
                  <a:srgbClr val="0070C0"/>
                </a:solidFill>
              </a:rPr>
              <a:t>: 3f9;}</a:t>
            </a:r>
          </a:p>
          <a:p>
            <a:r>
              <a:rPr lang="pl-PL" b="1" dirty="0" err="1"/>
              <a:t>rgb</a:t>
            </a:r>
            <a:r>
              <a:rPr lang="pl-PL" b="1" dirty="0"/>
              <a:t>(R,G,B) </a:t>
            </a:r>
            <a:r>
              <a:rPr lang="pl-PL" dirty="0"/>
              <a:t>– można podać każdą składową koloru w systemie dziesiętnym, zakres wartości od 0 do 255</a:t>
            </a:r>
            <a:br>
              <a:rPr lang="pl-PL" dirty="0"/>
            </a:br>
            <a:r>
              <a:rPr lang="pl-PL" dirty="0"/>
              <a:t>np. </a:t>
            </a:r>
            <a:r>
              <a:rPr lang="pl-PL" dirty="0">
                <a:solidFill>
                  <a:srgbClr val="0070C0"/>
                </a:solidFill>
              </a:rPr>
              <a:t>p {</a:t>
            </a:r>
            <a:r>
              <a:rPr lang="pl-PL" dirty="0" err="1">
                <a:solidFill>
                  <a:srgbClr val="0070C0"/>
                </a:solidFill>
              </a:rPr>
              <a:t>color</a:t>
            </a:r>
            <a:r>
              <a:rPr lang="pl-PL" dirty="0">
                <a:solidFill>
                  <a:srgbClr val="0070C0"/>
                </a:solidFill>
              </a:rPr>
              <a:t>: </a:t>
            </a:r>
            <a:r>
              <a:rPr lang="pl-PL" dirty="0" err="1">
                <a:solidFill>
                  <a:srgbClr val="0070C0"/>
                </a:solidFill>
              </a:rPr>
              <a:t>rgb</a:t>
            </a:r>
            <a:r>
              <a:rPr lang="pl-PL" dirty="0">
                <a:solidFill>
                  <a:srgbClr val="0070C0"/>
                </a:solidFill>
              </a:rPr>
              <a:t>(255,23,33);} </a:t>
            </a:r>
          </a:p>
        </p:txBody>
      </p:sp>
    </p:spTree>
    <p:extLst>
      <p:ext uri="{BB962C8B-B14F-4D97-AF65-F5344CB8AC3E}">
        <p14:creationId xmlns:p14="http://schemas.microsoft.com/office/powerpoint/2010/main" val="1603281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Sposoby podawania kolorów w CSS</a:t>
            </a:r>
          </a:p>
        </p:txBody>
      </p:sp>
      <p:sp>
        <p:nvSpPr>
          <p:cNvPr id="3" name="Symbol zastępczy zawartości 2"/>
          <p:cNvSpPr>
            <a:spLocks noGrp="1"/>
          </p:cNvSpPr>
          <p:nvPr>
            <p:ph idx="1"/>
          </p:nvPr>
        </p:nvSpPr>
        <p:spPr/>
        <p:txBody>
          <a:bodyPr>
            <a:normAutofit fontScale="77500" lnSpcReduction="20000"/>
          </a:bodyPr>
          <a:lstStyle/>
          <a:p>
            <a:r>
              <a:rPr lang="pl-PL" dirty="0" err="1"/>
              <a:t>rgb</a:t>
            </a:r>
            <a:r>
              <a:rPr lang="pl-PL" dirty="0"/>
              <a:t>(R%, G%, B%) – można podać określoną barwę w postaci procentowej </a:t>
            </a:r>
            <a:br>
              <a:rPr lang="pl-PL" dirty="0"/>
            </a:br>
            <a:r>
              <a:rPr lang="pl-PL" dirty="0"/>
              <a:t>np.</a:t>
            </a:r>
            <a:r>
              <a:rPr lang="pl-PL" dirty="0">
                <a:solidFill>
                  <a:srgbClr val="0070C0"/>
                </a:solidFill>
              </a:rPr>
              <a:t> p {</a:t>
            </a:r>
            <a:r>
              <a:rPr lang="pl-PL" dirty="0" err="1">
                <a:solidFill>
                  <a:srgbClr val="0070C0"/>
                </a:solidFill>
              </a:rPr>
              <a:t>color</a:t>
            </a:r>
            <a:r>
              <a:rPr lang="pl-PL" dirty="0">
                <a:solidFill>
                  <a:srgbClr val="0070C0"/>
                </a:solidFill>
              </a:rPr>
              <a:t>: </a:t>
            </a:r>
            <a:r>
              <a:rPr lang="pl-PL" dirty="0" err="1">
                <a:solidFill>
                  <a:srgbClr val="0070C0"/>
                </a:solidFill>
              </a:rPr>
              <a:t>rgb</a:t>
            </a:r>
            <a:r>
              <a:rPr lang="pl-PL" dirty="0">
                <a:solidFill>
                  <a:srgbClr val="0070C0"/>
                </a:solidFill>
              </a:rPr>
              <a:t>(10%,33%,100%);} </a:t>
            </a:r>
          </a:p>
          <a:p>
            <a:r>
              <a:rPr lang="pl-PL" dirty="0" err="1"/>
              <a:t>hsl</a:t>
            </a:r>
            <a:r>
              <a:rPr lang="pl-PL" dirty="0"/>
              <a:t> (H,S%,L%) – H – brawa, S – nasycenie, L – jasność </a:t>
            </a:r>
            <a:br>
              <a:rPr lang="pl-PL" dirty="0"/>
            </a:br>
            <a:r>
              <a:rPr lang="pl-PL" dirty="0"/>
              <a:t>np. </a:t>
            </a:r>
            <a:r>
              <a:rPr lang="pl-PL" dirty="0">
                <a:solidFill>
                  <a:srgbClr val="0070C0"/>
                </a:solidFill>
              </a:rPr>
              <a:t>p {</a:t>
            </a:r>
            <a:r>
              <a:rPr lang="pl-PL" dirty="0" err="1">
                <a:solidFill>
                  <a:srgbClr val="0070C0"/>
                </a:solidFill>
              </a:rPr>
              <a:t>color</a:t>
            </a:r>
            <a:r>
              <a:rPr lang="pl-PL" dirty="0">
                <a:solidFill>
                  <a:srgbClr val="0070C0"/>
                </a:solidFill>
              </a:rPr>
              <a:t>: </a:t>
            </a:r>
            <a:r>
              <a:rPr lang="pl-PL" dirty="0" err="1">
                <a:solidFill>
                  <a:srgbClr val="0070C0"/>
                </a:solidFill>
              </a:rPr>
              <a:t>hsl</a:t>
            </a:r>
            <a:r>
              <a:rPr lang="pl-PL" dirty="0">
                <a:solidFill>
                  <a:srgbClr val="0070C0"/>
                </a:solidFill>
              </a:rPr>
              <a:t>(30,23%,33%);} </a:t>
            </a:r>
          </a:p>
          <a:p>
            <a:r>
              <a:rPr lang="pl-PL" dirty="0"/>
              <a:t>  </a:t>
            </a:r>
            <a:r>
              <a:rPr lang="pl-PL" dirty="0" err="1"/>
              <a:t>rgba</a:t>
            </a:r>
            <a:r>
              <a:rPr lang="pl-PL" dirty="0"/>
              <a:t>(R,G,B,A), </a:t>
            </a:r>
            <a:r>
              <a:rPr lang="pl-PL" dirty="0" err="1"/>
              <a:t>rgba</a:t>
            </a:r>
            <a:r>
              <a:rPr lang="pl-PL" dirty="0"/>
              <a:t>(R%,G%,B%,A%), </a:t>
            </a:r>
            <a:r>
              <a:rPr lang="pl-PL" dirty="0" err="1"/>
              <a:t>hsla</a:t>
            </a:r>
            <a:r>
              <a:rPr lang="pl-PL" dirty="0"/>
              <a:t>(H,S%,L%,A) – A jest to parametr który umożliwia uzyskanie przezroczystości. Zakres wartości parametru A od 0 do 1. </a:t>
            </a:r>
          </a:p>
          <a:p>
            <a:r>
              <a:rPr lang="pl-PL" dirty="0"/>
              <a:t>0 – całkowita przezroczystość</a:t>
            </a:r>
            <a:r>
              <a:rPr lang="pl-PL"/>
              <a:t>, </a:t>
            </a:r>
          </a:p>
          <a:p>
            <a:r>
              <a:rPr lang="pl-PL"/>
              <a:t>1 </a:t>
            </a:r>
            <a:r>
              <a:rPr lang="pl-PL" dirty="0"/>
              <a:t>– brak przezroczystości </a:t>
            </a:r>
            <a:br>
              <a:rPr lang="pl-PL" dirty="0"/>
            </a:br>
            <a:r>
              <a:rPr lang="pl-PL" dirty="0"/>
              <a:t>np. </a:t>
            </a:r>
            <a:r>
              <a:rPr lang="pl-PL" dirty="0">
                <a:solidFill>
                  <a:srgbClr val="0070C0"/>
                </a:solidFill>
              </a:rPr>
              <a:t>p {</a:t>
            </a:r>
            <a:r>
              <a:rPr lang="pl-PL" dirty="0" err="1">
                <a:solidFill>
                  <a:srgbClr val="0070C0"/>
                </a:solidFill>
              </a:rPr>
              <a:t>color</a:t>
            </a:r>
            <a:r>
              <a:rPr lang="pl-PL" dirty="0">
                <a:solidFill>
                  <a:srgbClr val="0070C0"/>
                </a:solidFill>
              </a:rPr>
              <a:t>: </a:t>
            </a:r>
            <a:r>
              <a:rPr lang="pl-PL" dirty="0" err="1">
                <a:solidFill>
                  <a:srgbClr val="0070C0"/>
                </a:solidFill>
              </a:rPr>
              <a:t>rgba</a:t>
            </a:r>
            <a:r>
              <a:rPr lang="pl-PL" dirty="0">
                <a:solidFill>
                  <a:srgbClr val="0070C0"/>
                </a:solidFill>
              </a:rPr>
              <a:t>(30,23,33,0.5);}</a:t>
            </a:r>
            <a:br>
              <a:rPr lang="pl-PL" dirty="0">
                <a:solidFill>
                  <a:srgbClr val="0070C0"/>
                </a:solidFill>
              </a:rPr>
            </a:br>
            <a:r>
              <a:rPr lang="pl-PL" dirty="0"/>
              <a:t>np. </a:t>
            </a:r>
            <a:r>
              <a:rPr lang="pl-PL" dirty="0">
                <a:solidFill>
                  <a:srgbClr val="0070C0"/>
                </a:solidFill>
              </a:rPr>
              <a:t>p {</a:t>
            </a:r>
            <a:r>
              <a:rPr lang="pl-PL" dirty="0" err="1">
                <a:solidFill>
                  <a:srgbClr val="0070C0"/>
                </a:solidFill>
              </a:rPr>
              <a:t>color</a:t>
            </a:r>
            <a:r>
              <a:rPr lang="pl-PL" dirty="0">
                <a:solidFill>
                  <a:srgbClr val="0070C0"/>
                </a:solidFill>
              </a:rPr>
              <a:t>: </a:t>
            </a:r>
            <a:r>
              <a:rPr lang="pl-PL" dirty="0" err="1">
                <a:solidFill>
                  <a:srgbClr val="0070C0"/>
                </a:solidFill>
              </a:rPr>
              <a:t>hsla</a:t>
            </a:r>
            <a:r>
              <a:rPr lang="pl-PL" dirty="0">
                <a:solidFill>
                  <a:srgbClr val="0070C0"/>
                </a:solidFill>
              </a:rPr>
              <a:t>(30,23%,33%,0.5);}</a:t>
            </a:r>
            <a:endParaRPr lang="pl-PL" dirty="0"/>
          </a:p>
        </p:txBody>
      </p:sp>
    </p:spTree>
    <p:extLst>
      <p:ext uri="{BB962C8B-B14F-4D97-AF65-F5344CB8AC3E}">
        <p14:creationId xmlns:p14="http://schemas.microsoft.com/office/powerpoint/2010/main" val="1450346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uniwersalny</a:t>
            </a:r>
          </a:p>
        </p:txBody>
      </p:sp>
      <p:sp>
        <p:nvSpPr>
          <p:cNvPr id="3" name="Symbol zastępczy zawartości 2"/>
          <p:cNvSpPr>
            <a:spLocks noGrp="1"/>
          </p:cNvSpPr>
          <p:nvPr>
            <p:ph idx="1"/>
          </p:nvPr>
        </p:nvSpPr>
        <p:spPr/>
        <p:txBody>
          <a:bodyPr/>
          <a:lstStyle/>
          <a:p>
            <a:r>
              <a:rPr lang="pl-PL" dirty="0"/>
              <a:t>Selektor uniwersalny to selektor pasujący do wszystkich znaczników. Jest oznaczany *</a:t>
            </a:r>
          </a:p>
          <a:p>
            <a:r>
              <a:rPr lang="pl-PL" dirty="0"/>
              <a:t>Składnia ogólna: </a:t>
            </a:r>
            <a:br>
              <a:rPr lang="pl-PL" dirty="0"/>
            </a:br>
            <a:r>
              <a:rPr lang="pl-PL" dirty="0"/>
              <a:t>*{właściwość: wartość;}</a:t>
            </a:r>
          </a:p>
          <a:p>
            <a:r>
              <a:rPr lang="pl-PL" dirty="0"/>
              <a:t>Zamiast stosować:</a:t>
            </a:r>
            <a:br>
              <a:rPr lang="pl-PL" dirty="0"/>
            </a:br>
            <a:r>
              <a:rPr lang="pl-PL" dirty="0"/>
              <a:t>p, h1, h2, h3, h4, h5, h6, </a:t>
            </a:r>
            <a:r>
              <a:rPr lang="pl-PL" dirty="0" err="1"/>
              <a:t>table</a:t>
            </a:r>
            <a:r>
              <a:rPr lang="pl-PL" dirty="0"/>
              <a:t> {</a:t>
            </a:r>
            <a:r>
              <a:rPr lang="pl-PL" dirty="0" err="1"/>
              <a:t>color</a:t>
            </a:r>
            <a:r>
              <a:rPr lang="pl-PL" dirty="0"/>
              <a:t>: </a:t>
            </a:r>
            <a:r>
              <a:rPr lang="pl-PL" dirty="0" err="1"/>
              <a:t>blue</a:t>
            </a:r>
            <a:r>
              <a:rPr lang="pl-PL" dirty="0"/>
              <a:t>;}</a:t>
            </a:r>
            <a:br>
              <a:rPr lang="pl-PL" dirty="0"/>
            </a:br>
            <a:r>
              <a:rPr lang="pl-PL" dirty="0"/>
              <a:t>można użyć selektora uniwersalnego: </a:t>
            </a:r>
            <a:br>
              <a:rPr lang="pl-PL" dirty="0"/>
            </a:br>
            <a:r>
              <a:rPr lang="pl-PL" dirty="0"/>
              <a:t>*{</a:t>
            </a:r>
            <a:r>
              <a:rPr lang="pl-PL" dirty="0" err="1"/>
              <a:t>color</a:t>
            </a:r>
            <a:r>
              <a:rPr lang="pl-PL" dirty="0"/>
              <a:t>: </a:t>
            </a:r>
            <a:r>
              <a:rPr lang="pl-PL" dirty="0" err="1"/>
              <a:t>blue</a:t>
            </a:r>
            <a:r>
              <a:rPr lang="pl-PL" dirty="0"/>
              <a:t>;}</a:t>
            </a:r>
          </a:p>
        </p:txBody>
      </p:sp>
    </p:spTree>
    <p:extLst>
      <p:ext uri="{BB962C8B-B14F-4D97-AF65-F5344CB8AC3E}">
        <p14:creationId xmlns:p14="http://schemas.microsoft.com/office/powerpoint/2010/main" val="2404170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potomka</a:t>
            </a:r>
          </a:p>
        </p:txBody>
      </p:sp>
      <p:sp>
        <p:nvSpPr>
          <p:cNvPr id="3" name="Symbol zastępczy zawartości 2"/>
          <p:cNvSpPr>
            <a:spLocks noGrp="1"/>
          </p:cNvSpPr>
          <p:nvPr>
            <p:ph idx="1"/>
          </p:nvPr>
        </p:nvSpPr>
        <p:spPr/>
        <p:txBody>
          <a:bodyPr/>
          <a:lstStyle/>
          <a:p>
            <a:r>
              <a:rPr lang="pl-PL" dirty="0"/>
              <a:t>Przy użyciu selektora potomka można formatować elementy, które są zawarte wewnątrz innych znaczników, czyli leżą niżej w hierarchii drzewa dokumentu.</a:t>
            </a:r>
          </a:p>
          <a:p>
            <a:r>
              <a:rPr lang="pl-PL" dirty="0"/>
              <a:t>Składnia:</a:t>
            </a:r>
            <a:br>
              <a:rPr lang="pl-PL" dirty="0"/>
            </a:br>
            <a:r>
              <a:rPr lang="pl-PL" dirty="0"/>
              <a:t>selektor </a:t>
            </a:r>
            <a:r>
              <a:rPr lang="pl-PL" dirty="0" err="1"/>
              <a:t>selektor</a:t>
            </a:r>
            <a:r>
              <a:rPr lang="pl-PL" dirty="0"/>
              <a:t> {właściwość: wartość;}</a:t>
            </a:r>
            <a:br>
              <a:rPr lang="pl-PL" dirty="0"/>
            </a:br>
            <a:r>
              <a:rPr lang="pl-PL" dirty="0"/>
              <a:t>np. div </a:t>
            </a:r>
            <a:r>
              <a:rPr lang="pl-PL" dirty="0" err="1"/>
              <a:t>span</a:t>
            </a:r>
            <a:r>
              <a:rPr lang="pl-PL" dirty="0"/>
              <a:t> {</a:t>
            </a:r>
            <a:r>
              <a:rPr lang="pl-PL" dirty="0" err="1"/>
              <a:t>font-size</a:t>
            </a:r>
            <a:r>
              <a:rPr lang="pl-PL" dirty="0"/>
              <a:t>: 20px; </a:t>
            </a:r>
            <a:r>
              <a:rPr lang="pl-PL" dirty="0" err="1"/>
              <a:t>color</a:t>
            </a:r>
            <a:r>
              <a:rPr lang="pl-PL" dirty="0"/>
              <a:t>: red;}</a:t>
            </a:r>
          </a:p>
        </p:txBody>
      </p:sp>
    </p:spTree>
    <p:extLst>
      <p:ext uri="{BB962C8B-B14F-4D97-AF65-F5344CB8AC3E}">
        <p14:creationId xmlns:p14="http://schemas.microsoft.com/office/powerpoint/2010/main" val="2865906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potomka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7980" y="1600200"/>
            <a:ext cx="6848039" cy="4525963"/>
          </a:xfrm>
        </p:spPr>
      </p:pic>
    </p:spTree>
    <p:extLst>
      <p:ext uri="{BB962C8B-B14F-4D97-AF65-F5344CB8AC3E}">
        <p14:creationId xmlns:p14="http://schemas.microsoft.com/office/powerpoint/2010/main" val="2822503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potomka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1143" y="1600200"/>
            <a:ext cx="6781714" cy="4525963"/>
          </a:xfrm>
        </p:spPr>
      </p:pic>
    </p:spTree>
    <p:extLst>
      <p:ext uri="{BB962C8B-B14F-4D97-AF65-F5344CB8AC3E}">
        <p14:creationId xmlns:p14="http://schemas.microsoft.com/office/powerpoint/2010/main" val="4126220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potomka - przykład</a:t>
            </a:r>
          </a:p>
        </p:txBody>
      </p:sp>
      <p:sp>
        <p:nvSpPr>
          <p:cNvPr id="3" name="Symbol zastępczy zawartości 2"/>
          <p:cNvSpPr>
            <a:spLocks noGrp="1"/>
          </p:cNvSpPr>
          <p:nvPr>
            <p:ph idx="1"/>
          </p:nvPr>
        </p:nvSpPr>
        <p:spPr/>
        <p:txBody>
          <a:bodyPr/>
          <a:lstStyle/>
          <a:p>
            <a:r>
              <a:rPr lang="pl-PL" dirty="0"/>
              <a:t>Formatowane są tylko elementy umieszczone w znaczniku &lt;</a:t>
            </a:r>
            <a:r>
              <a:rPr lang="pl-PL" dirty="0" err="1"/>
              <a:t>span</a:t>
            </a:r>
            <a:r>
              <a:rPr lang="pl-PL" dirty="0"/>
              <a:t>&gt; który jest wewnątrz znacznika &lt;div&gt; lub w innych znacznikach znajdujących się w znaczniku &lt;div&gt; w tym przypadku w znaczniku &lt;p&gt;</a:t>
            </a:r>
          </a:p>
          <a:p>
            <a:r>
              <a:rPr lang="pl-PL" dirty="0"/>
              <a:t>Jak widzimy tekst umieszczony w znaczniku &lt;</a:t>
            </a:r>
            <a:r>
              <a:rPr lang="pl-PL" dirty="0" err="1"/>
              <a:t>span</a:t>
            </a:r>
            <a:r>
              <a:rPr lang="pl-PL" dirty="0"/>
              <a:t>&gt; umieszczony poza znacznikiem &lt;div&gt; nie jest formatowany</a:t>
            </a:r>
          </a:p>
        </p:txBody>
      </p:sp>
    </p:spTree>
    <p:extLst>
      <p:ext uri="{BB962C8B-B14F-4D97-AF65-F5344CB8AC3E}">
        <p14:creationId xmlns:p14="http://schemas.microsoft.com/office/powerpoint/2010/main" val="3640051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dziecka</a:t>
            </a:r>
          </a:p>
        </p:txBody>
      </p:sp>
      <p:sp>
        <p:nvSpPr>
          <p:cNvPr id="3" name="Symbol zastępczy zawartości 2"/>
          <p:cNvSpPr>
            <a:spLocks noGrp="1"/>
          </p:cNvSpPr>
          <p:nvPr>
            <p:ph idx="1"/>
          </p:nvPr>
        </p:nvSpPr>
        <p:spPr/>
        <p:txBody>
          <a:bodyPr/>
          <a:lstStyle/>
          <a:p>
            <a:r>
              <a:rPr lang="pl-PL" dirty="0"/>
              <a:t>Selektor dziecka służy do definiowania formatowania elementów, które znajdują się o jeden rząd niżej w hierarchii drzewa dokumentu.</a:t>
            </a:r>
          </a:p>
          <a:p>
            <a:r>
              <a:rPr lang="pl-PL" dirty="0"/>
              <a:t>Składnia:</a:t>
            </a:r>
            <a:br>
              <a:rPr lang="pl-PL" dirty="0"/>
            </a:br>
            <a:r>
              <a:rPr lang="pl-PL" dirty="0"/>
              <a:t>rodzic &gt; dziecko {</a:t>
            </a:r>
            <a:r>
              <a:rPr lang="pl-PL" dirty="0" err="1"/>
              <a:t>właściowość</a:t>
            </a:r>
            <a:r>
              <a:rPr lang="pl-PL" dirty="0"/>
              <a:t>: wartość;}</a:t>
            </a:r>
          </a:p>
        </p:txBody>
      </p:sp>
    </p:spTree>
    <p:extLst>
      <p:ext uri="{BB962C8B-B14F-4D97-AF65-F5344CB8AC3E}">
        <p14:creationId xmlns:p14="http://schemas.microsoft.com/office/powerpoint/2010/main" val="1792973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dziecka - przykład</a:t>
            </a:r>
          </a:p>
        </p:txBody>
      </p:sp>
      <p:pic>
        <p:nvPicPr>
          <p:cNvPr id="5" name="Symbol zastępczy zawartości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305" y="1600200"/>
            <a:ext cx="6893389" cy="4525963"/>
          </a:xfrm>
        </p:spPr>
      </p:pic>
    </p:spTree>
    <p:extLst>
      <p:ext uri="{BB962C8B-B14F-4D97-AF65-F5344CB8AC3E}">
        <p14:creationId xmlns:p14="http://schemas.microsoft.com/office/powerpoint/2010/main" val="22412345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dziecka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3915" y="2029363"/>
            <a:ext cx="7116169" cy="3667637"/>
          </a:xfrm>
        </p:spPr>
      </p:pic>
    </p:spTree>
    <p:extLst>
      <p:ext uri="{BB962C8B-B14F-4D97-AF65-F5344CB8AC3E}">
        <p14:creationId xmlns:p14="http://schemas.microsoft.com/office/powerpoint/2010/main" val="3178319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sąsiadującego brata</a:t>
            </a:r>
          </a:p>
        </p:txBody>
      </p:sp>
      <p:sp>
        <p:nvSpPr>
          <p:cNvPr id="3" name="Symbol zastępczy zawartości 2"/>
          <p:cNvSpPr>
            <a:spLocks noGrp="1"/>
          </p:cNvSpPr>
          <p:nvPr>
            <p:ph idx="1"/>
          </p:nvPr>
        </p:nvSpPr>
        <p:spPr/>
        <p:txBody>
          <a:bodyPr/>
          <a:lstStyle/>
          <a:p>
            <a:r>
              <a:rPr lang="pl-PL" dirty="0"/>
              <a:t>Dla elementów znajdujących się w tym samym rzędzie hierarchii można zdefiniować selektor sąsiadującego brata. Umożliwia on nadanie drugiemu z sąsiadujących elementów zdefiniowanych atrybutów formatowania. </a:t>
            </a:r>
          </a:p>
          <a:p>
            <a:r>
              <a:rPr lang="pl-PL" dirty="0"/>
              <a:t>Składania:</a:t>
            </a:r>
            <a:br>
              <a:rPr lang="pl-PL" dirty="0"/>
            </a:br>
            <a:r>
              <a:rPr lang="pl-PL" dirty="0"/>
              <a:t>brat1 + brat2 {</a:t>
            </a:r>
            <a:r>
              <a:rPr lang="pl-PL" dirty="0" err="1"/>
              <a:t>właściowość</a:t>
            </a:r>
            <a:r>
              <a:rPr lang="pl-PL" dirty="0"/>
              <a:t>: wartość;}</a:t>
            </a:r>
          </a:p>
          <a:p>
            <a:endParaRPr lang="pl-PL" dirty="0"/>
          </a:p>
        </p:txBody>
      </p:sp>
    </p:spTree>
    <p:extLst>
      <p:ext uri="{BB962C8B-B14F-4D97-AF65-F5344CB8AC3E}">
        <p14:creationId xmlns:p14="http://schemas.microsoft.com/office/powerpoint/2010/main" val="1936829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Selektor sąsiadującego brata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78898"/>
            <a:ext cx="8229600" cy="4168567"/>
          </a:xfrm>
        </p:spPr>
      </p:pic>
    </p:spTree>
    <p:extLst>
      <p:ext uri="{BB962C8B-B14F-4D97-AF65-F5344CB8AC3E}">
        <p14:creationId xmlns:p14="http://schemas.microsoft.com/office/powerpoint/2010/main" val="1959010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Selektor sąsiadującego brata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6678" y="1943626"/>
            <a:ext cx="7830643" cy="3839111"/>
          </a:xfrm>
        </p:spPr>
      </p:pic>
    </p:spTree>
    <p:extLst>
      <p:ext uri="{BB962C8B-B14F-4D97-AF65-F5344CB8AC3E}">
        <p14:creationId xmlns:p14="http://schemas.microsoft.com/office/powerpoint/2010/main" val="3820438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braci</a:t>
            </a:r>
          </a:p>
        </p:txBody>
      </p:sp>
      <p:sp>
        <p:nvSpPr>
          <p:cNvPr id="3" name="Symbol zastępczy zawartości 2"/>
          <p:cNvSpPr>
            <a:spLocks noGrp="1"/>
          </p:cNvSpPr>
          <p:nvPr>
            <p:ph idx="1"/>
          </p:nvPr>
        </p:nvSpPr>
        <p:spPr/>
        <p:txBody>
          <a:bodyPr/>
          <a:lstStyle/>
          <a:p>
            <a:r>
              <a:rPr lang="pl-PL" dirty="0"/>
              <a:t>Dla elementów znajdujących się w tym samym rzędzie hierarchii można zdefiniować selektor braci. Umożliwia on nadanie drugiemu i wszystkim następnym sąsiadującym elementom zdefiniowanych atrybutów formatowania.</a:t>
            </a:r>
          </a:p>
          <a:p>
            <a:r>
              <a:rPr lang="pl-PL" dirty="0"/>
              <a:t>Składnia brat1 ~ brat2 {właściwość: wartość;}</a:t>
            </a:r>
          </a:p>
          <a:p>
            <a:endParaRPr lang="pl-PL" dirty="0"/>
          </a:p>
        </p:txBody>
      </p:sp>
    </p:spTree>
    <p:extLst>
      <p:ext uri="{BB962C8B-B14F-4D97-AF65-F5344CB8AC3E}">
        <p14:creationId xmlns:p14="http://schemas.microsoft.com/office/powerpoint/2010/main" val="2358649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braci - przykład</a:t>
            </a:r>
          </a:p>
        </p:txBody>
      </p:sp>
      <p:pic>
        <p:nvPicPr>
          <p:cNvPr id="5" name="Symbol zastępczy zawartości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18745"/>
            <a:ext cx="8229600" cy="4488872"/>
          </a:xfrm>
        </p:spPr>
      </p:pic>
    </p:spTree>
    <p:extLst>
      <p:ext uri="{BB962C8B-B14F-4D97-AF65-F5344CB8AC3E}">
        <p14:creationId xmlns:p14="http://schemas.microsoft.com/office/powerpoint/2010/main" val="885575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braci - przykład</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204" y="1781678"/>
            <a:ext cx="7811591" cy="4163006"/>
          </a:xfrm>
        </p:spPr>
      </p:pic>
    </p:spTree>
    <p:extLst>
      <p:ext uri="{BB962C8B-B14F-4D97-AF65-F5344CB8AC3E}">
        <p14:creationId xmlns:p14="http://schemas.microsoft.com/office/powerpoint/2010/main" val="2483907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Selektory atrybutów</a:t>
            </a:r>
          </a:p>
        </p:txBody>
      </p:sp>
      <p:sp>
        <p:nvSpPr>
          <p:cNvPr id="3" name="Symbol zastępczy zawartości 2"/>
          <p:cNvSpPr>
            <a:spLocks noGrp="1"/>
          </p:cNvSpPr>
          <p:nvPr>
            <p:ph idx="1"/>
          </p:nvPr>
        </p:nvSpPr>
        <p:spPr/>
        <p:txBody>
          <a:bodyPr>
            <a:normAutofit fontScale="92500" lnSpcReduction="20000"/>
          </a:bodyPr>
          <a:lstStyle/>
          <a:p>
            <a:r>
              <a:rPr lang="pl-PL" dirty="0"/>
              <a:t>W języku CSS można formatować znaczniki na podstawie atrybutów, które one mają.</a:t>
            </a:r>
          </a:p>
          <a:p>
            <a:r>
              <a:rPr lang="pl-PL" dirty="0"/>
              <a:t>Składnia:</a:t>
            </a:r>
            <a:br>
              <a:rPr lang="pl-PL" dirty="0"/>
            </a:br>
            <a:r>
              <a:rPr lang="pl-PL" dirty="0"/>
              <a:t>- Prosty selektor atrybutu:</a:t>
            </a:r>
            <a:br>
              <a:rPr lang="pl-PL" dirty="0"/>
            </a:br>
            <a:r>
              <a:rPr lang="pl-PL" dirty="0"/>
              <a:t>selektor[atrybut] {właściwość: wartość;}</a:t>
            </a:r>
            <a:br>
              <a:rPr lang="pl-PL" dirty="0"/>
            </a:br>
            <a:r>
              <a:rPr lang="pl-PL" dirty="0"/>
              <a:t>- Selektor atrybutu o określonej wartości</a:t>
            </a:r>
            <a:br>
              <a:rPr lang="pl-PL" dirty="0"/>
            </a:br>
            <a:r>
              <a:rPr lang="pl-PL" dirty="0"/>
              <a:t>selektor[atrybut=”wartość”] {właściwość: wartość;}</a:t>
            </a:r>
            <a:br>
              <a:rPr lang="pl-PL" dirty="0"/>
            </a:br>
            <a:r>
              <a:rPr lang="pl-PL" dirty="0"/>
              <a:t>- Selektor atrybutu zawierający określony wyraz</a:t>
            </a:r>
            <a:br>
              <a:rPr lang="pl-PL" dirty="0"/>
            </a:br>
            <a:r>
              <a:rPr lang="pl-PL" dirty="0"/>
              <a:t>selektor[atrybut~=”wyraz”] {właściwość: wartość;}</a:t>
            </a:r>
          </a:p>
        </p:txBody>
      </p:sp>
    </p:spTree>
    <p:extLst>
      <p:ext uri="{BB962C8B-B14F-4D97-AF65-F5344CB8AC3E}">
        <p14:creationId xmlns:p14="http://schemas.microsoft.com/office/powerpoint/2010/main" val="1942495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521"/>
            <a:ext cx="8820471" cy="6867521"/>
          </a:xfrm>
        </p:spPr>
      </p:pic>
    </p:spTree>
    <p:extLst>
      <p:ext uri="{BB962C8B-B14F-4D97-AF65-F5344CB8AC3E}">
        <p14:creationId xmlns:p14="http://schemas.microsoft.com/office/powerpoint/2010/main" val="21851265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Selektor atrybutów – efekt działania</a:t>
            </a:r>
          </a:p>
        </p:txBody>
      </p:sp>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544" y="1412776"/>
            <a:ext cx="8099320" cy="4536504"/>
          </a:xfrm>
        </p:spPr>
      </p:pic>
    </p:spTree>
    <p:extLst>
      <p:ext uri="{BB962C8B-B14F-4D97-AF65-F5344CB8AC3E}">
        <p14:creationId xmlns:p14="http://schemas.microsoft.com/office/powerpoint/2010/main" val="19639791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klasy</a:t>
            </a:r>
          </a:p>
        </p:txBody>
      </p:sp>
      <p:sp>
        <p:nvSpPr>
          <p:cNvPr id="3" name="Symbol zastępczy zawartości 2"/>
          <p:cNvSpPr>
            <a:spLocks noGrp="1"/>
          </p:cNvSpPr>
          <p:nvPr>
            <p:ph idx="1"/>
          </p:nvPr>
        </p:nvSpPr>
        <p:spPr/>
        <p:txBody>
          <a:bodyPr>
            <a:normAutofit fontScale="85000" lnSpcReduction="10000"/>
          </a:bodyPr>
          <a:lstStyle/>
          <a:p>
            <a:r>
              <a:rPr lang="pl-PL" dirty="0"/>
              <a:t>Selektory pozwalają na nadanie określonych atrybutów takim samym elementom występujących na stronie. Ale czasami chcemy zastosować pewien styl formatowania do określonej grupy elementów, a do drugiej inny. Możemy wtedy dla każdej grupy utworzyć klasę o dowolnej nazwie i zdefiniować styl dla selektora klasy.</a:t>
            </a:r>
          </a:p>
          <a:p>
            <a:r>
              <a:rPr lang="pl-PL" dirty="0"/>
              <a:t>Składnia selektora klasy:</a:t>
            </a:r>
            <a:br>
              <a:rPr lang="pl-PL" dirty="0"/>
            </a:br>
            <a:r>
              <a:rPr lang="pl-PL" dirty="0" err="1"/>
              <a:t>selektor.nazwa_klasy</a:t>
            </a:r>
            <a:r>
              <a:rPr lang="pl-PL" dirty="0"/>
              <a:t> { </a:t>
            </a:r>
            <a:r>
              <a:rPr lang="pl-PL" dirty="0" err="1"/>
              <a:t>właściowość</a:t>
            </a:r>
            <a:r>
              <a:rPr lang="pl-PL" dirty="0"/>
              <a:t>: wartość}</a:t>
            </a:r>
          </a:p>
          <a:p>
            <a:r>
              <a:rPr lang="pl-PL" dirty="0"/>
              <a:t>Składnia uniwersalnego selektora klasy:</a:t>
            </a:r>
            <a:br>
              <a:rPr lang="pl-PL" dirty="0"/>
            </a:br>
            <a:r>
              <a:rPr lang="pl-PL" dirty="0"/>
              <a:t>.</a:t>
            </a:r>
            <a:r>
              <a:rPr lang="pl-PL" dirty="0" err="1"/>
              <a:t>nazwa_klasy</a:t>
            </a:r>
            <a:r>
              <a:rPr lang="pl-PL" dirty="0"/>
              <a:t> { </a:t>
            </a:r>
            <a:r>
              <a:rPr lang="pl-PL" dirty="0" err="1"/>
              <a:t>właściowość</a:t>
            </a:r>
            <a:r>
              <a:rPr lang="pl-PL" dirty="0"/>
              <a:t>: wartość}</a:t>
            </a:r>
          </a:p>
          <a:p>
            <a:endParaRPr lang="pl-PL" dirty="0"/>
          </a:p>
        </p:txBody>
      </p:sp>
    </p:spTree>
    <p:extLst>
      <p:ext uri="{BB962C8B-B14F-4D97-AF65-F5344CB8AC3E}">
        <p14:creationId xmlns:p14="http://schemas.microsoft.com/office/powerpoint/2010/main" val="1930493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116632"/>
            <a:ext cx="8427946" cy="6545776"/>
          </a:xfrm>
        </p:spPr>
      </p:pic>
    </p:spTree>
    <p:extLst>
      <p:ext uri="{BB962C8B-B14F-4D97-AF65-F5344CB8AC3E}">
        <p14:creationId xmlns:p14="http://schemas.microsoft.com/office/powerpoint/2010/main" val="3775831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3568" y="404664"/>
            <a:ext cx="7704855" cy="5917204"/>
          </a:xfrm>
        </p:spPr>
      </p:pic>
    </p:spTree>
    <p:extLst>
      <p:ext uri="{BB962C8B-B14F-4D97-AF65-F5344CB8AC3E}">
        <p14:creationId xmlns:p14="http://schemas.microsoft.com/office/powerpoint/2010/main" val="3380044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klasy - zalety</a:t>
            </a:r>
          </a:p>
        </p:txBody>
      </p:sp>
      <p:sp>
        <p:nvSpPr>
          <p:cNvPr id="3" name="Symbol zastępczy zawartości 2"/>
          <p:cNvSpPr>
            <a:spLocks noGrp="1"/>
          </p:cNvSpPr>
          <p:nvPr>
            <p:ph idx="1"/>
          </p:nvPr>
        </p:nvSpPr>
        <p:spPr/>
        <p:txBody>
          <a:bodyPr/>
          <a:lstStyle/>
          <a:p>
            <a:r>
              <a:rPr lang="pl-PL" dirty="0"/>
              <a:t>Możliwość tworzenia klas jest bardzo przydatna ponieważ możemy utworzyć klasę dotyczącą większej ilości selektorów, nie musimy widzieć jakiego selektora będzie dotyczyła definiowana klasa</a:t>
            </a:r>
          </a:p>
          <a:p>
            <a:r>
              <a:rPr lang="pl-PL" dirty="0"/>
              <a:t>Łatwo można modyfikować wygląd strony</a:t>
            </a:r>
          </a:p>
          <a:p>
            <a:r>
              <a:rPr lang="pl-PL" dirty="0"/>
              <a:t>Dla pojedynczego selektora możemy definiować kilka klas</a:t>
            </a:r>
          </a:p>
        </p:txBody>
      </p:sp>
    </p:spTree>
    <p:extLst>
      <p:ext uri="{BB962C8B-B14F-4D97-AF65-F5344CB8AC3E}">
        <p14:creationId xmlns:p14="http://schemas.microsoft.com/office/powerpoint/2010/main" val="2651523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a:t>
            </a:r>
            <a:r>
              <a:rPr lang="pl-PL" dirty="0" err="1"/>
              <a:t>indentyfikatora</a:t>
            </a:r>
            <a:endParaRPr lang="pl-PL" dirty="0"/>
          </a:p>
        </p:txBody>
      </p:sp>
      <p:sp>
        <p:nvSpPr>
          <p:cNvPr id="3" name="Symbol zastępczy zawartości 2"/>
          <p:cNvSpPr>
            <a:spLocks noGrp="1"/>
          </p:cNvSpPr>
          <p:nvPr>
            <p:ph idx="1"/>
          </p:nvPr>
        </p:nvSpPr>
        <p:spPr/>
        <p:txBody>
          <a:bodyPr>
            <a:normAutofit fontScale="92500"/>
          </a:bodyPr>
          <a:lstStyle/>
          <a:p>
            <a:r>
              <a:rPr lang="pl-PL" dirty="0"/>
              <a:t>Selektor identyfikatora jest stosowany, gdy chcemy nadać określone atrybuty formatowania elementowi, który ma przypisany jednoznaczny identyfikator, czyli występuje raz. Deklaracja identyfikatora musi zaczynać się znakiem #.</a:t>
            </a:r>
          </a:p>
          <a:p>
            <a:r>
              <a:rPr lang="pl-PL" dirty="0"/>
              <a:t>Składnia:</a:t>
            </a:r>
            <a:br>
              <a:rPr lang="pl-PL" dirty="0"/>
            </a:br>
            <a:r>
              <a:rPr lang="pl-PL" dirty="0" err="1"/>
              <a:t>selektor#identyfikator</a:t>
            </a:r>
            <a:r>
              <a:rPr lang="pl-PL" dirty="0"/>
              <a:t>{właściwości: wartość;}</a:t>
            </a:r>
            <a:br>
              <a:rPr lang="pl-PL" dirty="0"/>
            </a:br>
            <a:r>
              <a:rPr lang="pl-PL" dirty="0"/>
              <a:t>lub</a:t>
            </a:r>
            <a:br>
              <a:rPr lang="pl-PL" dirty="0"/>
            </a:br>
            <a:r>
              <a:rPr lang="pl-PL" dirty="0"/>
              <a:t>#identyfikator{właściwości: wartość;}</a:t>
            </a:r>
          </a:p>
        </p:txBody>
      </p:sp>
    </p:spTree>
    <p:extLst>
      <p:ext uri="{BB962C8B-B14F-4D97-AF65-F5344CB8AC3E}">
        <p14:creationId xmlns:p14="http://schemas.microsoft.com/office/powerpoint/2010/main" val="8881438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12" y="332656"/>
            <a:ext cx="8855421" cy="5368930"/>
          </a:xfrm>
        </p:spPr>
      </p:pic>
    </p:spTree>
    <p:extLst>
      <p:ext uri="{BB962C8B-B14F-4D97-AF65-F5344CB8AC3E}">
        <p14:creationId xmlns:p14="http://schemas.microsoft.com/office/powerpoint/2010/main" val="1078401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ymbol zastępczy zawartości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544" y="476672"/>
            <a:ext cx="8231132" cy="60093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875879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a:t>
            </a:r>
            <a:r>
              <a:rPr lang="pl-PL" dirty="0" err="1"/>
              <a:t>pseudoklasy</a:t>
            </a:r>
            <a:endParaRPr lang="pl-PL" dirty="0"/>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W języku CSS można nadawać styl w związku z działaniem użytkownika. Przykładem takiego zastosowania może być odnośnik który zmienia swój wygląd po najechaniu na niego kursorem myszy, kliknięciu lub otwarciu linku. Element otrzymuje lub traci </a:t>
            </a:r>
            <a:r>
              <a:rPr lang="pl-PL" dirty="0" err="1"/>
              <a:t>pseudoklasę</a:t>
            </a:r>
            <a:r>
              <a:rPr lang="pl-PL" dirty="0"/>
              <a:t> podczas interakcji z użytkownikiem.</a:t>
            </a:r>
          </a:p>
          <a:p>
            <a:pPr marL="0" indent="0">
              <a:buNone/>
            </a:pPr>
            <a:r>
              <a:rPr lang="pl-PL" dirty="0"/>
              <a:t>Właściwości odsyłaczy:</a:t>
            </a:r>
          </a:p>
          <a:p>
            <a:pPr marL="0" indent="0">
              <a:buNone/>
            </a:pPr>
            <a:r>
              <a:rPr lang="pl-PL" b="1" dirty="0"/>
              <a:t>:link	 </a:t>
            </a:r>
            <a:r>
              <a:rPr lang="pl-PL" dirty="0"/>
              <a:t>– link nieaktywny nie został odwiedzony przez 	 	     użytkownika</a:t>
            </a:r>
          </a:p>
          <a:p>
            <a:pPr marL="0" indent="0">
              <a:buNone/>
            </a:pPr>
            <a:r>
              <a:rPr lang="pl-PL" b="1" dirty="0"/>
              <a:t>:</a:t>
            </a:r>
            <a:r>
              <a:rPr lang="pl-PL" b="1" dirty="0" err="1"/>
              <a:t>visited</a:t>
            </a:r>
            <a:r>
              <a:rPr lang="pl-PL" b="1" dirty="0"/>
              <a:t> </a:t>
            </a:r>
            <a:r>
              <a:rPr lang="pl-PL" dirty="0"/>
              <a:t>– link odwiedzony przez użytkownika</a:t>
            </a:r>
          </a:p>
          <a:p>
            <a:pPr marL="0" indent="0">
              <a:buNone/>
            </a:pPr>
            <a:r>
              <a:rPr lang="pl-PL" b="1" dirty="0"/>
              <a:t>:</a:t>
            </a:r>
            <a:r>
              <a:rPr lang="pl-PL" b="1" dirty="0" err="1"/>
              <a:t>hover</a:t>
            </a:r>
            <a:r>
              <a:rPr lang="pl-PL" b="1" dirty="0"/>
              <a:t>  </a:t>
            </a:r>
            <a:r>
              <a:rPr lang="pl-PL" dirty="0"/>
              <a:t>–  link gotowy do kliknięcia, kursor ustawiony nad 	     linkiem (może być używany nie tylko dla odsyłaczy)</a:t>
            </a:r>
          </a:p>
          <a:p>
            <a:pPr marL="0" indent="0">
              <a:buNone/>
            </a:pPr>
            <a:r>
              <a:rPr lang="pl-PL" b="1" dirty="0"/>
              <a:t>:</a:t>
            </a:r>
            <a:r>
              <a:rPr lang="pl-PL" b="1" dirty="0" err="1"/>
              <a:t>active</a:t>
            </a:r>
            <a:r>
              <a:rPr lang="pl-PL" b="1" dirty="0"/>
              <a:t>  </a:t>
            </a:r>
            <a:r>
              <a:rPr lang="pl-PL" dirty="0"/>
              <a:t>– link odwiedzony, strona jest obecnie wczytana </a:t>
            </a:r>
          </a:p>
        </p:txBody>
      </p:sp>
    </p:spTree>
    <p:extLst>
      <p:ext uri="{BB962C8B-B14F-4D97-AF65-F5344CB8AC3E}">
        <p14:creationId xmlns:p14="http://schemas.microsoft.com/office/powerpoint/2010/main" val="288343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Selektor </a:t>
            </a:r>
            <a:r>
              <a:rPr lang="pl-PL" dirty="0" err="1"/>
              <a:t>pseudoklasy</a:t>
            </a:r>
            <a:endParaRPr lang="pl-PL" dirty="0"/>
          </a:p>
        </p:txBody>
      </p:sp>
      <p:sp>
        <p:nvSpPr>
          <p:cNvPr id="3" name="Symbol zastępczy zawartości 2"/>
          <p:cNvSpPr>
            <a:spLocks noGrp="1"/>
          </p:cNvSpPr>
          <p:nvPr>
            <p:ph idx="1"/>
          </p:nvPr>
        </p:nvSpPr>
        <p:spPr/>
        <p:txBody>
          <a:bodyPr/>
          <a:lstStyle/>
          <a:p>
            <a:pPr marL="0" indent="0">
              <a:buNone/>
            </a:pPr>
            <a:r>
              <a:rPr lang="pl-PL" dirty="0"/>
              <a:t>Składnia:</a:t>
            </a:r>
          </a:p>
          <a:p>
            <a:pPr marL="0" indent="0">
              <a:buNone/>
            </a:pPr>
            <a:r>
              <a:rPr lang="pl-PL" dirty="0"/>
              <a:t>a:link{właściowość: wartość}</a:t>
            </a:r>
          </a:p>
          <a:p>
            <a:pPr marL="0" indent="0">
              <a:buNone/>
            </a:pPr>
            <a:r>
              <a:rPr lang="pl-PL" dirty="0"/>
              <a:t>lub</a:t>
            </a:r>
          </a:p>
          <a:p>
            <a:pPr marL="0" indent="0">
              <a:buNone/>
            </a:pPr>
            <a:r>
              <a:rPr lang="pl-PL" dirty="0" err="1"/>
              <a:t>a.nazwa_klasy:link</a:t>
            </a:r>
            <a:r>
              <a:rPr lang="pl-PL" dirty="0"/>
              <a:t>{</a:t>
            </a:r>
            <a:r>
              <a:rPr lang="pl-PL" dirty="0" err="1"/>
              <a:t>właściowość</a:t>
            </a:r>
            <a:r>
              <a:rPr lang="pl-PL" dirty="0"/>
              <a:t>: wartość}</a:t>
            </a:r>
          </a:p>
          <a:p>
            <a:pPr marL="0" indent="0">
              <a:buNone/>
            </a:pPr>
            <a:endParaRPr lang="pl-PL" dirty="0"/>
          </a:p>
        </p:txBody>
      </p:sp>
    </p:spTree>
    <p:extLst>
      <p:ext uri="{BB962C8B-B14F-4D97-AF65-F5344CB8AC3E}">
        <p14:creationId xmlns:p14="http://schemas.microsoft.com/office/powerpoint/2010/main" val="3618950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Selektor </a:t>
            </a:r>
            <a:r>
              <a:rPr lang="pl-PL" dirty="0" err="1"/>
              <a:t>pseudoklasy</a:t>
            </a:r>
            <a:r>
              <a:rPr lang="pl-PL" dirty="0"/>
              <a:t> </a:t>
            </a:r>
            <a:r>
              <a:rPr lang="pl-PL" dirty="0">
                <a:hlinkClick r:id="rId2" action="ppaction://hlinkfile"/>
              </a:rPr>
              <a:t>13.html</a:t>
            </a:r>
            <a:br>
              <a:rPr lang="pl-PL" dirty="0"/>
            </a:br>
            <a:endParaRPr lang="pl-PL"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397766"/>
            <a:ext cx="8879186" cy="4732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4633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Inne selektory </a:t>
            </a:r>
            <a:r>
              <a:rPr lang="pl-PL" dirty="0" err="1"/>
              <a:t>pseudoklasy</a:t>
            </a:r>
            <a:endParaRPr lang="pl-PL" dirty="0"/>
          </a:p>
        </p:txBody>
      </p:sp>
      <p:sp>
        <p:nvSpPr>
          <p:cNvPr id="3" name="Symbol zastępczy zawartości 2"/>
          <p:cNvSpPr>
            <a:spLocks noGrp="1"/>
          </p:cNvSpPr>
          <p:nvPr>
            <p:ph idx="1"/>
          </p:nvPr>
        </p:nvSpPr>
        <p:spPr/>
        <p:txBody>
          <a:bodyPr/>
          <a:lstStyle/>
          <a:p>
            <a:pPr marL="0" indent="0">
              <a:buNone/>
            </a:pPr>
            <a:r>
              <a:rPr lang="pl-PL" dirty="0"/>
              <a:t>:</a:t>
            </a:r>
            <a:r>
              <a:rPr lang="pl-PL" dirty="0" err="1"/>
              <a:t>first-line</a:t>
            </a:r>
            <a:r>
              <a:rPr lang="pl-PL" dirty="0"/>
              <a:t> – nadaje określone formatowanie wszystkim pierwszym liniom</a:t>
            </a:r>
          </a:p>
          <a:p>
            <a:pPr marL="0" indent="0">
              <a:buNone/>
            </a:pPr>
            <a:r>
              <a:rPr lang="pl-PL" dirty="0"/>
              <a:t>:</a:t>
            </a:r>
            <a:r>
              <a:rPr lang="pl-PL" dirty="0" err="1"/>
              <a:t>first-letter</a:t>
            </a:r>
            <a:r>
              <a:rPr lang="pl-PL"/>
              <a:t> – </a:t>
            </a:r>
            <a:r>
              <a:rPr lang="pl-PL" dirty="0"/>
              <a:t>nadaje określone formatowanie wszystkim </a:t>
            </a:r>
            <a:r>
              <a:rPr lang="pl-PL"/>
              <a:t>pierwszym literom</a:t>
            </a:r>
            <a:endParaRPr lang="pl-PL" dirty="0"/>
          </a:p>
          <a:p>
            <a:pPr marL="0" indent="0">
              <a:buNone/>
            </a:pPr>
            <a:endParaRPr lang="pl-PL" dirty="0"/>
          </a:p>
        </p:txBody>
      </p:sp>
    </p:spTree>
    <p:extLst>
      <p:ext uri="{BB962C8B-B14F-4D97-AF65-F5344CB8AC3E}">
        <p14:creationId xmlns:p14="http://schemas.microsoft.com/office/powerpoint/2010/main" val="30730433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Przykłady – selektory </a:t>
            </a:r>
            <a:r>
              <a:rPr lang="pl-PL" dirty="0" err="1"/>
              <a:t>pseudoklasy</a:t>
            </a:r>
            <a:r>
              <a:rPr lang="pl-PL" dirty="0"/>
              <a:t> </a:t>
            </a:r>
            <a:r>
              <a:rPr lang="pl-PL" dirty="0">
                <a:hlinkClick r:id="rId2" action="ppaction://hlinkfile"/>
              </a:rPr>
              <a:t>przykład</a:t>
            </a:r>
            <a:endParaRPr lang="pl-PL" dirty="0"/>
          </a:p>
        </p:txBody>
      </p:sp>
      <p:sp>
        <p:nvSpPr>
          <p:cNvPr id="3" name="Symbol zastępczy zawartości 2"/>
          <p:cNvSpPr>
            <a:spLocks noGrp="1"/>
          </p:cNvSpPr>
          <p:nvPr>
            <p:ph idx="1"/>
          </p:nvPr>
        </p:nvSpPr>
        <p:spPr/>
        <p:txBody>
          <a:bodyPr>
            <a:normAutofit fontScale="40000" lnSpcReduction="20000"/>
          </a:bodyPr>
          <a:lstStyle/>
          <a:p>
            <a:pPr marL="0" indent="0">
              <a:buNone/>
            </a:pPr>
            <a:r>
              <a:rPr lang="pl-PL" dirty="0"/>
              <a:t>&lt;!DOCTYPE </a:t>
            </a:r>
            <a:r>
              <a:rPr lang="pl-PL" dirty="0" err="1"/>
              <a:t>html</a:t>
            </a:r>
            <a:r>
              <a:rPr lang="pl-PL" dirty="0"/>
              <a:t>&gt; &lt;!--14.html--&gt;</a:t>
            </a:r>
          </a:p>
          <a:p>
            <a:pPr marL="0" indent="0">
              <a:buNone/>
            </a:pPr>
            <a:r>
              <a:rPr lang="pl-PL" dirty="0"/>
              <a:t>&lt;</a:t>
            </a:r>
            <a:r>
              <a:rPr lang="pl-PL" dirty="0" err="1"/>
              <a:t>html</a:t>
            </a:r>
            <a:r>
              <a:rPr lang="pl-PL" dirty="0"/>
              <a:t> </a:t>
            </a:r>
            <a:r>
              <a:rPr lang="pl-PL" dirty="0" err="1"/>
              <a:t>lang</a:t>
            </a:r>
            <a:r>
              <a:rPr lang="pl-PL" dirty="0"/>
              <a:t>="</a:t>
            </a:r>
            <a:r>
              <a:rPr lang="pl-PL" dirty="0" err="1"/>
              <a:t>pl</a:t>
            </a:r>
            <a:r>
              <a:rPr lang="pl-PL" dirty="0"/>
              <a:t>-PL"&gt;</a:t>
            </a:r>
          </a:p>
          <a:p>
            <a:pPr marL="0" indent="0">
              <a:buNone/>
            </a:pPr>
            <a:r>
              <a:rPr lang="pl-PL" dirty="0"/>
              <a:t>&lt;</a:t>
            </a:r>
            <a:r>
              <a:rPr lang="pl-PL" dirty="0" err="1"/>
              <a:t>head</a:t>
            </a:r>
            <a:r>
              <a:rPr lang="pl-PL" dirty="0"/>
              <a:t>&gt;</a:t>
            </a:r>
          </a:p>
          <a:p>
            <a:pPr marL="0" indent="0">
              <a:buNone/>
            </a:pPr>
            <a:r>
              <a:rPr lang="pl-PL" dirty="0"/>
              <a:t>&lt;meta </a:t>
            </a:r>
            <a:r>
              <a:rPr lang="pl-PL" dirty="0" err="1"/>
              <a:t>charset</a:t>
            </a:r>
            <a:r>
              <a:rPr lang="pl-PL" dirty="0"/>
              <a:t>="UTF-8"/&gt;</a:t>
            </a:r>
          </a:p>
          <a:p>
            <a:pPr marL="0" indent="0">
              <a:buNone/>
            </a:pPr>
            <a:r>
              <a:rPr lang="pl-PL" dirty="0"/>
              <a:t>&lt;style&gt;</a:t>
            </a:r>
          </a:p>
          <a:p>
            <a:pPr marL="0" indent="0">
              <a:buNone/>
            </a:pPr>
            <a:r>
              <a:rPr lang="pl-PL" dirty="0" err="1"/>
              <a:t>div#zdjecie</a:t>
            </a:r>
            <a:r>
              <a:rPr lang="pl-PL" dirty="0"/>
              <a:t>{</a:t>
            </a:r>
          </a:p>
          <a:p>
            <a:pPr marL="0" indent="0">
              <a:buNone/>
            </a:pPr>
            <a:r>
              <a:rPr lang="pl-PL" dirty="0"/>
              <a:t>        </a:t>
            </a:r>
            <a:r>
              <a:rPr lang="pl-PL" dirty="0" err="1"/>
              <a:t>background</a:t>
            </a:r>
            <a:r>
              <a:rPr lang="pl-PL" dirty="0"/>
              <a:t>: </a:t>
            </a:r>
            <a:r>
              <a:rPr lang="pl-PL" dirty="0" err="1"/>
              <a:t>url</a:t>
            </a:r>
            <a:r>
              <a:rPr lang="pl-PL" dirty="0"/>
              <a:t>("kot.jpg") no-</a:t>
            </a:r>
            <a:r>
              <a:rPr lang="pl-PL" dirty="0" err="1"/>
              <a:t>repeat</a:t>
            </a:r>
            <a:r>
              <a:rPr lang="pl-PL" dirty="0"/>
              <a:t>;</a:t>
            </a:r>
          </a:p>
          <a:p>
            <a:pPr marL="0" indent="0">
              <a:buNone/>
            </a:pPr>
            <a:r>
              <a:rPr lang="pl-PL" dirty="0"/>
              <a:t>        display: </a:t>
            </a:r>
            <a:r>
              <a:rPr lang="pl-PL" dirty="0" err="1"/>
              <a:t>inline-block</a:t>
            </a:r>
            <a:r>
              <a:rPr lang="pl-PL" dirty="0"/>
              <a:t>;</a:t>
            </a:r>
          </a:p>
          <a:p>
            <a:pPr marL="0" indent="0">
              <a:buNone/>
            </a:pPr>
            <a:r>
              <a:rPr lang="pl-PL" dirty="0"/>
              <a:t>        </a:t>
            </a:r>
            <a:r>
              <a:rPr lang="pl-PL" dirty="0" err="1"/>
              <a:t>width</a:t>
            </a:r>
            <a:r>
              <a:rPr lang="pl-PL" dirty="0"/>
              <a:t>: 600px;</a:t>
            </a:r>
          </a:p>
          <a:p>
            <a:pPr marL="0" indent="0">
              <a:buNone/>
            </a:pPr>
            <a:r>
              <a:rPr lang="pl-PL" dirty="0"/>
              <a:t>		</a:t>
            </a:r>
            <a:r>
              <a:rPr lang="pl-PL" dirty="0" err="1"/>
              <a:t>height</a:t>
            </a:r>
            <a:r>
              <a:rPr lang="pl-PL" dirty="0"/>
              <a:t>: 600px;</a:t>
            </a:r>
          </a:p>
          <a:p>
            <a:pPr marL="0" indent="0">
              <a:buNone/>
            </a:pPr>
            <a:r>
              <a:rPr lang="pl-PL" dirty="0"/>
              <a:t>}</a:t>
            </a:r>
          </a:p>
          <a:p>
            <a:pPr marL="0" indent="0">
              <a:buNone/>
            </a:pPr>
            <a:r>
              <a:rPr lang="pl-PL" dirty="0" err="1"/>
              <a:t>div#zdjecie:hover</a:t>
            </a:r>
            <a:r>
              <a:rPr lang="pl-PL" dirty="0"/>
              <a:t> {</a:t>
            </a:r>
          </a:p>
          <a:p>
            <a:pPr marL="0" indent="0">
              <a:buNone/>
            </a:pPr>
            <a:r>
              <a:rPr lang="pl-PL" dirty="0"/>
              <a:t>        </a:t>
            </a:r>
            <a:r>
              <a:rPr lang="pl-PL" dirty="0" err="1"/>
              <a:t>background</a:t>
            </a:r>
            <a:r>
              <a:rPr lang="pl-PL" dirty="0"/>
              <a:t>: </a:t>
            </a:r>
            <a:r>
              <a:rPr lang="pl-PL" dirty="0" err="1"/>
              <a:t>url</a:t>
            </a:r>
            <a:r>
              <a:rPr lang="pl-PL" dirty="0"/>
              <a:t>("pies.jpg") no-</a:t>
            </a:r>
            <a:r>
              <a:rPr lang="pl-PL" dirty="0" err="1"/>
              <a:t>repeat</a:t>
            </a:r>
            <a:r>
              <a:rPr lang="pl-PL" dirty="0"/>
              <a:t>;</a:t>
            </a:r>
          </a:p>
          <a:p>
            <a:pPr marL="0" indent="0">
              <a:buNone/>
            </a:pPr>
            <a:r>
              <a:rPr lang="pl-PL" dirty="0"/>
              <a:t>		</a:t>
            </a:r>
            <a:r>
              <a:rPr lang="pl-PL" dirty="0" err="1"/>
              <a:t>width</a:t>
            </a:r>
            <a:r>
              <a:rPr lang="pl-PL" dirty="0"/>
              <a:t>: 600px;</a:t>
            </a:r>
          </a:p>
          <a:p>
            <a:pPr marL="0" indent="0">
              <a:buNone/>
            </a:pPr>
            <a:r>
              <a:rPr lang="pl-PL" dirty="0"/>
              <a:t>		</a:t>
            </a:r>
            <a:r>
              <a:rPr lang="pl-PL" dirty="0" err="1"/>
              <a:t>height</a:t>
            </a:r>
            <a:r>
              <a:rPr lang="pl-PL" dirty="0"/>
              <a:t>: 600px;</a:t>
            </a:r>
          </a:p>
          <a:p>
            <a:pPr marL="0" indent="0">
              <a:buNone/>
            </a:pPr>
            <a:r>
              <a:rPr lang="pl-PL" dirty="0"/>
              <a:t>		</a:t>
            </a:r>
          </a:p>
          <a:p>
            <a:pPr marL="0" indent="0">
              <a:buNone/>
            </a:pPr>
            <a:r>
              <a:rPr lang="pl-PL" dirty="0"/>
              <a:t>		/*rozjaśnianie*/</a:t>
            </a:r>
          </a:p>
          <a:p>
            <a:pPr marL="0" indent="0">
              <a:buNone/>
            </a:pPr>
            <a:r>
              <a:rPr lang="pl-PL" dirty="0"/>
              <a:t>		</a:t>
            </a:r>
            <a:r>
              <a:rPr lang="pl-PL" dirty="0" err="1"/>
              <a:t>opacity</a:t>
            </a:r>
            <a:r>
              <a:rPr lang="pl-PL" dirty="0"/>
              <a:t> : 0.70;</a:t>
            </a:r>
          </a:p>
          <a:p>
            <a:pPr marL="0" indent="0">
              <a:buNone/>
            </a:pPr>
            <a:r>
              <a:rPr lang="pl-PL" dirty="0"/>
              <a:t>		</a:t>
            </a:r>
            <a:r>
              <a:rPr lang="pl-PL" dirty="0" err="1"/>
              <a:t>filter</a:t>
            </a:r>
            <a:r>
              <a:rPr lang="pl-PL" dirty="0"/>
              <a:t> : </a:t>
            </a:r>
            <a:r>
              <a:rPr lang="pl-PL" dirty="0" err="1"/>
              <a:t>alpha</a:t>
            </a:r>
            <a:r>
              <a:rPr lang="pl-PL" dirty="0"/>
              <a:t>(</a:t>
            </a:r>
            <a:r>
              <a:rPr lang="pl-PL" dirty="0" err="1"/>
              <a:t>opacity</a:t>
            </a:r>
            <a:r>
              <a:rPr lang="pl-PL" dirty="0"/>
              <a:t>=70);</a:t>
            </a:r>
          </a:p>
          <a:p>
            <a:pPr marL="0" indent="0">
              <a:buNone/>
            </a:pPr>
            <a:r>
              <a:rPr lang="pl-PL" dirty="0"/>
              <a:t>		}</a:t>
            </a:r>
          </a:p>
        </p:txBody>
      </p:sp>
    </p:spTree>
    <p:extLst>
      <p:ext uri="{BB962C8B-B14F-4D97-AF65-F5344CB8AC3E}">
        <p14:creationId xmlns:p14="http://schemas.microsoft.com/office/powerpoint/2010/main" val="5384972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Przykłady – selektory </a:t>
            </a:r>
            <a:r>
              <a:rPr lang="pl-PL" dirty="0" err="1"/>
              <a:t>pseudoklasy</a:t>
            </a:r>
            <a:endParaRPr lang="pl-PL" dirty="0"/>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err="1"/>
              <a:t>a#prz</a:t>
            </a:r>
            <a:r>
              <a:rPr lang="pl-PL" dirty="0"/>
              <a:t>{</a:t>
            </a:r>
          </a:p>
          <a:p>
            <a:pPr marL="0" indent="0">
              <a:buNone/>
            </a:pPr>
            <a:r>
              <a:rPr lang="pl-PL" dirty="0"/>
              <a:t>        </a:t>
            </a:r>
            <a:r>
              <a:rPr lang="pl-PL" dirty="0" err="1"/>
              <a:t>background</a:t>
            </a:r>
            <a:r>
              <a:rPr lang="pl-PL" dirty="0"/>
              <a:t>: </a:t>
            </a:r>
            <a:r>
              <a:rPr lang="pl-PL" dirty="0" err="1"/>
              <a:t>url</a:t>
            </a:r>
            <a:r>
              <a:rPr lang="pl-PL" dirty="0"/>
              <a:t>("p1.png") no-</a:t>
            </a:r>
            <a:r>
              <a:rPr lang="pl-PL" dirty="0" err="1"/>
              <a:t>repeat</a:t>
            </a:r>
            <a:r>
              <a:rPr lang="pl-PL" dirty="0"/>
              <a:t>;</a:t>
            </a:r>
          </a:p>
          <a:p>
            <a:pPr marL="0" indent="0">
              <a:buNone/>
            </a:pPr>
            <a:r>
              <a:rPr lang="pl-PL" dirty="0"/>
              <a:t>        display: </a:t>
            </a:r>
            <a:r>
              <a:rPr lang="pl-PL" dirty="0" err="1"/>
              <a:t>inline-block</a:t>
            </a:r>
            <a:r>
              <a:rPr lang="pl-PL" dirty="0"/>
              <a:t>;</a:t>
            </a:r>
          </a:p>
          <a:p>
            <a:pPr marL="0" indent="0">
              <a:buNone/>
            </a:pPr>
            <a:r>
              <a:rPr lang="pl-PL" dirty="0"/>
              <a:t>        </a:t>
            </a:r>
            <a:r>
              <a:rPr lang="pl-PL" dirty="0" err="1"/>
              <a:t>width</a:t>
            </a:r>
            <a:r>
              <a:rPr lang="pl-PL" dirty="0"/>
              <a:t>: 200px;</a:t>
            </a:r>
          </a:p>
          <a:p>
            <a:pPr marL="0" indent="0">
              <a:buNone/>
            </a:pPr>
            <a:r>
              <a:rPr lang="pl-PL" dirty="0"/>
              <a:t>		</a:t>
            </a:r>
            <a:r>
              <a:rPr lang="pl-PL" dirty="0" err="1"/>
              <a:t>height</a:t>
            </a:r>
            <a:r>
              <a:rPr lang="pl-PL" dirty="0"/>
              <a:t>: 200px;</a:t>
            </a:r>
          </a:p>
          <a:p>
            <a:pPr marL="0" indent="0">
              <a:buNone/>
            </a:pPr>
            <a:r>
              <a:rPr lang="pl-PL" dirty="0"/>
              <a:t>}</a:t>
            </a:r>
          </a:p>
          <a:p>
            <a:pPr marL="0" indent="0">
              <a:buNone/>
            </a:pPr>
            <a:r>
              <a:rPr lang="pl-PL" dirty="0" err="1"/>
              <a:t>a#prz:hover</a:t>
            </a:r>
            <a:r>
              <a:rPr lang="pl-PL" dirty="0"/>
              <a:t> {</a:t>
            </a:r>
          </a:p>
          <a:p>
            <a:pPr marL="0" indent="0">
              <a:buNone/>
            </a:pPr>
            <a:r>
              <a:rPr lang="pl-PL" dirty="0"/>
              <a:t>        </a:t>
            </a:r>
            <a:r>
              <a:rPr lang="pl-PL" dirty="0" err="1"/>
              <a:t>background</a:t>
            </a:r>
            <a:r>
              <a:rPr lang="pl-PL" dirty="0"/>
              <a:t>: </a:t>
            </a:r>
            <a:r>
              <a:rPr lang="pl-PL" dirty="0" err="1"/>
              <a:t>url</a:t>
            </a:r>
            <a:r>
              <a:rPr lang="pl-PL" dirty="0"/>
              <a:t>("p2.png") no-</a:t>
            </a:r>
            <a:r>
              <a:rPr lang="pl-PL" dirty="0" err="1"/>
              <a:t>repeat</a:t>
            </a:r>
            <a:r>
              <a:rPr lang="pl-PL" dirty="0"/>
              <a:t>;</a:t>
            </a:r>
          </a:p>
          <a:p>
            <a:pPr marL="0" indent="0">
              <a:buNone/>
            </a:pPr>
            <a:r>
              <a:rPr lang="pl-PL" dirty="0"/>
              <a:t>		</a:t>
            </a:r>
            <a:r>
              <a:rPr lang="pl-PL" dirty="0" err="1"/>
              <a:t>width</a:t>
            </a:r>
            <a:r>
              <a:rPr lang="pl-PL" dirty="0"/>
              <a:t>: 200px;</a:t>
            </a:r>
          </a:p>
          <a:p>
            <a:pPr marL="0" indent="0">
              <a:buNone/>
            </a:pPr>
            <a:r>
              <a:rPr lang="pl-PL" dirty="0"/>
              <a:t>		</a:t>
            </a:r>
            <a:r>
              <a:rPr lang="pl-PL" dirty="0" err="1"/>
              <a:t>height</a:t>
            </a:r>
            <a:r>
              <a:rPr lang="pl-PL" dirty="0"/>
              <a:t>: 200px;</a:t>
            </a:r>
          </a:p>
          <a:p>
            <a:pPr marL="0" indent="0">
              <a:buNone/>
            </a:pPr>
            <a:r>
              <a:rPr lang="pl-PL" dirty="0"/>
              <a:t>		}</a:t>
            </a:r>
          </a:p>
          <a:p>
            <a:pPr marL="0" indent="0">
              <a:buNone/>
            </a:pPr>
            <a:endParaRPr lang="pl-PL" dirty="0"/>
          </a:p>
          <a:p>
            <a:pPr marL="0" indent="0">
              <a:buNone/>
            </a:pPr>
            <a:endParaRPr lang="pl-PL" dirty="0"/>
          </a:p>
        </p:txBody>
      </p:sp>
    </p:spTree>
    <p:extLst>
      <p:ext uri="{BB962C8B-B14F-4D97-AF65-F5344CB8AC3E}">
        <p14:creationId xmlns:p14="http://schemas.microsoft.com/office/powerpoint/2010/main" val="6806426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Przykłady – selektory </a:t>
            </a:r>
            <a:r>
              <a:rPr lang="pl-PL" dirty="0" err="1"/>
              <a:t>pseudoklasy</a:t>
            </a:r>
            <a:endParaRPr lang="pl-PL" dirty="0"/>
          </a:p>
        </p:txBody>
      </p:sp>
      <p:sp>
        <p:nvSpPr>
          <p:cNvPr id="3" name="Symbol zastępczy zawartości 2"/>
          <p:cNvSpPr>
            <a:spLocks noGrp="1"/>
          </p:cNvSpPr>
          <p:nvPr>
            <p:ph idx="1"/>
          </p:nvPr>
        </p:nvSpPr>
        <p:spPr/>
        <p:txBody>
          <a:bodyPr>
            <a:normAutofit fontScale="47500" lnSpcReduction="20000"/>
          </a:bodyPr>
          <a:lstStyle/>
          <a:p>
            <a:pPr marL="0" indent="0">
              <a:buNone/>
            </a:pPr>
            <a:r>
              <a:rPr lang="pl-PL" dirty="0" err="1"/>
              <a:t>div#zdj</a:t>
            </a:r>
            <a:r>
              <a:rPr lang="pl-PL" dirty="0"/>
              <a:t>{</a:t>
            </a:r>
          </a:p>
          <a:p>
            <a:pPr marL="0" indent="0">
              <a:buNone/>
            </a:pPr>
            <a:r>
              <a:rPr lang="pl-PL" dirty="0"/>
              <a:t>        </a:t>
            </a:r>
            <a:r>
              <a:rPr lang="pl-PL" dirty="0" err="1"/>
              <a:t>background</a:t>
            </a:r>
            <a:r>
              <a:rPr lang="pl-PL" dirty="0"/>
              <a:t>: </a:t>
            </a:r>
            <a:r>
              <a:rPr lang="pl-PL" dirty="0" err="1"/>
              <a:t>url</a:t>
            </a:r>
            <a:r>
              <a:rPr lang="pl-PL" dirty="0"/>
              <a:t>("pies.jpg") no-</a:t>
            </a:r>
            <a:r>
              <a:rPr lang="pl-PL" dirty="0" err="1"/>
              <a:t>repeat</a:t>
            </a:r>
            <a:r>
              <a:rPr lang="pl-PL" dirty="0"/>
              <a:t>;</a:t>
            </a:r>
          </a:p>
          <a:p>
            <a:pPr marL="0" indent="0">
              <a:buNone/>
            </a:pPr>
            <a:r>
              <a:rPr lang="pl-PL" dirty="0"/>
              <a:t>        display: </a:t>
            </a:r>
            <a:r>
              <a:rPr lang="pl-PL" dirty="0" err="1"/>
              <a:t>inline-block</a:t>
            </a:r>
            <a:r>
              <a:rPr lang="pl-PL" dirty="0"/>
              <a:t>;</a:t>
            </a:r>
          </a:p>
          <a:p>
            <a:pPr marL="0" indent="0">
              <a:buNone/>
            </a:pPr>
            <a:r>
              <a:rPr lang="pl-PL" dirty="0"/>
              <a:t>        </a:t>
            </a:r>
            <a:r>
              <a:rPr lang="pl-PL" dirty="0" err="1"/>
              <a:t>width</a:t>
            </a:r>
            <a:r>
              <a:rPr lang="pl-PL" dirty="0"/>
              <a:t>: 600px;</a:t>
            </a:r>
          </a:p>
          <a:p>
            <a:pPr marL="0" indent="0">
              <a:buNone/>
            </a:pPr>
            <a:r>
              <a:rPr lang="pl-PL" dirty="0"/>
              <a:t>		</a:t>
            </a:r>
            <a:r>
              <a:rPr lang="pl-PL" dirty="0" err="1"/>
              <a:t>height</a:t>
            </a:r>
            <a:r>
              <a:rPr lang="pl-PL" dirty="0"/>
              <a:t>: 600px;</a:t>
            </a:r>
          </a:p>
          <a:p>
            <a:pPr marL="0" indent="0">
              <a:buNone/>
            </a:pPr>
            <a:r>
              <a:rPr lang="pl-PL" dirty="0"/>
              <a:t>}	</a:t>
            </a:r>
          </a:p>
          <a:p>
            <a:pPr marL="0" indent="0">
              <a:buNone/>
            </a:pPr>
            <a:r>
              <a:rPr lang="pl-PL" dirty="0" err="1"/>
              <a:t>div#zdj:hover</a:t>
            </a:r>
            <a:r>
              <a:rPr lang="pl-PL" dirty="0"/>
              <a:t> {</a:t>
            </a:r>
          </a:p>
          <a:p>
            <a:pPr marL="0" indent="0">
              <a:buNone/>
            </a:pPr>
            <a:r>
              <a:rPr lang="pl-PL" dirty="0"/>
              <a:t>        </a:t>
            </a:r>
            <a:r>
              <a:rPr lang="pl-PL" dirty="0" err="1"/>
              <a:t>background</a:t>
            </a:r>
            <a:r>
              <a:rPr lang="pl-PL" dirty="0"/>
              <a:t>: </a:t>
            </a:r>
            <a:r>
              <a:rPr lang="pl-PL" dirty="0" err="1"/>
              <a:t>url</a:t>
            </a:r>
            <a:r>
              <a:rPr lang="pl-PL" dirty="0"/>
              <a:t>("pies.jpg") no-</a:t>
            </a:r>
            <a:r>
              <a:rPr lang="pl-PL" dirty="0" err="1"/>
              <a:t>repeat</a:t>
            </a:r>
            <a:r>
              <a:rPr lang="pl-PL" dirty="0"/>
              <a:t>;</a:t>
            </a:r>
          </a:p>
          <a:p>
            <a:pPr marL="0" indent="0">
              <a:buNone/>
            </a:pPr>
            <a:r>
              <a:rPr lang="pl-PL" dirty="0"/>
              <a:t>		</a:t>
            </a:r>
            <a:r>
              <a:rPr lang="pl-PL" dirty="0" err="1"/>
              <a:t>width</a:t>
            </a:r>
            <a:r>
              <a:rPr lang="pl-PL" dirty="0"/>
              <a:t>: 600px;</a:t>
            </a:r>
          </a:p>
          <a:p>
            <a:pPr marL="0" indent="0">
              <a:buNone/>
            </a:pPr>
            <a:r>
              <a:rPr lang="pl-PL" dirty="0"/>
              <a:t>		</a:t>
            </a:r>
            <a:r>
              <a:rPr lang="pl-PL" dirty="0" err="1"/>
              <a:t>height</a:t>
            </a:r>
            <a:r>
              <a:rPr lang="pl-PL" dirty="0"/>
              <a:t>: 600px;</a:t>
            </a:r>
          </a:p>
          <a:p>
            <a:pPr marL="0" indent="0">
              <a:buNone/>
            </a:pPr>
            <a:r>
              <a:rPr lang="pl-PL" dirty="0"/>
              <a:t>		</a:t>
            </a:r>
          </a:p>
          <a:p>
            <a:pPr marL="0" indent="0">
              <a:buNone/>
            </a:pPr>
            <a:r>
              <a:rPr lang="pl-PL" dirty="0"/>
              <a:t>		/*rozjaśnianie*/</a:t>
            </a:r>
          </a:p>
          <a:p>
            <a:pPr marL="0" indent="0">
              <a:buNone/>
            </a:pPr>
            <a:r>
              <a:rPr lang="pl-PL" dirty="0"/>
              <a:t>		</a:t>
            </a:r>
            <a:r>
              <a:rPr lang="pl-PL" dirty="0" err="1"/>
              <a:t>opacity</a:t>
            </a:r>
            <a:r>
              <a:rPr lang="pl-PL" dirty="0"/>
              <a:t> : 0.70;</a:t>
            </a:r>
          </a:p>
          <a:p>
            <a:pPr marL="0" indent="0">
              <a:buNone/>
            </a:pPr>
            <a:r>
              <a:rPr lang="pl-PL" dirty="0"/>
              <a:t>		</a:t>
            </a:r>
            <a:r>
              <a:rPr lang="pl-PL" dirty="0" err="1"/>
              <a:t>filter</a:t>
            </a:r>
            <a:r>
              <a:rPr lang="pl-PL" dirty="0"/>
              <a:t> : </a:t>
            </a:r>
            <a:r>
              <a:rPr lang="pl-PL" dirty="0" err="1"/>
              <a:t>alpha</a:t>
            </a:r>
            <a:r>
              <a:rPr lang="pl-PL" dirty="0"/>
              <a:t>(</a:t>
            </a:r>
            <a:r>
              <a:rPr lang="pl-PL" dirty="0" err="1"/>
              <a:t>opacity</a:t>
            </a:r>
            <a:r>
              <a:rPr lang="pl-PL" dirty="0"/>
              <a:t>=70);</a:t>
            </a:r>
          </a:p>
          <a:p>
            <a:pPr marL="0" indent="0">
              <a:buNone/>
            </a:pPr>
            <a:r>
              <a:rPr lang="pl-PL" dirty="0"/>
              <a:t>		}</a:t>
            </a:r>
          </a:p>
          <a:p>
            <a:pPr marL="0" indent="0">
              <a:buNone/>
            </a:pPr>
            <a:r>
              <a:rPr lang="pl-PL" dirty="0"/>
              <a:t>	</a:t>
            </a:r>
          </a:p>
          <a:p>
            <a:pPr marL="0" indent="0">
              <a:buNone/>
            </a:pPr>
            <a:r>
              <a:rPr lang="pl-PL" dirty="0"/>
              <a:t>	&lt;/style&gt;</a:t>
            </a:r>
          </a:p>
          <a:p>
            <a:pPr marL="0" indent="0">
              <a:buNone/>
            </a:pPr>
            <a:r>
              <a:rPr lang="pl-PL" dirty="0"/>
              <a:t>&lt;/</a:t>
            </a:r>
            <a:r>
              <a:rPr lang="pl-PL" dirty="0" err="1"/>
              <a:t>head</a:t>
            </a:r>
            <a:r>
              <a:rPr lang="pl-PL" dirty="0"/>
              <a:t>&gt;</a:t>
            </a:r>
          </a:p>
          <a:p>
            <a:pPr marL="0" indent="0">
              <a:buNone/>
            </a:pPr>
            <a:endParaRPr lang="pl-PL" dirty="0"/>
          </a:p>
        </p:txBody>
      </p:sp>
    </p:spTree>
    <p:extLst>
      <p:ext uri="{BB962C8B-B14F-4D97-AF65-F5344CB8AC3E}">
        <p14:creationId xmlns:p14="http://schemas.microsoft.com/office/powerpoint/2010/main" val="1394430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Przykłady – selektory </a:t>
            </a:r>
            <a:r>
              <a:rPr lang="pl-PL" dirty="0" err="1"/>
              <a:t>pseudoklasy</a:t>
            </a:r>
            <a:endParaRPr lang="pl-PL" dirty="0"/>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&lt;body&gt;</a:t>
            </a:r>
          </a:p>
          <a:p>
            <a:pPr marL="0" indent="0">
              <a:buNone/>
            </a:pPr>
            <a:endParaRPr lang="pl-PL" dirty="0"/>
          </a:p>
          <a:p>
            <a:pPr marL="0" indent="0">
              <a:buNone/>
            </a:pPr>
            <a:r>
              <a:rPr lang="pl-PL" dirty="0"/>
              <a:t>&lt;div id="</a:t>
            </a:r>
            <a:r>
              <a:rPr lang="pl-PL" dirty="0" err="1"/>
              <a:t>zdjecie</a:t>
            </a:r>
            <a:r>
              <a:rPr lang="pl-PL" dirty="0"/>
              <a:t>"&gt;&lt;/div&gt;</a:t>
            </a:r>
          </a:p>
          <a:p>
            <a:pPr marL="0" indent="0">
              <a:buNone/>
            </a:pPr>
            <a:r>
              <a:rPr lang="pl-PL" dirty="0"/>
              <a:t>&lt;</a:t>
            </a:r>
            <a:r>
              <a:rPr lang="pl-PL" dirty="0" err="1"/>
              <a:t>br</a:t>
            </a:r>
            <a:r>
              <a:rPr lang="pl-PL" dirty="0"/>
              <a:t>&gt;</a:t>
            </a:r>
          </a:p>
          <a:p>
            <a:pPr marL="0" indent="0">
              <a:buNone/>
            </a:pPr>
            <a:r>
              <a:rPr lang="pl-PL" dirty="0"/>
              <a:t>&lt;</a:t>
            </a:r>
            <a:r>
              <a:rPr lang="pl-PL" dirty="0" err="1"/>
              <a:t>br</a:t>
            </a:r>
            <a:r>
              <a:rPr lang="pl-PL" dirty="0"/>
              <a:t>&gt;</a:t>
            </a:r>
          </a:p>
          <a:p>
            <a:pPr marL="0" indent="0">
              <a:buNone/>
            </a:pPr>
            <a:endParaRPr lang="pl-PL" dirty="0"/>
          </a:p>
          <a:p>
            <a:pPr marL="0" indent="0">
              <a:buNone/>
            </a:pPr>
            <a:r>
              <a:rPr lang="pl-PL" dirty="0"/>
              <a:t>&lt;a id="</a:t>
            </a:r>
            <a:r>
              <a:rPr lang="pl-PL" dirty="0" err="1"/>
              <a:t>prz</a:t>
            </a:r>
            <a:r>
              <a:rPr lang="pl-PL" dirty="0"/>
              <a:t>" </a:t>
            </a:r>
            <a:r>
              <a:rPr lang="pl-PL" dirty="0" err="1"/>
              <a:t>href</a:t>
            </a:r>
            <a:r>
              <a:rPr lang="pl-PL" dirty="0"/>
              <a:t>="http:\\lukasiewicz.gorlice.pl"&gt;&lt;/a&gt;</a:t>
            </a:r>
          </a:p>
          <a:p>
            <a:pPr marL="0" indent="0">
              <a:buNone/>
            </a:pPr>
            <a:endParaRPr lang="pl-PL" dirty="0"/>
          </a:p>
          <a:p>
            <a:pPr marL="0" indent="0">
              <a:buNone/>
            </a:pPr>
            <a:r>
              <a:rPr lang="pl-PL" dirty="0"/>
              <a:t>&lt;div id="</a:t>
            </a:r>
            <a:r>
              <a:rPr lang="pl-PL" dirty="0" err="1"/>
              <a:t>zdj</a:t>
            </a:r>
            <a:r>
              <a:rPr lang="pl-PL" dirty="0"/>
              <a:t>"&gt;&lt;/div&gt;</a:t>
            </a:r>
          </a:p>
          <a:p>
            <a:pPr marL="0" indent="0">
              <a:buNone/>
            </a:pPr>
            <a:r>
              <a:rPr lang="pl-PL" dirty="0"/>
              <a:t>&lt;/body&gt;</a:t>
            </a:r>
          </a:p>
          <a:p>
            <a:pPr marL="0" indent="0">
              <a:buNone/>
            </a:pPr>
            <a:r>
              <a:rPr lang="pl-PL" dirty="0"/>
              <a:t>&lt;/</a:t>
            </a:r>
            <a:r>
              <a:rPr lang="pl-PL" dirty="0" err="1"/>
              <a:t>html</a:t>
            </a:r>
            <a:r>
              <a:rPr lang="pl-PL" dirty="0"/>
              <a:t>&gt;</a:t>
            </a:r>
          </a:p>
          <a:p>
            <a:pPr marL="0" indent="0">
              <a:buNone/>
            </a:pPr>
            <a:endParaRPr lang="pl-PL" dirty="0"/>
          </a:p>
        </p:txBody>
      </p:sp>
    </p:spTree>
    <p:extLst>
      <p:ext uri="{BB962C8B-B14F-4D97-AF65-F5344CB8AC3E}">
        <p14:creationId xmlns:p14="http://schemas.microsoft.com/office/powerpoint/2010/main" val="26027182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czcionki -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err="1"/>
              <a:t>font</a:t>
            </a:r>
            <a:r>
              <a:rPr lang="pl-PL" dirty="0"/>
              <a:t>-family – służy do ustawiania rodzaju czcionki</a:t>
            </a:r>
          </a:p>
          <a:p>
            <a:pPr marL="0" indent="0">
              <a:buNone/>
            </a:pPr>
            <a:endParaRPr lang="pl-PL" dirty="0"/>
          </a:p>
          <a:p>
            <a:pPr marL="0" indent="0">
              <a:buNone/>
            </a:pPr>
            <a:r>
              <a:rPr lang="pl-PL" dirty="0"/>
              <a:t>Rodzaje czcionek:</a:t>
            </a:r>
          </a:p>
          <a:p>
            <a:pPr marL="0" indent="0">
              <a:buNone/>
            </a:pPr>
            <a:r>
              <a:rPr lang="pl-PL" dirty="0" err="1"/>
              <a:t>serif</a:t>
            </a:r>
            <a:r>
              <a:rPr lang="pl-PL" dirty="0"/>
              <a:t> – czcionki szeryfowe, mające wykończenia liter i cyfr np. Times New Roman, Georgia, Bodoni</a:t>
            </a:r>
          </a:p>
          <a:p>
            <a:pPr marL="0" indent="0">
              <a:buNone/>
            </a:pPr>
            <a:r>
              <a:rPr lang="pl-PL" dirty="0" err="1"/>
              <a:t>sans-serif</a:t>
            </a:r>
            <a:r>
              <a:rPr lang="pl-PL" dirty="0"/>
              <a:t> – czcionki </a:t>
            </a:r>
            <a:r>
              <a:rPr lang="pl-PL" dirty="0" err="1"/>
              <a:t>bezszeryfowe</a:t>
            </a:r>
            <a:r>
              <a:rPr lang="pl-PL" dirty="0"/>
              <a:t>. Końcówki są proste np. Arial, Futura, </a:t>
            </a:r>
            <a:r>
              <a:rPr lang="pl-PL" dirty="0" err="1"/>
              <a:t>Verdana</a:t>
            </a:r>
            <a:endParaRPr lang="pl-PL" dirty="0"/>
          </a:p>
          <a:p>
            <a:pPr marL="0" indent="0">
              <a:buNone/>
            </a:pPr>
            <a:r>
              <a:rPr lang="pl-PL" dirty="0" err="1"/>
              <a:t>monospace</a:t>
            </a:r>
            <a:r>
              <a:rPr lang="pl-PL" dirty="0"/>
              <a:t> – czcionki </a:t>
            </a:r>
            <a:r>
              <a:rPr lang="pl-PL" dirty="0" err="1"/>
              <a:t>monotypiczne</a:t>
            </a:r>
            <a:r>
              <a:rPr lang="pl-PL" dirty="0"/>
              <a:t>. Znaki mają stałą szerokość np. Courier, Courier New</a:t>
            </a:r>
          </a:p>
          <a:p>
            <a:pPr marL="0" indent="0">
              <a:buNone/>
            </a:pPr>
            <a:r>
              <a:rPr lang="pl-PL" dirty="0" err="1"/>
              <a:t>cursive</a:t>
            </a:r>
            <a:r>
              <a:rPr lang="pl-PL" dirty="0"/>
              <a:t> – czcionki mają cechy czcionki pochylonej np. Comic Sans, Florence</a:t>
            </a:r>
          </a:p>
          <a:p>
            <a:pPr marL="0" indent="0">
              <a:buNone/>
            </a:pPr>
            <a:r>
              <a:rPr lang="pl-PL" dirty="0" err="1"/>
              <a:t>fantasy</a:t>
            </a:r>
            <a:r>
              <a:rPr lang="pl-PL" dirty="0"/>
              <a:t> – czcionki dekoracyjne np. </a:t>
            </a:r>
            <a:r>
              <a:rPr lang="pl-PL" dirty="0" err="1"/>
              <a:t>Impact</a:t>
            </a:r>
            <a:r>
              <a:rPr lang="pl-PL" dirty="0"/>
              <a:t>, </a:t>
            </a:r>
            <a:r>
              <a:rPr lang="pl-PL" dirty="0" err="1"/>
              <a:t>OldTown</a:t>
            </a:r>
            <a:r>
              <a:rPr lang="pl-PL" dirty="0"/>
              <a:t> </a:t>
            </a:r>
          </a:p>
        </p:txBody>
      </p:sp>
    </p:spTree>
    <p:extLst>
      <p:ext uri="{BB962C8B-B14F-4D97-AF65-F5344CB8AC3E}">
        <p14:creationId xmlns:p14="http://schemas.microsoft.com/office/powerpoint/2010/main" val="3566747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czcionki - CSS</a:t>
            </a:r>
          </a:p>
        </p:txBody>
      </p:sp>
      <p:sp>
        <p:nvSpPr>
          <p:cNvPr id="3" name="Symbol zastępczy zawartości 2"/>
          <p:cNvSpPr>
            <a:spLocks noGrp="1"/>
          </p:cNvSpPr>
          <p:nvPr>
            <p:ph idx="1"/>
          </p:nvPr>
        </p:nvSpPr>
        <p:spPr/>
        <p:txBody>
          <a:bodyPr/>
          <a:lstStyle/>
          <a:p>
            <a:pPr marL="0" indent="0">
              <a:buNone/>
            </a:pPr>
            <a:r>
              <a:rPr lang="pl-PL" dirty="0"/>
              <a:t>p{</a:t>
            </a:r>
          </a:p>
          <a:p>
            <a:pPr marL="0" indent="0">
              <a:buNone/>
            </a:pPr>
            <a:r>
              <a:rPr lang="pl-PL" dirty="0" err="1"/>
              <a:t>font</a:t>
            </a:r>
            <a:r>
              <a:rPr lang="pl-PL" dirty="0"/>
              <a:t>-family: Georgia, Courier, Arial;</a:t>
            </a:r>
          </a:p>
          <a:p>
            <a:pPr marL="0" indent="0">
              <a:buNone/>
            </a:pPr>
            <a:r>
              <a:rPr lang="pl-PL" dirty="0"/>
              <a:t>} </a:t>
            </a:r>
          </a:p>
          <a:p>
            <a:pPr marL="0" indent="0">
              <a:buNone/>
            </a:pPr>
            <a:endParaRPr lang="pl-PL" dirty="0"/>
          </a:p>
          <a:p>
            <a:pPr marL="0" indent="0">
              <a:buNone/>
            </a:pPr>
            <a:r>
              <a:rPr lang="pl-PL" dirty="0"/>
              <a:t>Po przecinku umieszczamy czcionki które mają być użyte w sytuacji gdy nie zostanie odnaleziona czcionka pierwsza na liście</a:t>
            </a:r>
          </a:p>
        </p:txBody>
      </p:sp>
    </p:spTree>
    <p:extLst>
      <p:ext uri="{BB962C8B-B14F-4D97-AF65-F5344CB8AC3E}">
        <p14:creationId xmlns:p14="http://schemas.microsoft.com/office/powerpoint/2010/main" val="39573970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Wielkość czcionki</a:t>
            </a:r>
          </a:p>
        </p:txBody>
      </p:sp>
      <p:sp>
        <p:nvSpPr>
          <p:cNvPr id="3" name="Symbol zastępczy zawartości 2"/>
          <p:cNvSpPr>
            <a:spLocks noGrp="1"/>
          </p:cNvSpPr>
          <p:nvPr>
            <p:ph idx="1"/>
          </p:nvPr>
        </p:nvSpPr>
        <p:spPr/>
        <p:txBody>
          <a:bodyPr/>
          <a:lstStyle/>
          <a:p>
            <a:pPr marL="0" indent="0">
              <a:buNone/>
            </a:pPr>
            <a:r>
              <a:rPr lang="pl-PL" dirty="0" err="1"/>
              <a:t>font-size</a:t>
            </a:r>
            <a:r>
              <a:rPr lang="pl-PL" dirty="0"/>
              <a:t> – określa wielkość czcionki</a:t>
            </a:r>
          </a:p>
          <a:p>
            <a:pPr marL="0" indent="0">
              <a:buNone/>
            </a:pPr>
            <a:endParaRPr lang="pl-PL" dirty="0"/>
          </a:p>
          <a:p>
            <a:pPr marL="0" indent="0">
              <a:buNone/>
            </a:pPr>
            <a:r>
              <a:rPr lang="pl-PL" dirty="0"/>
              <a:t>Przykład:</a:t>
            </a:r>
          </a:p>
          <a:p>
            <a:pPr marL="0" indent="0">
              <a:buNone/>
            </a:pPr>
            <a:r>
              <a:rPr lang="pl-PL" dirty="0"/>
              <a:t>p{</a:t>
            </a:r>
          </a:p>
          <a:p>
            <a:pPr marL="0" indent="0">
              <a:buNone/>
            </a:pPr>
            <a:r>
              <a:rPr lang="pl-PL" dirty="0" err="1"/>
              <a:t>font</a:t>
            </a:r>
            <a:r>
              <a:rPr lang="pl-PL" dirty="0"/>
              <a:t>-family: Courier;</a:t>
            </a:r>
          </a:p>
          <a:p>
            <a:pPr marL="0" indent="0">
              <a:buNone/>
            </a:pPr>
            <a:r>
              <a:rPr lang="pl-PL" dirty="0" err="1"/>
              <a:t>font-size</a:t>
            </a:r>
            <a:r>
              <a:rPr lang="pl-PL" dirty="0"/>
              <a:t>: 12px</a:t>
            </a:r>
          </a:p>
          <a:p>
            <a:pPr marL="0" indent="0">
              <a:buNone/>
            </a:pPr>
            <a:r>
              <a:rPr lang="pl-PL" dirty="0"/>
              <a:t>}</a:t>
            </a:r>
          </a:p>
        </p:txBody>
      </p:sp>
    </p:spTree>
    <p:extLst>
      <p:ext uri="{BB962C8B-B14F-4D97-AF65-F5344CB8AC3E}">
        <p14:creationId xmlns:p14="http://schemas.microsoft.com/office/powerpoint/2010/main" val="34347508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Wielkość czcionki</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a:t>Słowa kluczowe służące do określania wielkości czcionek:</a:t>
            </a:r>
          </a:p>
          <a:p>
            <a:pPr marL="0" indent="0">
              <a:buNone/>
            </a:pPr>
            <a:r>
              <a:rPr lang="pl-PL" dirty="0"/>
              <a:t>xx-small</a:t>
            </a:r>
          </a:p>
          <a:p>
            <a:pPr marL="0" indent="0">
              <a:buNone/>
            </a:pPr>
            <a:r>
              <a:rPr lang="pl-PL" dirty="0"/>
              <a:t>x-small</a:t>
            </a:r>
          </a:p>
          <a:p>
            <a:pPr marL="0" indent="0">
              <a:buNone/>
            </a:pPr>
            <a:r>
              <a:rPr lang="pl-PL" dirty="0"/>
              <a:t>small</a:t>
            </a:r>
          </a:p>
          <a:p>
            <a:pPr marL="0" indent="0">
              <a:buNone/>
            </a:pPr>
            <a:r>
              <a:rPr lang="pl-PL" dirty="0"/>
              <a:t>medium</a:t>
            </a:r>
          </a:p>
          <a:p>
            <a:pPr marL="0" indent="0">
              <a:buNone/>
            </a:pPr>
            <a:r>
              <a:rPr lang="pl-PL" dirty="0" err="1"/>
              <a:t>large</a:t>
            </a:r>
            <a:endParaRPr lang="pl-PL" dirty="0"/>
          </a:p>
          <a:p>
            <a:pPr marL="0" indent="0">
              <a:buNone/>
            </a:pPr>
            <a:r>
              <a:rPr lang="pl-PL" dirty="0"/>
              <a:t>x-</a:t>
            </a:r>
            <a:r>
              <a:rPr lang="pl-PL" dirty="0" err="1"/>
              <a:t>large</a:t>
            </a:r>
            <a:endParaRPr lang="pl-PL" dirty="0"/>
          </a:p>
          <a:p>
            <a:pPr marL="0" indent="0">
              <a:buNone/>
            </a:pPr>
            <a:r>
              <a:rPr lang="pl-PL" dirty="0"/>
              <a:t>xx-</a:t>
            </a:r>
            <a:r>
              <a:rPr lang="pl-PL" dirty="0" err="1"/>
              <a:t>large</a:t>
            </a:r>
            <a:endParaRPr lang="pl-PL" dirty="0"/>
          </a:p>
          <a:p>
            <a:pPr marL="0" indent="0">
              <a:buNone/>
            </a:pPr>
            <a:endParaRPr lang="pl-PL" dirty="0"/>
          </a:p>
        </p:txBody>
      </p:sp>
    </p:spTree>
    <p:extLst>
      <p:ext uri="{BB962C8B-B14F-4D97-AF65-F5344CB8AC3E}">
        <p14:creationId xmlns:p14="http://schemas.microsoft.com/office/powerpoint/2010/main" val="31315658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Wielkość czcionki</a:t>
            </a:r>
          </a:p>
        </p:txBody>
      </p:sp>
      <p:sp>
        <p:nvSpPr>
          <p:cNvPr id="3" name="Symbol zastępczy zawartości 2"/>
          <p:cNvSpPr>
            <a:spLocks noGrp="1"/>
          </p:cNvSpPr>
          <p:nvPr>
            <p:ph idx="1"/>
          </p:nvPr>
        </p:nvSpPr>
        <p:spPr/>
        <p:txBody>
          <a:bodyPr/>
          <a:lstStyle/>
          <a:p>
            <a:pPr marL="0" indent="0">
              <a:buNone/>
            </a:pPr>
            <a:r>
              <a:rPr lang="pl-PL" dirty="0"/>
              <a:t>Można również zastosować słowa kluczowe</a:t>
            </a:r>
          </a:p>
          <a:p>
            <a:pPr marL="0" indent="0">
              <a:buNone/>
            </a:pPr>
            <a:r>
              <a:rPr lang="pl-PL" dirty="0" err="1"/>
              <a:t>smaller</a:t>
            </a:r>
            <a:r>
              <a:rPr lang="pl-PL" dirty="0"/>
              <a:t> i </a:t>
            </a:r>
            <a:r>
              <a:rPr lang="pl-PL" dirty="0" err="1"/>
              <a:t>larger</a:t>
            </a:r>
            <a:r>
              <a:rPr lang="pl-PL" dirty="0"/>
              <a:t> służą one do określenia względnej wielkości czcionki</a:t>
            </a:r>
          </a:p>
        </p:txBody>
      </p:sp>
    </p:spTree>
    <p:extLst>
      <p:ext uri="{BB962C8B-B14F-4D97-AF65-F5344CB8AC3E}">
        <p14:creationId xmlns:p14="http://schemas.microsoft.com/office/powerpoint/2010/main" val="32023756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Styl czcionki</a:t>
            </a:r>
          </a:p>
        </p:txBody>
      </p:sp>
      <p:sp>
        <p:nvSpPr>
          <p:cNvPr id="3" name="Symbol zastępczy zawartości 2"/>
          <p:cNvSpPr>
            <a:spLocks noGrp="1"/>
          </p:cNvSpPr>
          <p:nvPr>
            <p:ph idx="1"/>
          </p:nvPr>
        </p:nvSpPr>
        <p:spPr/>
        <p:txBody>
          <a:bodyPr/>
          <a:lstStyle/>
          <a:p>
            <a:pPr marL="0" indent="0">
              <a:buNone/>
            </a:pPr>
            <a:r>
              <a:rPr lang="pl-PL" dirty="0" err="1"/>
              <a:t>font</a:t>
            </a:r>
            <a:r>
              <a:rPr lang="pl-PL" dirty="0"/>
              <a:t>-style: styl;</a:t>
            </a:r>
          </a:p>
          <a:p>
            <a:pPr marL="0" indent="0">
              <a:buNone/>
            </a:pPr>
            <a:endParaRPr lang="pl-PL" dirty="0"/>
          </a:p>
          <a:p>
            <a:pPr marL="0" indent="0">
              <a:buNone/>
            </a:pPr>
            <a:r>
              <a:rPr lang="pl-PL" dirty="0"/>
              <a:t>dostępne są trzy style:</a:t>
            </a:r>
          </a:p>
          <a:p>
            <a:pPr marL="0" indent="0">
              <a:buNone/>
            </a:pPr>
            <a:r>
              <a:rPr lang="pl-PL" dirty="0" err="1"/>
              <a:t>normal</a:t>
            </a:r>
            <a:r>
              <a:rPr lang="pl-PL" dirty="0"/>
              <a:t> – czcionka podstawowa</a:t>
            </a:r>
          </a:p>
          <a:p>
            <a:pPr marL="0" indent="0">
              <a:buNone/>
            </a:pPr>
            <a:r>
              <a:rPr lang="pl-PL" dirty="0" err="1"/>
              <a:t>italic</a:t>
            </a:r>
            <a:r>
              <a:rPr lang="pl-PL" dirty="0"/>
              <a:t> – czcionka pochylona</a:t>
            </a:r>
          </a:p>
          <a:p>
            <a:pPr marL="0" indent="0">
              <a:buNone/>
            </a:pPr>
            <a:r>
              <a:rPr lang="pl-PL" dirty="0" err="1"/>
              <a:t>oblique</a:t>
            </a:r>
            <a:r>
              <a:rPr lang="pl-PL" dirty="0"/>
              <a:t> – czcionka pochylona (działa na wszystkie czcionki nawet na te co nie działa </a:t>
            </a:r>
            <a:r>
              <a:rPr lang="pl-PL" dirty="0" err="1"/>
              <a:t>italic</a:t>
            </a:r>
            <a:r>
              <a:rPr lang="pl-PL" dirty="0"/>
              <a:t>)</a:t>
            </a:r>
          </a:p>
        </p:txBody>
      </p:sp>
    </p:spTree>
    <p:extLst>
      <p:ext uri="{BB962C8B-B14F-4D97-AF65-F5344CB8AC3E}">
        <p14:creationId xmlns:p14="http://schemas.microsoft.com/office/powerpoint/2010/main" val="2847157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Wariant czcionki</a:t>
            </a:r>
          </a:p>
        </p:txBody>
      </p:sp>
      <p:sp>
        <p:nvSpPr>
          <p:cNvPr id="3" name="Symbol zastępczy zawartości 2"/>
          <p:cNvSpPr>
            <a:spLocks noGrp="1"/>
          </p:cNvSpPr>
          <p:nvPr>
            <p:ph idx="1"/>
          </p:nvPr>
        </p:nvSpPr>
        <p:spPr/>
        <p:txBody>
          <a:bodyPr/>
          <a:lstStyle/>
          <a:p>
            <a:pPr marL="0" indent="0">
              <a:buNone/>
            </a:pPr>
            <a:r>
              <a:rPr lang="pl-PL" dirty="0" err="1"/>
              <a:t>font-variant</a:t>
            </a:r>
            <a:r>
              <a:rPr lang="pl-PL" dirty="0"/>
              <a:t> – pozwala wybrać między normalną czcionką a kapitalikami</a:t>
            </a:r>
          </a:p>
          <a:p>
            <a:pPr marL="0" indent="0">
              <a:buNone/>
            </a:pPr>
            <a:endParaRPr lang="pl-PL" dirty="0"/>
          </a:p>
          <a:p>
            <a:pPr marL="0" indent="0">
              <a:buNone/>
            </a:pPr>
            <a:r>
              <a:rPr lang="pl-PL" dirty="0"/>
              <a:t>dostępne opcje:</a:t>
            </a:r>
          </a:p>
          <a:p>
            <a:pPr marL="0" indent="0">
              <a:buNone/>
            </a:pPr>
            <a:endParaRPr lang="pl-PL" dirty="0"/>
          </a:p>
          <a:p>
            <a:pPr marL="0" indent="0">
              <a:buNone/>
            </a:pPr>
            <a:r>
              <a:rPr lang="pl-PL" dirty="0" err="1"/>
              <a:t>normal</a:t>
            </a:r>
            <a:endParaRPr lang="pl-PL" dirty="0"/>
          </a:p>
          <a:p>
            <a:pPr marL="0" indent="0">
              <a:buNone/>
            </a:pPr>
            <a:r>
              <a:rPr lang="pl-PL" dirty="0"/>
              <a:t>small-</a:t>
            </a:r>
            <a:r>
              <a:rPr lang="pl-PL" dirty="0" err="1"/>
              <a:t>caps</a:t>
            </a:r>
            <a:endParaRPr lang="pl-PL" dirty="0"/>
          </a:p>
        </p:txBody>
      </p:sp>
    </p:spTree>
    <p:extLst>
      <p:ext uri="{BB962C8B-B14F-4D97-AF65-F5344CB8AC3E}">
        <p14:creationId xmlns:p14="http://schemas.microsoft.com/office/powerpoint/2010/main" val="34557089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Waga czcionki</a:t>
            </a:r>
          </a:p>
        </p:txBody>
      </p:sp>
      <p:sp>
        <p:nvSpPr>
          <p:cNvPr id="3" name="Symbol zastępczy zawartości 2"/>
          <p:cNvSpPr>
            <a:spLocks noGrp="1"/>
          </p:cNvSpPr>
          <p:nvPr>
            <p:ph idx="1"/>
          </p:nvPr>
        </p:nvSpPr>
        <p:spPr/>
        <p:txBody>
          <a:bodyPr>
            <a:normAutofit lnSpcReduction="10000"/>
          </a:bodyPr>
          <a:lstStyle/>
          <a:p>
            <a:pPr marL="0" indent="0">
              <a:buNone/>
            </a:pPr>
            <a:r>
              <a:rPr lang="pl-PL" dirty="0" err="1"/>
              <a:t>font-weight</a:t>
            </a:r>
            <a:r>
              <a:rPr lang="pl-PL" dirty="0"/>
              <a:t> – waga czcionki</a:t>
            </a:r>
          </a:p>
          <a:p>
            <a:pPr marL="0" indent="0">
              <a:buNone/>
            </a:pPr>
            <a:r>
              <a:rPr lang="pl-PL" dirty="0" err="1"/>
              <a:t>normal</a:t>
            </a:r>
            <a:endParaRPr lang="pl-PL" dirty="0"/>
          </a:p>
          <a:p>
            <a:pPr marL="0" indent="0">
              <a:buNone/>
            </a:pPr>
            <a:r>
              <a:rPr lang="pl-PL" dirty="0" err="1"/>
              <a:t>bold</a:t>
            </a:r>
            <a:endParaRPr lang="pl-PL" dirty="0"/>
          </a:p>
          <a:p>
            <a:pPr marL="0" indent="0">
              <a:buNone/>
            </a:pPr>
            <a:r>
              <a:rPr lang="pl-PL" dirty="0"/>
              <a:t>można też podać wartość np. 100, 200, 800, 1000</a:t>
            </a:r>
          </a:p>
          <a:p>
            <a:pPr marL="0" indent="0">
              <a:buNone/>
            </a:pPr>
            <a:r>
              <a:rPr lang="pl-PL" dirty="0"/>
              <a:t>można używać również wartości względnych</a:t>
            </a:r>
          </a:p>
          <a:p>
            <a:pPr marL="0" indent="0">
              <a:buNone/>
            </a:pPr>
            <a:r>
              <a:rPr lang="pl-PL" dirty="0" err="1"/>
              <a:t>lighter</a:t>
            </a:r>
            <a:endParaRPr lang="pl-PL" dirty="0"/>
          </a:p>
          <a:p>
            <a:pPr marL="0" indent="0">
              <a:buNone/>
            </a:pPr>
            <a:r>
              <a:rPr lang="pl-PL" dirty="0" err="1"/>
              <a:t>bolder</a:t>
            </a:r>
            <a:endParaRPr lang="pl-PL" dirty="0"/>
          </a:p>
        </p:txBody>
      </p:sp>
    </p:spTree>
    <p:extLst>
      <p:ext uri="{BB962C8B-B14F-4D97-AF65-F5344CB8AC3E}">
        <p14:creationId xmlns:p14="http://schemas.microsoft.com/office/powerpoint/2010/main" val="22234133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Właściwość </a:t>
            </a:r>
            <a:r>
              <a:rPr lang="pl-PL" dirty="0" err="1"/>
              <a:t>font</a:t>
            </a:r>
            <a:endParaRPr lang="pl-PL" dirty="0"/>
          </a:p>
        </p:txBody>
      </p:sp>
      <p:sp>
        <p:nvSpPr>
          <p:cNvPr id="3" name="Symbol zastępczy zawartości 2"/>
          <p:cNvSpPr>
            <a:spLocks noGrp="1"/>
          </p:cNvSpPr>
          <p:nvPr>
            <p:ph idx="1"/>
          </p:nvPr>
        </p:nvSpPr>
        <p:spPr/>
        <p:txBody>
          <a:bodyPr>
            <a:normAutofit lnSpcReduction="10000"/>
          </a:bodyPr>
          <a:lstStyle/>
          <a:p>
            <a:pPr marL="0" indent="0">
              <a:buNone/>
            </a:pPr>
            <a:r>
              <a:rPr lang="pl-PL" dirty="0"/>
              <a:t>Można użyć właściwości </a:t>
            </a:r>
            <a:r>
              <a:rPr lang="pl-PL" dirty="0" err="1"/>
              <a:t>font</a:t>
            </a:r>
            <a:r>
              <a:rPr lang="pl-PL" dirty="0"/>
              <a:t> do określenia wszystkich parametrów czcionki lecz należy to wykonać w określonej kolejności:</a:t>
            </a:r>
          </a:p>
          <a:p>
            <a:pPr marL="0" indent="0">
              <a:buNone/>
            </a:pPr>
            <a:r>
              <a:rPr lang="pl-PL" dirty="0"/>
              <a:t>selektor{ </a:t>
            </a:r>
            <a:r>
              <a:rPr lang="pl-PL" dirty="0" err="1"/>
              <a:t>font</a:t>
            </a:r>
            <a:r>
              <a:rPr lang="pl-PL" dirty="0"/>
              <a:t>: </a:t>
            </a:r>
            <a:r>
              <a:rPr lang="pl-PL" dirty="0" err="1"/>
              <a:t>font</a:t>
            </a:r>
            <a:r>
              <a:rPr lang="pl-PL" dirty="0"/>
              <a:t>-style </a:t>
            </a:r>
            <a:r>
              <a:rPr lang="pl-PL" dirty="0" err="1"/>
              <a:t>font-variant</a:t>
            </a:r>
            <a:r>
              <a:rPr lang="pl-PL" dirty="0"/>
              <a:t> </a:t>
            </a:r>
            <a:r>
              <a:rPr lang="pl-PL" dirty="0" err="1"/>
              <a:t>font-weight</a:t>
            </a:r>
            <a:r>
              <a:rPr lang="pl-PL" dirty="0"/>
              <a:t> </a:t>
            </a:r>
            <a:r>
              <a:rPr lang="pl-PL" dirty="0" err="1"/>
              <a:t>font-size</a:t>
            </a:r>
            <a:r>
              <a:rPr lang="pl-PL" dirty="0"/>
              <a:t> </a:t>
            </a:r>
            <a:r>
              <a:rPr lang="pl-PL" dirty="0" err="1"/>
              <a:t>font</a:t>
            </a:r>
            <a:r>
              <a:rPr lang="pl-PL" dirty="0"/>
              <a:t>-family;}</a:t>
            </a:r>
          </a:p>
          <a:p>
            <a:pPr marL="0" indent="0">
              <a:buNone/>
            </a:pPr>
            <a:r>
              <a:rPr lang="pl-PL" dirty="0"/>
              <a:t>np.</a:t>
            </a:r>
          </a:p>
          <a:p>
            <a:pPr marL="0" indent="0">
              <a:buNone/>
            </a:pPr>
            <a:r>
              <a:rPr lang="pl-PL" dirty="0"/>
              <a:t>p{</a:t>
            </a:r>
            <a:r>
              <a:rPr lang="pl-PL" dirty="0" err="1"/>
              <a:t>font</a:t>
            </a:r>
            <a:r>
              <a:rPr lang="pl-PL" dirty="0"/>
              <a:t>: </a:t>
            </a:r>
            <a:r>
              <a:rPr lang="pl-PL" dirty="0" err="1"/>
              <a:t>italic</a:t>
            </a:r>
            <a:r>
              <a:rPr lang="pl-PL" dirty="0"/>
              <a:t> </a:t>
            </a:r>
            <a:r>
              <a:rPr lang="pl-PL" dirty="0" err="1"/>
              <a:t>bold</a:t>
            </a:r>
            <a:r>
              <a:rPr lang="pl-PL" dirty="0"/>
              <a:t> 12px Georgia}</a:t>
            </a:r>
          </a:p>
          <a:p>
            <a:pPr marL="0" indent="0">
              <a:buNone/>
            </a:pPr>
            <a:r>
              <a:rPr lang="pl-PL" dirty="0"/>
              <a:t>Niektóre atrybuty mogą zostać pominięte lecz nie można pominąć </a:t>
            </a:r>
            <a:r>
              <a:rPr lang="pl-PL" dirty="0" err="1"/>
              <a:t>font-size</a:t>
            </a:r>
            <a:r>
              <a:rPr lang="pl-PL" dirty="0"/>
              <a:t> i </a:t>
            </a:r>
            <a:r>
              <a:rPr lang="pl-PL" dirty="0" err="1"/>
              <a:t>font</a:t>
            </a:r>
            <a:r>
              <a:rPr lang="pl-PL"/>
              <a:t>-family</a:t>
            </a:r>
            <a:endParaRPr lang="pl-PL" dirty="0"/>
          </a:p>
        </p:txBody>
      </p:sp>
    </p:spTree>
    <p:extLst>
      <p:ext uri="{BB962C8B-B14F-4D97-AF65-F5344CB8AC3E}">
        <p14:creationId xmlns:p14="http://schemas.microsoft.com/office/powerpoint/2010/main" val="40982591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a:t>
            </a:r>
          </a:p>
        </p:txBody>
      </p:sp>
      <p:sp>
        <p:nvSpPr>
          <p:cNvPr id="3" name="Symbol zastępczy zawartości 2"/>
          <p:cNvSpPr>
            <a:spLocks noGrp="1"/>
          </p:cNvSpPr>
          <p:nvPr>
            <p:ph idx="1"/>
          </p:nvPr>
        </p:nvSpPr>
        <p:spPr/>
        <p:txBody>
          <a:bodyPr>
            <a:normAutofit fontScale="85000" lnSpcReduction="20000"/>
          </a:bodyPr>
          <a:lstStyle/>
          <a:p>
            <a:r>
              <a:rPr lang="pl-PL" dirty="0" err="1"/>
              <a:t>text-indent</a:t>
            </a:r>
            <a:r>
              <a:rPr lang="pl-PL" dirty="0"/>
              <a:t>: wartość – powoduje ustawienie wcięcia pierwszego akapitu</a:t>
            </a:r>
          </a:p>
          <a:p>
            <a:r>
              <a:rPr lang="pl-PL" dirty="0"/>
              <a:t>np. p{</a:t>
            </a:r>
            <a:r>
              <a:rPr lang="pl-PL" dirty="0" err="1"/>
              <a:t>text-indent</a:t>
            </a:r>
            <a:r>
              <a:rPr lang="pl-PL" dirty="0"/>
              <a:t>: 30px}</a:t>
            </a:r>
          </a:p>
          <a:p>
            <a:r>
              <a:rPr lang="pl-PL" dirty="0" err="1"/>
              <a:t>text-align</a:t>
            </a:r>
            <a:r>
              <a:rPr lang="pl-PL" dirty="0"/>
              <a:t> – służy do ustawienia wyrównania tekstu</a:t>
            </a:r>
          </a:p>
          <a:p>
            <a:r>
              <a:rPr lang="pl-PL" dirty="0"/>
              <a:t>dostępne opcje: </a:t>
            </a:r>
          </a:p>
          <a:p>
            <a:pPr>
              <a:buFontTx/>
              <a:buChar char="-"/>
            </a:pPr>
            <a:r>
              <a:rPr lang="pl-PL" dirty="0" err="1"/>
              <a:t>left</a:t>
            </a:r>
            <a:endParaRPr lang="pl-PL" dirty="0"/>
          </a:p>
          <a:p>
            <a:pPr>
              <a:buFontTx/>
              <a:buChar char="-"/>
            </a:pPr>
            <a:r>
              <a:rPr lang="pl-PL" dirty="0" err="1"/>
              <a:t>right</a:t>
            </a:r>
            <a:endParaRPr lang="pl-PL" dirty="0"/>
          </a:p>
          <a:p>
            <a:pPr>
              <a:buFontTx/>
              <a:buChar char="-"/>
            </a:pPr>
            <a:r>
              <a:rPr lang="pl-PL" dirty="0" err="1"/>
              <a:t>center</a:t>
            </a:r>
            <a:endParaRPr lang="pl-PL" dirty="0"/>
          </a:p>
          <a:p>
            <a:pPr>
              <a:buFontTx/>
              <a:buChar char="-"/>
            </a:pPr>
            <a:r>
              <a:rPr lang="pl-PL" dirty="0" err="1"/>
              <a:t>justify</a:t>
            </a:r>
            <a:r>
              <a:rPr lang="pl-PL" dirty="0"/>
              <a:t> – rozłożenie tekstu równomiernie między marginesami</a:t>
            </a:r>
          </a:p>
          <a:p>
            <a:pPr marL="0" indent="0">
              <a:buNone/>
            </a:pPr>
            <a:r>
              <a:rPr lang="pl-PL" dirty="0"/>
              <a:t>np. p{</a:t>
            </a:r>
            <a:r>
              <a:rPr lang="pl-PL" dirty="0" err="1"/>
              <a:t>text-align</a:t>
            </a:r>
            <a:r>
              <a:rPr lang="pl-PL" dirty="0"/>
              <a:t>: </a:t>
            </a:r>
            <a:r>
              <a:rPr lang="pl-PL" dirty="0" err="1"/>
              <a:t>left</a:t>
            </a:r>
            <a:r>
              <a:rPr lang="pl-PL" dirty="0"/>
              <a:t>;}</a:t>
            </a:r>
          </a:p>
          <a:p>
            <a:pPr marL="0" indent="0">
              <a:buNone/>
            </a:pPr>
            <a:endParaRPr lang="pl-PL" dirty="0"/>
          </a:p>
        </p:txBody>
      </p:sp>
    </p:spTree>
    <p:extLst>
      <p:ext uri="{BB962C8B-B14F-4D97-AF65-F5344CB8AC3E}">
        <p14:creationId xmlns:p14="http://schemas.microsoft.com/office/powerpoint/2010/main" val="32751516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a:t>
            </a:r>
          </a:p>
        </p:txBody>
      </p:sp>
      <p:sp>
        <p:nvSpPr>
          <p:cNvPr id="3" name="Symbol zastępczy zawartości 2"/>
          <p:cNvSpPr>
            <a:spLocks noGrp="1"/>
          </p:cNvSpPr>
          <p:nvPr>
            <p:ph idx="1"/>
          </p:nvPr>
        </p:nvSpPr>
        <p:spPr/>
        <p:txBody>
          <a:bodyPr>
            <a:normAutofit fontScale="92500" lnSpcReduction="20000"/>
          </a:bodyPr>
          <a:lstStyle/>
          <a:p>
            <a:r>
              <a:rPr lang="pl-PL" dirty="0" err="1"/>
              <a:t>line-height</a:t>
            </a:r>
            <a:r>
              <a:rPr lang="pl-PL" dirty="0"/>
              <a:t> – odstęp między wierszami tekstu</a:t>
            </a:r>
          </a:p>
          <a:p>
            <a:pPr marL="0" indent="0">
              <a:buNone/>
            </a:pPr>
            <a:r>
              <a:rPr lang="pl-PL" dirty="0"/>
              <a:t>możliwe opcje:</a:t>
            </a:r>
          </a:p>
          <a:p>
            <a:pPr>
              <a:buFontTx/>
              <a:buChar char="-"/>
            </a:pPr>
            <a:r>
              <a:rPr lang="pl-PL" dirty="0"/>
              <a:t>liczba – określa odstęp jako wielokrotność obecnego rozmiaru czcionki</a:t>
            </a:r>
          </a:p>
          <a:p>
            <a:pPr>
              <a:buFontTx/>
              <a:buChar char="-"/>
            </a:pPr>
            <a:r>
              <a:rPr lang="pl-PL" dirty="0"/>
              <a:t>wysokość – jest podawana z jednostką miary: </a:t>
            </a:r>
            <a:r>
              <a:rPr lang="pl-PL" dirty="0" err="1"/>
              <a:t>px</a:t>
            </a:r>
            <a:r>
              <a:rPr lang="pl-PL" dirty="0"/>
              <a:t>, </a:t>
            </a:r>
            <a:r>
              <a:rPr lang="pl-PL" dirty="0" err="1"/>
              <a:t>pt</a:t>
            </a:r>
            <a:r>
              <a:rPr lang="pl-PL" dirty="0"/>
              <a:t>, cm określa stałą wysokość odstępu</a:t>
            </a:r>
          </a:p>
          <a:p>
            <a:pPr>
              <a:buFontTx/>
              <a:buChar char="-"/>
            </a:pPr>
            <a:r>
              <a:rPr lang="pl-PL" dirty="0"/>
              <a:t>wartość procentowa – określa odstęp jako wysokość procentową obecnego rozmiaru czcionki</a:t>
            </a:r>
          </a:p>
          <a:p>
            <a:pPr marL="0" indent="0">
              <a:buNone/>
            </a:pPr>
            <a:r>
              <a:rPr lang="pl-PL" dirty="0"/>
              <a:t>np. p {</a:t>
            </a:r>
            <a:r>
              <a:rPr lang="pl-PL" dirty="0" err="1"/>
              <a:t>line-height</a:t>
            </a:r>
            <a:r>
              <a:rPr lang="pl-PL" dirty="0"/>
              <a:t>: 10px;}</a:t>
            </a:r>
          </a:p>
        </p:txBody>
      </p:sp>
    </p:spTree>
    <p:extLst>
      <p:ext uri="{BB962C8B-B14F-4D97-AF65-F5344CB8AC3E}">
        <p14:creationId xmlns:p14="http://schemas.microsoft.com/office/powerpoint/2010/main" val="13843491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a:t>
            </a:r>
          </a:p>
        </p:txBody>
      </p:sp>
      <p:sp>
        <p:nvSpPr>
          <p:cNvPr id="3" name="Symbol zastępczy zawartości 2"/>
          <p:cNvSpPr>
            <a:spLocks noGrp="1"/>
          </p:cNvSpPr>
          <p:nvPr>
            <p:ph idx="1"/>
          </p:nvPr>
        </p:nvSpPr>
        <p:spPr/>
        <p:txBody>
          <a:bodyPr>
            <a:normAutofit fontScale="92500" lnSpcReduction="20000"/>
          </a:bodyPr>
          <a:lstStyle/>
          <a:p>
            <a:r>
              <a:rPr lang="pl-PL" dirty="0" err="1"/>
              <a:t>text-decoration</a:t>
            </a:r>
            <a:r>
              <a:rPr lang="pl-PL" dirty="0"/>
              <a:t> – służy do dodawania efektów takich jak:</a:t>
            </a:r>
          </a:p>
          <a:p>
            <a:pPr>
              <a:buFontTx/>
              <a:buChar char="-"/>
            </a:pPr>
            <a:r>
              <a:rPr lang="pl-PL" dirty="0" err="1"/>
              <a:t>none</a:t>
            </a:r>
            <a:r>
              <a:rPr lang="pl-PL" dirty="0"/>
              <a:t> – tekst bez zmian</a:t>
            </a:r>
          </a:p>
          <a:p>
            <a:pPr>
              <a:buFontTx/>
              <a:buChar char="-"/>
            </a:pPr>
            <a:r>
              <a:rPr lang="pl-PL" dirty="0" err="1"/>
              <a:t>underline</a:t>
            </a:r>
            <a:r>
              <a:rPr lang="pl-PL" dirty="0"/>
              <a:t> – tekst podkreślony</a:t>
            </a:r>
          </a:p>
          <a:p>
            <a:pPr>
              <a:buFontTx/>
              <a:buChar char="-"/>
            </a:pPr>
            <a:r>
              <a:rPr lang="pl-PL" dirty="0" err="1"/>
              <a:t>overline</a:t>
            </a:r>
            <a:r>
              <a:rPr lang="pl-PL" dirty="0"/>
              <a:t> – linia umieszczona nad tekstem</a:t>
            </a:r>
          </a:p>
          <a:p>
            <a:pPr>
              <a:buFontTx/>
              <a:buChar char="-"/>
            </a:pPr>
            <a:r>
              <a:rPr lang="pl-PL" dirty="0" err="1"/>
              <a:t>line-through</a:t>
            </a:r>
            <a:r>
              <a:rPr lang="pl-PL" dirty="0"/>
              <a:t> – tekst przekreślony</a:t>
            </a:r>
          </a:p>
          <a:p>
            <a:pPr>
              <a:buFontTx/>
              <a:buChar char="-"/>
            </a:pPr>
            <a:r>
              <a:rPr lang="pl-PL" dirty="0" err="1"/>
              <a:t>blink</a:t>
            </a:r>
            <a:r>
              <a:rPr lang="pl-PL" dirty="0"/>
              <a:t> – migotanie tekstu</a:t>
            </a:r>
          </a:p>
          <a:p>
            <a:pPr marL="0" indent="0">
              <a:buNone/>
            </a:pPr>
            <a:r>
              <a:rPr lang="pl-PL" dirty="0"/>
              <a:t>np. p{</a:t>
            </a:r>
            <a:r>
              <a:rPr lang="pl-PL" dirty="0" err="1"/>
              <a:t>text-decoration</a:t>
            </a:r>
            <a:r>
              <a:rPr lang="pl-PL" dirty="0"/>
              <a:t>: </a:t>
            </a:r>
            <a:r>
              <a:rPr lang="pl-PL" dirty="0" err="1"/>
              <a:t>underline</a:t>
            </a:r>
            <a:r>
              <a:rPr lang="pl-PL" dirty="0"/>
              <a:t>;}</a:t>
            </a:r>
          </a:p>
          <a:p>
            <a:pPr marL="0" indent="0">
              <a:buNone/>
            </a:pPr>
            <a:r>
              <a:rPr lang="pl-PL" dirty="0"/>
              <a:t>można też łączyć</a:t>
            </a:r>
          </a:p>
          <a:p>
            <a:pPr marL="0" indent="0">
              <a:buNone/>
            </a:pPr>
            <a:r>
              <a:rPr lang="pl-PL" dirty="0"/>
              <a:t>np. p{</a:t>
            </a:r>
            <a:r>
              <a:rPr lang="pl-PL" dirty="0" err="1"/>
              <a:t>text-decoration</a:t>
            </a:r>
            <a:r>
              <a:rPr lang="pl-PL" dirty="0"/>
              <a:t>: </a:t>
            </a:r>
            <a:r>
              <a:rPr lang="pl-PL" dirty="0" err="1"/>
              <a:t>underline</a:t>
            </a:r>
            <a:r>
              <a:rPr lang="pl-PL" dirty="0"/>
              <a:t> </a:t>
            </a:r>
            <a:r>
              <a:rPr lang="pl-PL" dirty="0" err="1"/>
              <a:t>line-through</a:t>
            </a:r>
            <a:r>
              <a:rPr lang="pl-PL" dirty="0"/>
              <a:t> </a:t>
            </a:r>
            <a:r>
              <a:rPr lang="pl-PL" dirty="0" err="1"/>
              <a:t>blink</a:t>
            </a:r>
            <a:r>
              <a:rPr lang="pl-PL" dirty="0"/>
              <a:t>;}</a:t>
            </a:r>
          </a:p>
          <a:p>
            <a:pPr marL="0" indent="0">
              <a:buNone/>
            </a:pPr>
            <a:endParaRPr lang="pl-PL" dirty="0"/>
          </a:p>
          <a:p>
            <a:pPr marL="0" indent="0">
              <a:buNone/>
            </a:pPr>
            <a:endParaRPr lang="pl-PL" dirty="0"/>
          </a:p>
        </p:txBody>
      </p:sp>
    </p:spTree>
    <p:extLst>
      <p:ext uri="{BB962C8B-B14F-4D97-AF65-F5344CB8AC3E}">
        <p14:creationId xmlns:p14="http://schemas.microsoft.com/office/powerpoint/2010/main" val="19865944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a:t>
            </a:r>
          </a:p>
        </p:txBody>
      </p:sp>
      <p:sp>
        <p:nvSpPr>
          <p:cNvPr id="3" name="Symbol zastępczy zawartości 2"/>
          <p:cNvSpPr>
            <a:spLocks noGrp="1"/>
          </p:cNvSpPr>
          <p:nvPr>
            <p:ph idx="1"/>
          </p:nvPr>
        </p:nvSpPr>
        <p:spPr/>
        <p:txBody>
          <a:bodyPr/>
          <a:lstStyle/>
          <a:p>
            <a:r>
              <a:rPr lang="pl-PL" dirty="0" err="1"/>
              <a:t>letter-spacing</a:t>
            </a:r>
            <a:r>
              <a:rPr lang="pl-PL" dirty="0"/>
              <a:t> – służy do definiowania odstępu między literami</a:t>
            </a:r>
          </a:p>
          <a:p>
            <a:r>
              <a:rPr lang="pl-PL" dirty="0" err="1"/>
              <a:t>word-spacing</a:t>
            </a:r>
            <a:r>
              <a:rPr lang="pl-PL" dirty="0"/>
              <a:t> – odstęp między wyrazami</a:t>
            </a:r>
          </a:p>
          <a:p>
            <a:pPr marL="0" indent="0">
              <a:buNone/>
            </a:pPr>
            <a:r>
              <a:rPr lang="pl-PL" dirty="0"/>
              <a:t>np. p{</a:t>
            </a:r>
            <a:r>
              <a:rPr lang="pl-PL" dirty="0" err="1"/>
              <a:t>letter-spacing</a:t>
            </a:r>
            <a:r>
              <a:rPr lang="pl-PL" dirty="0"/>
              <a:t>: 3px;</a:t>
            </a:r>
          </a:p>
          <a:p>
            <a:pPr marL="0" indent="0">
              <a:buNone/>
            </a:pPr>
            <a:r>
              <a:rPr lang="pl-PL" dirty="0"/>
              <a:t>	 </a:t>
            </a:r>
            <a:r>
              <a:rPr lang="pl-PL" dirty="0" err="1"/>
              <a:t>word-spacing</a:t>
            </a:r>
            <a:r>
              <a:rPr lang="pl-PL" dirty="0"/>
              <a:t>: 10px;}</a:t>
            </a:r>
          </a:p>
          <a:p>
            <a:pPr marL="0" indent="0">
              <a:buNone/>
            </a:pPr>
            <a:endParaRPr lang="pl-PL" dirty="0"/>
          </a:p>
        </p:txBody>
      </p:sp>
    </p:spTree>
    <p:extLst>
      <p:ext uri="{BB962C8B-B14F-4D97-AF65-F5344CB8AC3E}">
        <p14:creationId xmlns:p14="http://schemas.microsoft.com/office/powerpoint/2010/main" val="23090273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a:t>
            </a:r>
          </a:p>
        </p:txBody>
      </p:sp>
      <p:sp>
        <p:nvSpPr>
          <p:cNvPr id="3" name="Symbol zastępczy zawartości 2"/>
          <p:cNvSpPr>
            <a:spLocks noGrp="1"/>
          </p:cNvSpPr>
          <p:nvPr>
            <p:ph idx="1"/>
          </p:nvPr>
        </p:nvSpPr>
        <p:spPr/>
        <p:txBody>
          <a:bodyPr>
            <a:normAutofit/>
          </a:bodyPr>
          <a:lstStyle/>
          <a:p>
            <a:r>
              <a:rPr lang="pl-PL" dirty="0" err="1"/>
              <a:t>text-transform</a:t>
            </a:r>
            <a:r>
              <a:rPr lang="pl-PL" dirty="0"/>
              <a:t> – służy do ustawiania wielkości liter tekst, dokonuje ich transformacji</a:t>
            </a:r>
          </a:p>
          <a:p>
            <a:pPr>
              <a:buFontTx/>
              <a:buChar char="-"/>
            </a:pPr>
            <a:r>
              <a:rPr lang="pl-PL" dirty="0" err="1"/>
              <a:t>capitalize</a:t>
            </a:r>
            <a:r>
              <a:rPr lang="pl-PL" dirty="0"/>
              <a:t> – zamienia wszystkie pierwsze małe litery wyrazów na duże</a:t>
            </a:r>
          </a:p>
          <a:p>
            <a:pPr>
              <a:buFontTx/>
              <a:buChar char="-"/>
            </a:pPr>
            <a:r>
              <a:rPr lang="pl-PL" dirty="0" err="1"/>
              <a:t>uppercase</a:t>
            </a:r>
            <a:r>
              <a:rPr lang="pl-PL" dirty="0"/>
              <a:t> – zamienia wszystkie litery na wielkie</a:t>
            </a:r>
          </a:p>
          <a:p>
            <a:pPr>
              <a:buFontTx/>
              <a:buChar char="-"/>
            </a:pPr>
            <a:r>
              <a:rPr lang="pl-PL" dirty="0" err="1"/>
              <a:t>lowercase</a:t>
            </a:r>
            <a:r>
              <a:rPr lang="pl-PL" dirty="0"/>
              <a:t> – zamienia wszystkie litery na małe</a:t>
            </a:r>
          </a:p>
          <a:p>
            <a:pPr>
              <a:buFontTx/>
              <a:buChar char="-"/>
            </a:pPr>
            <a:r>
              <a:rPr lang="pl-PL" dirty="0" err="1"/>
              <a:t>none</a:t>
            </a:r>
            <a:r>
              <a:rPr lang="pl-PL" dirty="0"/>
              <a:t> – bez transformacji</a:t>
            </a:r>
          </a:p>
        </p:txBody>
      </p:sp>
    </p:spTree>
    <p:extLst>
      <p:ext uri="{BB962C8B-B14F-4D97-AF65-F5344CB8AC3E}">
        <p14:creationId xmlns:p14="http://schemas.microsoft.com/office/powerpoint/2010/main" val="11865987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 – białe znaki</a:t>
            </a:r>
          </a:p>
        </p:txBody>
      </p:sp>
      <p:sp>
        <p:nvSpPr>
          <p:cNvPr id="3" name="Symbol zastępczy zawartości 2"/>
          <p:cNvSpPr>
            <a:spLocks noGrp="1"/>
          </p:cNvSpPr>
          <p:nvPr>
            <p:ph idx="1"/>
          </p:nvPr>
        </p:nvSpPr>
        <p:spPr/>
        <p:txBody>
          <a:bodyPr/>
          <a:lstStyle/>
          <a:p>
            <a:r>
              <a:rPr lang="pl-PL" dirty="0" err="1"/>
              <a:t>white-space</a:t>
            </a:r>
            <a:r>
              <a:rPr lang="pl-PL" dirty="0"/>
              <a:t> – służy do sterowania wyświetlaniem na stronie spacji oraz innych białych znaków. Wstawianie w kodzie kilku spacji obok siebie spowoduje zamianę na pojedynczą spację. Również wystąpienie spacji na początku tekstu jest niemożliwe. Atrybut </a:t>
            </a:r>
            <a:r>
              <a:rPr lang="pl-PL" dirty="0" err="1"/>
              <a:t>white-space</a:t>
            </a:r>
            <a:r>
              <a:rPr lang="pl-PL" dirty="0"/>
              <a:t> pozwoli pozbyć się tych niedogodności.</a:t>
            </a:r>
          </a:p>
        </p:txBody>
      </p:sp>
    </p:spTree>
    <p:extLst>
      <p:ext uri="{BB962C8B-B14F-4D97-AF65-F5344CB8AC3E}">
        <p14:creationId xmlns:p14="http://schemas.microsoft.com/office/powerpoint/2010/main" val="8809435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 – białe znaki</a:t>
            </a:r>
            <a:endParaRPr lang="pl-PL" b="1" dirty="0"/>
          </a:p>
        </p:txBody>
      </p:sp>
      <p:sp>
        <p:nvSpPr>
          <p:cNvPr id="3" name="Symbol zastępczy zawartości 2"/>
          <p:cNvSpPr>
            <a:spLocks noGrp="1"/>
          </p:cNvSpPr>
          <p:nvPr>
            <p:ph idx="1"/>
          </p:nvPr>
        </p:nvSpPr>
        <p:spPr/>
        <p:txBody>
          <a:bodyPr>
            <a:normAutofit fontScale="92500"/>
          </a:bodyPr>
          <a:lstStyle/>
          <a:p>
            <a:r>
              <a:rPr lang="pl-PL" dirty="0" err="1"/>
              <a:t>normal</a:t>
            </a:r>
            <a:r>
              <a:rPr lang="pl-PL" dirty="0"/>
              <a:t> – zamienia kilka sąsiednich spacji na jedną. Wiersze tekstu są przełamywane automatycznie.</a:t>
            </a:r>
          </a:p>
          <a:p>
            <a:r>
              <a:rPr lang="pl-PL" dirty="0" err="1"/>
              <a:t>pre</a:t>
            </a:r>
            <a:r>
              <a:rPr lang="pl-PL" dirty="0"/>
              <a:t> – umożliwia wyświetlanie kilku spacji obok siebie. Wiersze tekstu są przełamywane w momencie wystąpienia znaku nowej linii (</a:t>
            </a:r>
            <a:r>
              <a:rPr lang="pl-PL" dirty="0" err="1"/>
              <a:t>Enter</a:t>
            </a:r>
            <a:r>
              <a:rPr lang="pl-PL" dirty="0"/>
              <a:t>)</a:t>
            </a:r>
          </a:p>
          <a:p>
            <a:r>
              <a:rPr lang="pl-PL" dirty="0" err="1"/>
              <a:t>nowrap</a:t>
            </a:r>
            <a:r>
              <a:rPr lang="pl-PL" dirty="0"/>
              <a:t> – zamienia kilka sąsiednich spacji na jedną. Wiersze tekstu są przełamywane w miejscu wystąpienia znacznika &lt;</a:t>
            </a:r>
            <a:r>
              <a:rPr lang="pl-PL" dirty="0" err="1"/>
              <a:t>br</a:t>
            </a:r>
            <a:r>
              <a:rPr lang="pl-PL" dirty="0"/>
              <a:t>&gt;.</a:t>
            </a:r>
          </a:p>
        </p:txBody>
      </p:sp>
    </p:spTree>
    <p:extLst>
      <p:ext uri="{BB962C8B-B14F-4D97-AF65-F5344CB8AC3E}">
        <p14:creationId xmlns:p14="http://schemas.microsoft.com/office/powerpoint/2010/main" val="14289674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tekstu – białe znaki</a:t>
            </a:r>
          </a:p>
        </p:txBody>
      </p:sp>
      <p:sp>
        <p:nvSpPr>
          <p:cNvPr id="3" name="Symbol zastępczy zawartości 2"/>
          <p:cNvSpPr>
            <a:spLocks noGrp="1"/>
          </p:cNvSpPr>
          <p:nvPr>
            <p:ph idx="1"/>
          </p:nvPr>
        </p:nvSpPr>
        <p:spPr/>
        <p:txBody>
          <a:bodyPr>
            <a:normAutofit fontScale="92500" lnSpcReduction="20000"/>
          </a:bodyPr>
          <a:lstStyle/>
          <a:p>
            <a:r>
              <a:rPr lang="pl-PL" dirty="0" err="1"/>
              <a:t>pre-wrap</a:t>
            </a:r>
            <a:r>
              <a:rPr lang="pl-PL" dirty="0"/>
              <a:t> – umożliwia wyświetlenie kilku spacji obok siebie. Wiersze tekstu są przełamywane w miejscu wystąpienia znaku nowej linii (</a:t>
            </a:r>
            <a:r>
              <a:rPr lang="pl-PL" dirty="0" err="1"/>
              <a:t>Enter</a:t>
            </a:r>
            <a:r>
              <a:rPr lang="pl-PL" dirty="0"/>
              <a:t>) oraz automatycznie na końcu szerokości strony.</a:t>
            </a:r>
          </a:p>
          <a:p>
            <a:r>
              <a:rPr lang="pl-PL" dirty="0" err="1"/>
              <a:t>pre-line</a:t>
            </a:r>
            <a:r>
              <a:rPr lang="pl-PL" dirty="0"/>
              <a:t> – zamienia kilka spacji na jedną. Wiersze tekstu są przełamywane w miejscu wystąpienia znaku nowej linii (</a:t>
            </a:r>
            <a:r>
              <a:rPr lang="pl-PL" dirty="0" err="1"/>
              <a:t>Enter</a:t>
            </a:r>
            <a:r>
              <a:rPr lang="pl-PL" dirty="0"/>
              <a:t>) oraz automatycznie na końcu szerokości strony.</a:t>
            </a:r>
          </a:p>
          <a:p>
            <a:endParaRPr lang="pl-PL" dirty="0"/>
          </a:p>
          <a:p>
            <a:pPr marL="0" indent="0">
              <a:buNone/>
            </a:pPr>
            <a:r>
              <a:rPr lang="pl-PL" dirty="0"/>
              <a:t>Czasem zdarza się że nie wszystkie przeglądarki prawidłowo interpretują ten atrybut.</a:t>
            </a:r>
          </a:p>
        </p:txBody>
      </p:sp>
    </p:spTree>
    <p:extLst>
      <p:ext uri="{BB962C8B-B14F-4D97-AF65-F5344CB8AC3E}">
        <p14:creationId xmlns:p14="http://schemas.microsoft.com/office/powerpoint/2010/main" val="5917806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normAutofit fontScale="92500" lnSpcReduction="10000"/>
          </a:bodyPr>
          <a:lstStyle/>
          <a:p>
            <a:r>
              <a:rPr lang="pl-PL" dirty="0" err="1"/>
              <a:t>background-color</a:t>
            </a:r>
            <a:r>
              <a:rPr lang="pl-PL" dirty="0"/>
              <a:t> – definiowanie koloru tła</a:t>
            </a:r>
          </a:p>
          <a:p>
            <a:pPr marL="0" indent="0">
              <a:buNone/>
            </a:pPr>
            <a:r>
              <a:rPr lang="pl-PL" dirty="0"/>
              <a:t>body{</a:t>
            </a:r>
          </a:p>
          <a:p>
            <a:pPr marL="0" indent="0">
              <a:buNone/>
            </a:pPr>
            <a:r>
              <a:rPr lang="pl-PL" dirty="0" err="1"/>
              <a:t>background-color</a:t>
            </a:r>
            <a:r>
              <a:rPr lang="pl-PL" dirty="0"/>
              <a:t>: red;</a:t>
            </a:r>
          </a:p>
          <a:p>
            <a:pPr marL="0" indent="0">
              <a:buNone/>
            </a:pPr>
            <a:r>
              <a:rPr lang="pl-PL" dirty="0"/>
              <a:t>}</a:t>
            </a:r>
          </a:p>
          <a:p>
            <a:r>
              <a:rPr lang="pl-PL" dirty="0" err="1"/>
              <a:t>background</a:t>
            </a:r>
            <a:r>
              <a:rPr lang="pl-PL" dirty="0"/>
              <a:t>-image: </a:t>
            </a:r>
            <a:r>
              <a:rPr lang="pl-PL" dirty="0" err="1"/>
              <a:t>url</a:t>
            </a:r>
            <a:r>
              <a:rPr lang="pl-PL" dirty="0"/>
              <a:t>(”zdjecie.jpg”) – definiowanie obrazka tła</a:t>
            </a:r>
          </a:p>
          <a:p>
            <a:pPr marL="0" indent="0">
              <a:buNone/>
            </a:pPr>
            <a:r>
              <a:rPr lang="en-US" dirty="0"/>
              <a:t>body{</a:t>
            </a:r>
          </a:p>
          <a:p>
            <a:pPr marL="0" indent="0">
              <a:buNone/>
            </a:pPr>
            <a:r>
              <a:rPr lang="en-US" dirty="0"/>
              <a:t>background-image: </a:t>
            </a:r>
            <a:r>
              <a:rPr lang="en-US" dirty="0" err="1"/>
              <a:t>url</a:t>
            </a:r>
            <a:r>
              <a:rPr lang="en-US" dirty="0"/>
              <a:t>("kot.jpg");</a:t>
            </a:r>
          </a:p>
          <a:p>
            <a:pPr marL="0" indent="0">
              <a:buNone/>
            </a:pPr>
            <a:r>
              <a:rPr lang="en-US" dirty="0"/>
              <a:t>}</a:t>
            </a:r>
            <a:endParaRPr lang="pl-PL" dirty="0"/>
          </a:p>
        </p:txBody>
      </p:sp>
    </p:spTree>
    <p:extLst>
      <p:ext uri="{BB962C8B-B14F-4D97-AF65-F5344CB8AC3E}">
        <p14:creationId xmlns:p14="http://schemas.microsoft.com/office/powerpoint/2010/main" val="8988459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Sposób przetwarzania grafiki w tle możemy określić atrybutem </a:t>
            </a:r>
            <a:r>
              <a:rPr lang="pl-PL" dirty="0" err="1"/>
              <a:t>background-repeat</a:t>
            </a:r>
            <a:r>
              <a:rPr lang="pl-PL" dirty="0"/>
              <a:t>.</a:t>
            </a:r>
          </a:p>
          <a:p>
            <a:pPr marL="0" indent="0">
              <a:buNone/>
            </a:pPr>
            <a:r>
              <a:rPr lang="pl-PL" dirty="0" err="1"/>
              <a:t>repeat</a:t>
            </a:r>
            <a:r>
              <a:rPr lang="pl-PL" dirty="0"/>
              <a:t> – powtarzanie tła w obu kierunkach</a:t>
            </a:r>
          </a:p>
          <a:p>
            <a:pPr marL="0" indent="0">
              <a:buNone/>
            </a:pPr>
            <a:r>
              <a:rPr lang="pl-PL" dirty="0" err="1"/>
              <a:t>repeat</a:t>
            </a:r>
            <a:r>
              <a:rPr lang="pl-PL" dirty="0"/>
              <a:t>-x – powtarzanie tła tylko w kierunku poziomym</a:t>
            </a:r>
          </a:p>
          <a:p>
            <a:pPr marL="0" indent="0">
              <a:buNone/>
            </a:pPr>
            <a:r>
              <a:rPr lang="pl-PL" dirty="0" err="1"/>
              <a:t>repeat</a:t>
            </a:r>
            <a:r>
              <a:rPr lang="pl-PL" dirty="0"/>
              <a:t>-y – powtarzanie tła tylko w kierunku pionowym</a:t>
            </a:r>
          </a:p>
          <a:p>
            <a:pPr marL="0" indent="0">
              <a:buNone/>
            </a:pPr>
            <a:r>
              <a:rPr lang="pl-PL" dirty="0"/>
              <a:t>no-</a:t>
            </a:r>
            <a:r>
              <a:rPr lang="pl-PL" dirty="0" err="1"/>
              <a:t>repeat</a:t>
            </a:r>
            <a:r>
              <a:rPr lang="pl-PL" dirty="0"/>
              <a:t> – brak powtarzania tła</a:t>
            </a:r>
          </a:p>
          <a:p>
            <a:pPr marL="0" indent="0">
              <a:buNone/>
            </a:pPr>
            <a:r>
              <a:rPr lang="pl-PL" dirty="0"/>
              <a:t>np.</a:t>
            </a:r>
            <a:r>
              <a:rPr lang="en-US" dirty="0"/>
              <a:t> body{</a:t>
            </a:r>
          </a:p>
          <a:p>
            <a:pPr marL="0" indent="0">
              <a:buNone/>
            </a:pPr>
            <a:r>
              <a:rPr lang="en-US" dirty="0"/>
              <a:t>background-image: </a:t>
            </a:r>
            <a:r>
              <a:rPr lang="en-US" dirty="0" err="1"/>
              <a:t>url</a:t>
            </a:r>
            <a:r>
              <a:rPr lang="en-US" dirty="0"/>
              <a:t>("kot.jpg");</a:t>
            </a:r>
          </a:p>
          <a:p>
            <a:pPr marL="0" indent="0">
              <a:buNone/>
            </a:pPr>
            <a:r>
              <a:rPr lang="pl-PL" dirty="0" err="1"/>
              <a:t>background-repeat</a:t>
            </a:r>
            <a:r>
              <a:rPr lang="pl-PL" dirty="0"/>
              <a:t>: no-</a:t>
            </a:r>
            <a:r>
              <a:rPr lang="pl-PL" dirty="0" err="1"/>
              <a:t>repeat</a:t>
            </a:r>
            <a:r>
              <a:rPr lang="pl-PL" dirty="0"/>
              <a:t>;</a:t>
            </a:r>
          </a:p>
          <a:p>
            <a:pPr marL="0" indent="0">
              <a:buNone/>
            </a:pPr>
            <a:r>
              <a:rPr lang="en-US" dirty="0"/>
              <a:t>}</a:t>
            </a:r>
            <a:endParaRPr lang="pl-PL" dirty="0"/>
          </a:p>
          <a:p>
            <a:pPr marL="0" indent="0">
              <a:buNone/>
            </a:pPr>
            <a:endParaRPr lang="pl-PL" dirty="0"/>
          </a:p>
          <a:p>
            <a:pPr marL="0" indent="0">
              <a:buNone/>
            </a:pPr>
            <a:endParaRPr lang="pl-PL" dirty="0"/>
          </a:p>
        </p:txBody>
      </p:sp>
    </p:spTree>
    <p:extLst>
      <p:ext uri="{BB962C8B-B14F-4D97-AF65-F5344CB8AC3E}">
        <p14:creationId xmlns:p14="http://schemas.microsoft.com/office/powerpoint/2010/main" val="2453219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Aby zablokować grafikę w tle należy użyć atrybutu: </a:t>
            </a:r>
            <a:r>
              <a:rPr lang="pl-PL" dirty="0" err="1"/>
              <a:t>background-attachment</a:t>
            </a:r>
            <a:endParaRPr lang="pl-PL" dirty="0"/>
          </a:p>
          <a:p>
            <a:pPr marL="0" indent="0">
              <a:buNone/>
            </a:pPr>
            <a:r>
              <a:rPr lang="pl-PL" dirty="0"/>
              <a:t>opcje:</a:t>
            </a:r>
          </a:p>
          <a:p>
            <a:pPr marL="0" indent="0">
              <a:buNone/>
            </a:pPr>
            <a:r>
              <a:rPr lang="pl-PL" dirty="0" err="1"/>
              <a:t>scroll</a:t>
            </a:r>
            <a:r>
              <a:rPr lang="pl-PL" dirty="0"/>
              <a:t> – przewijanie tła</a:t>
            </a:r>
          </a:p>
          <a:p>
            <a:pPr marL="0" indent="0">
              <a:buNone/>
            </a:pPr>
            <a:r>
              <a:rPr lang="pl-PL" dirty="0" err="1"/>
              <a:t>fixed</a:t>
            </a:r>
            <a:r>
              <a:rPr lang="pl-PL" dirty="0"/>
              <a:t> – tło jest nieruchome względem okna przeglądarki</a:t>
            </a:r>
          </a:p>
          <a:p>
            <a:pPr marL="0" indent="0">
              <a:buNone/>
            </a:pPr>
            <a:r>
              <a:rPr lang="pl-PL" dirty="0" err="1"/>
              <a:t>local</a:t>
            </a:r>
            <a:r>
              <a:rPr lang="pl-PL" dirty="0"/>
              <a:t> – tło nieruchome względem elementu dla którego zostało zdefiniowane</a:t>
            </a:r>
          </a:p>
          <a:p>
            <a:pPr marL="0" indent="0">
              <a:buNone/>
            </a:pPr>
            <a:r>
              <a:rPr lang="pl-PL" dirty="0"/>
              <a:t>body{</a:t>
            </a:r>
          </a:p>
          <a:p>
            <a:pPr marL="0" indent="0">
              <a:buNone/>
            </a:pPr>
            <a:r>
              <a:rPr lang="pl-PL" dirty="0" err="1"/>
              <a:t>background-attachment</a:t>
            </a:r>
            <a:r>
              <a:rPr lang="pl-PL" dirty="0"/>
              <a:t>: </a:t>
            </a:r>
            <a:r>
              <a:rPr lang="pl-PL" dirty="0" err="1"/>
              <a:t>fixed</a:t>
            </a:r>
            <a:endParaRPr lang="pl-PL" dirty="0"/>
          </a:p>
          <a:p>
            <a:pPr marL="0" indent="0">
              <a:buNone/>
            </a:pPr>
            <a:r>
              <a:rPr lang="pl-PL" dirty="0"/>
              <a:t>}</a:t>
            </a:r>
          </a:p>
        </p:txBody>
      </p:sp>
    </p:spTree>
    <p:extLst>
      <p:ext uri="{BB962C8B-B14F-4D97-AF65-F5344CB8AC3E}">
        <p14:creationId xmlns:p14="http://schemas.microsoft.com/office/powerpoint/2010/main" val="20137605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Pozycję tła strony można określić przy pomocy argumentu </a:t>
            </a:r>
            <a:r>
              <a:rPr lang="pl-PL" dirty="0" err="1"/>
              <a:t>background-position</a:t>
            </a:r>
            <a:r>
              <a:rPr lang="pl-PL" dirty="0"/>
              <a:t>. Argument może przyjąć jedną lub dwie wartości.</a:t>
            </a:r>
          </a:p>
          <a:p>
            <a:pPr marL="0" indent="0">
              <a:buNone/>
            </a:pPr>
            <a:r>
              <a:rPr lang="pl-PL" dirty="0"/>
              <a:t>jedna wartość:</a:t>
            </a:r>
          </a:p>
          <a:p>
            <a:pPr marL="0" indent="0">
              <a:buNone/>
            </a:pPr>
            <a:r>
              <a:rPr lang="pl-PL" dirty="0" err="1"/>
              <a:t>center</a:t>
            </a:r>
            <a:r>
              <a:rPr lang="pl-PL" dirty="0"/>
              <a:t> – środek</a:t>
            </a:r>
          </a:p>
          <a:p>
            <a:pPr marL="0" indent="0">
              <a:buNone/>
            </a:pPr>
            <a:r>
              <a:rPr lang="pl-PL" dirty="0" err="1"/>
              <a:t>left</a:t>
            </a:r>
            <a:r>
              <a:rPr lang="pl-PL" dirty="0"/>
              <a:t> – lewo</a:t>
            </a:r>
          </a:p>
          <a:p>
            <a:pPr marL="0" indent="0">
              <a:buNone/>
            </a:pPr>
            <a:r>
              <a:rPr lang="pl-PL" dirty="0" err="1"/>
              <a:t>right</a:t>
            </a:r>
            <a:r>
              <a:rPr lang="pl-PL" dirty="0"/>
              <a:t> – prawo</a:t>
            </a:r>
          </a:p>
          <a:p>
            <a:pPr marL="0" indent="0">
              <a:buNone/>
            </a:pPr>
            <a:r>
              <a:rPr lang="pl-PL" dirty="0"/>
              <a:t>top – góra strony</a:t>
            </a:r>
          </a:p>
          <a:p>
            <a:pPr marL="0" indent="0">
              <a:buNone/>
            </a:pPr>
            <a:r>
              <a:rPr lang="pl-PL" dirty="0" err="1"/>
              <a:t>bottom</a:t>
            </a:r>
            <a:r>
              <a:rPr lang="pl-PL" dirty="0"/>
              <a:t> – dół strony</a:t>
            </a:r>
          </a:p>
          <a:p>
            <a:pPr marL="0" indent="0">
              <a:buNone/>
            </a:pPr>
            <a:r>
              <a:rPr lang="pl-PL" dirty="0"/>
              <a:t>30px – 30 pikseli odstępu od lewego marginesu strony</a:t>
            </a:r>
          </a:p>
        </p:txBody>
      </p:sp>
    </p:spTree>
    <p:extLst>
      <p:ext uri="{BB962C8B-B14F-4D97-AF65-F5344CB8AC3E}">
        <p14:creationId xmlns:p14="http://schemas.microsoft.com/office/powerpoint/2010/main" val="37871032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lstStyle/>
          <a:p>
            <a:pPr marL="0" indent="0">
              <a:buNone/>
            </a:pPr>
            <a:r>
              <a:rPr lang="pl-PL" dirty="0"/>
              <a:t>Dwie wartości:</a:t>
            </a:r>
          </a:p>
          <a:p>
            <a:pPr marL="0" indent="0">
              <a:buNone/>
            </a:pPr>
            <a:r>
              <a:rPr lang="pl-PL" dirty="0" err="1"/>
              <a:t>left</a:t>
            </a:r>
            <a:r>
              <a:rPr lang="pl-PL" dirty="0"/>
              <a:t> top – lewy górny róg strony</a:t>
            </a:r>
          </a:p>
          <a:p>
            <a:pPr marL="0" indent="0">
              <a:buNone/>
            </a:pPr>
            <a:r>
              <a:rPr lang="pl-PL" dirty="0" err="1"/>
              <a:t>left</a:t>
            </a:r>
            <a:r>
              <a:rPr lang="pl-PL" dirty="0"/>
              <a:t> </a:t>
            </a:r>
            <a:r>
              <a:rPr lang="pl-PL" dirty="0" err="1"/>
              <a:t>bottom</a:t>
            </a:r>
            <a:r>
              <a:rPr lang="pl-PL" dirty="0"/>
              <a:t> – lewy dolny róg strony</a:t>
            </a:r>
          </a:p>
          <a:p>
            <a:pPr marL="0" indent="0">
              <a:buNone/>
            </a:pPr>
            <a:r>
              <a:rPr lang="pl-PL" dirty="0" err="1"/>
              <a:t>center</a:t>
            </a:r>
            <a:r>
              <a:rPr lang="pl-PL" dirty="0"/>
              <a:t> top – środek górny</a:t>
            </a:r>
          </a:p>
          <a:p>
            <a:pPr marL="0" indent="0">
              <a:buNone/>
            </a:pPr>
            <a:r>
              <a:rPr lang="pl-PL" dirty="0"/>
              <a:t>itp.</a:t>
            </a:r>
          </a:p>
          <a:p>
            <a:pPr marL="0" indent="0">
              <a:buNone/>
            </a:pPr>
            <a:endParaRPr lang="pl-PL" dirty="0"/>
          </a:p>
        </p:txBody>
      </p:sp>
    </p:spTree>
    <p:extLst>
      <p:ext uri="{BB962C8B-B14F-4D97-AF65-F5344CB8AC3E}">
        <p14:creationId xmlns:p14="http://schemas.microsoft.com/office/powerpoint/2010/main" val="22946994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Tło i kolor</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Usunięcie tła może zostać wykonane przy pomocy atrybutu </a:t>
            </a:r>
            <a:r>
              <a:rPr lang="pl-PL" dirty="0" err="1"/>
              <a:t>background</a:t>
            </a:r>
            <a:r>
              <a:rPr lang="pl-PL" dirty="0"/>
              <a:t>: </a:t>
            </a:r>
            <a:r>
              <a:rPr lang="pl-PL" dirty="0" err="1"/>
              <a:t>none</a:t>
            </a:r>
            <a:r>
              <a:rPr lang="pl-PL" dirty="0"/>
              <a:t>;</a:t>
            </a:r>
          </a:p>
          <a:p>
            <a:pPr marL="0" indent="0">
              <a:buNone/>
            </a:pPr>
            <a:endParaRPr lang="pl-PL" dirty="0"/>
          </a:p>
          <a:p>
            <a:pPr marL="0" indent="0">
              <a:buNone/>
            </a:pPr>
            <a:r>
              <a:rPr lang="pl-PL" dirty="0"/>
              <a:t>Możliwe jest również podanie wszystkich wartości atrybutu </a:t>
            </a:r>
            <a:r>
              <a:rPr lang="pl-PL" dirty="0" err="1"/>
              <a:t>background</a:t>
            </a:r>
            <a:r>
              <a:rPr lang="pl-PL" dirty="0"/>
              <a:t> ale należy wykonać to w odpowiedniej kolejności </a:t>
            </a:r>
          </a:p>
          <a:p>
            <a:pPr marL="0" indent="0">
              <a:buNone/>
            </a:pPr>
            <a:r>
              <a:rPr lang="pl-PL" dirty="0"/>
              <a:t>body{</a:t>
            </a:r>
          </a:p>
          <a:p>
            <a:pPr marL="0" indent="0">
              <a:buNone/>
            </a:pPr>
            <a:r>
              <a:rPr lang="pl-PL" dirty="0" err="1"/>
              <a:t>background</a:t>
            </a:r>
            <a:r>
              <a:rPr lang="pl-PL" dirty="0"/>
              <a:t>: kolor </a:t>
            </a:r>
            <a:r>
              <a:rPr lang="pl-PL" dirty="0" err="1"/>
              <a:t>tło_obrazkowe</a:t>
            </a:r>
            <a:r>
              <a:rPr lang="pl-PL" dirty="0"/>
              <a:t> powtarzanie </a:t>
            </a:r>
            <a:r>
              <a:rPr lang="pl-PL" dirty="0" err="1"/>
              <a:t>blokada_tła</a:t>
            </a:r>
            <a:r>
              <a:rPr lang="pl-PL" dirty="0"/>
              <a:t> pozycja;</a:t>
            </a:r>
          </a:p>
          <a:p>
            <a:pPr marL="0" indent="0">
              <a:buNone/>
            </a:pPr>
            <a:r>
              <a:rPr lang="pl-PL" dirty="0"/>
              <a:t>}</a:t>
            </a:r>
          </a:p>
          <a:p>
            <a:pPr marL="0" indent="0">
              <a:buNone/>
            </a:pPr>
            <a:r>
              <a:rPr lang="pl-PL" dirty="0"/>
              <a:t>Nie jest konieczne podawanie wszystkich wartości opuszczonym wartościom zostanie przypisana wartość domyślna. Nie wszystkie przeglądarki akceptują skrócony zapis.</a:t>
            </a:r>
          </a:p>
        </p:txBody>
      </p:sp>
    </p:spTree>
    <p:extLst>
      <p:ext uri="{BB962C8B-B14F-4D97-AF65-F5344CB8AC3E}">
        <p14:creationId xmlns:p14="http://schemas.microsoft.com/office/powerpoint/2010/main" val="28610749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700808"/>
            <a:ext cx="8146622"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665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a:t>Wszystkie elementy w języku HTML są traktowane jako prostokątne bloki, każdy z nich ma marginesy, obramowanie, wypełnienie i zawartość. </a:t>
            </a:r>
          </a:p>
          <a:p>
            <a:pPr marL="0" indent="0">
              <a:buNone/>
            </a:pPr>
            <a:r>
              <a:rPr lang="pl-PL" dirty="0" err="1"/>
              <a:t>Margin</a:t>
            </a:r>
            <a:r>
              <a:rPr lang="pl-PL" dirty="0"/>
              <a:t> – Jest to pusty obszar wokół ramki, nie ma koloru tła i jest przezroczysty.</a:t>
            </a:r>
          </a:p>
          <a:p>
            <a:pPr marL="0" indent="0">
              <a:buNone/>
            </a:pPr>
            <a:r>
              <a:rPr lang="pl-PL" dirty="0" err="1"/>
              <a:t>Border</a:t>
            </a:r>
            <a:r>
              <a:rPr lang="pl-PL" dirty="0"/>
              <a:t> – obramowanie wokół zawartości elementu, ma styl i kolor.</a:t>
            </a:r>
          </a:p>
          <a:p>
            <a:pPr marL="0" indent="0">
              <a:buNone/>
            </a:pPr>
            <a:r>
              <a:rPr lang="pl-PL" dirty="0" err="1"/>
              <a:t>Padding</a:t>
            </a:r>
            <a:r>
              <a:rPr lang="pl-PL" dirty="0"/>
              <a:t> – odstęp między obramowaniem i zawartością elementu</a:t>
            </a:r>
          </a:p>
          <a:p>
            <a:pPr marL="0" indent="0">
              <a:buNone/>
            </a:pPr>
            <a:r>
              <a:rPr lang="pl-PL" dirty="0"/>
              <a:t>Content – zawartość elementu</a:t>
            </a:r>
          </a:p>
          <a:p>
            <a:pPr marL="0" indent="0">
              <a:buNone/>
            </a:pPr>
            <a:endParaRPr lang="pl-PL" dirty="0"/>
          </a:p>
        </p:txBody>
      </p:sp>
    </p:spTree>
    <p:extLst>
      <p:ext uri="{BB962C8B-B14F-4D97-AF65-F5344CB8AC3E}">
        <p14:creationId xmlns:p14="http://schemas.microsoft.com/office/powerpoint/2010/main" val="40023674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Szerokość obramowania możemy ustawić przy pomocy atrybutu </a:t>
            </a:r>
            <a:r>
              <a:rPr lang="pl-PL" dirty="0" err="1"/>
              <a:t>border-width</a:t>
            </a:r>
            <a:r>
              <a:rPr lang="pl-PL" dirty="0"/>
              <a:t>. </a:t>
            </a:r>
          </a:p>
          <a:p>
            <a:pPr marL="0" indent="0">
              <a:buNone/>
            </a:pPr>
            <a:r>
              <a:rPr lang="pl-PL" dirty="0"/>
              <a:t>Opcje:</a:t>
            </a:r>
          </a:p>
          <a:p>
            <a:pPr marL="0" indent="0">
              <a:buNone/>
            </a:pPr>
            <a:r>
              <a:rPr lang="pl-PL" dirty="0"/>
              <a:t>Jedna wartość – szerokość dla wszystkich krawędzi</a:t>
            </a:r>
          </a:p>
          <a:p>
            <a:pPr marL="0" indent="0">
              <a:buNone/>
            </a:pPr>
            <a:r>
              <a:rPr lang="pl-PL" dirty="0"/>
              <a:t>Dwie wartości – taka sama szerokość dla krawędzi poziomych i pionowych</a:t>
            </a:r>
          </a:p>
          <a:p>
            <a:pPr marL="0" indent="0">
              <a:buNone/>
            </a:pPr>
            <a:r>
              <a:rPr lang="pl-PL" dirty="0"/>
              <a:t>Trzy wartości – pierwsza określa szerokość krawędzi górnej, druga krawędzi pionowych, trzecia krawędzi dolnej</a:t>
            </a:r>
          </a:p>
          <a:p>
            <a:pPr marL="0" indent="0">
              <a:buNone/>
            </a:pPr>
            <a:r>
              <a:rPr lang="pl-PL" dirty="0"/>
              <a:t>Cztery wartości – określenie szerokości dla każdej z krawędzi osobno</a:t>
            </a:r>
          </a:p>
          <a:p>
            <a:pPr marL="0" indent="0">
              <a:buNone/>
            </a:pPr>
            <a:r>
              <a:rPr lang="pl-PL" dirty="0"/>
              <a:t>p{</a:t>
            </a:r>
            <a:r>
              <a:rPr lang="pl-PL" dirty="0" err="1"/>
              <a:t>border-width</a:t>
            </a:r>
            <a:r>
              <a:rPr lang="pl-PL" dirty="0"/>
              <a:t>: 12px 10px 11px 8px} – określenie szerokości dla każdej krawędzi osobno</a:t>
            </a:r>
          </a:p>
          <a:p>
            <a:pPr marL="0" indent="0">
              <a:buNone/>
            </a:pPr>
            <a:endParaRPr lang="pl-PL" dirty="0"/>
          </a:p>
        </p:txBody>
      </p:sp>
    </p:spTree>
    <p:extLst>
      <p:ext uri="{BB962C8B-B14F-4D97-AF65-F5344CB8AC3E}">
        <p14:creationId xmlns:p14="http://schemas.microsoft.com/office/powerpoint/2010/main" val="7999077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lstStyle/>
          <a:p>
            <a:pPr marL="0" indent="0">
              <a:buNone/>
            </a:pPr>
            <a:r>
              <a:rPr lang="pl-PL" dirty="0"/>
              <a:t>Szerokość krawędzi może być definiowana przy pomocy dowolnych jednostek lub przy pomocy następujących wartości:</a:t>
            </a:r>
          </a:p>
          <a:p>
            <a:pPr>
              <a:buFontTx/>
              <a:buChar char="-"/>
            </a:pPr>
            <a:r>
              <a:rPr lang="pl-PL" dirty="0" err="1"/>
              <a:t>thin</a:t>
            </a:r>
            <a:r>
              <a:rPr lang="pl-PL" dirty="0"/>
              <a:t> – cienkie obramowanie</a:t>
            </a:r>
          </a:p>
          <a:p>
            <a:pPr>
              <a:buFontTx/>
              <a:buChar char="-"/>
            </a:pPr>
            <a:r>
              <a:rPr lang="pl-PL" dirty="0"/>
              <a:t>medium – średnie obramowanie</a:t>
            </a:r>
          </a:p>
          <a:p>
            <a:pPr>
              <a:buFontTx/>
              <a:buChar char="-"/>
            </a:pPr>
            <a:r>
              <a:rPr lang="pl-PL" dirty="0" err="1"/>
              <a:t>thick</a:t>
            </a:r>
            <a:r>
              <a:rPr lang="pl-PL" dirty="0"/>
              <a:t> – grube obramowanie</a:t>
            </a:r>
          </a:p>
        </p:txBody>
      </p:sp>
    </p:spTree>
    <p:extLst>
      <p:ext uri="{BB962C8B-B14F-4D97-AF65-F5344CB8AC3E}">
        <p14:creationId xmlns:p14="http://schemas.microsoft.com/office/powerpoint/2010/main" val="5195030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lstStyle/>
          <a:p>
            <a:pPr marL="0" indent="0">
              <a:buNone/>
            </a:pPr>
            <a:r>
              <a:rPr lang="pl-PL" dirty="0"/>
              <a:t>Można również definiować osobno szerokość poszczególnych krawędzi przy pomocy atrybutów:</a:t>
            </a:r>
          </a:p>
          <a:p>
            <a:pPr>
              <a:buFontTx/>
              <a:buChar char="-"/>
            </a:pPr>
            <a:r>
              <a:rPr lang="pl-PL" dirty="0" err="1"/>
              <a:t>border</a:t>
            </a:r>
            <a:r>
              <a:rPr lang="pl-PL" dirty="0"/>
              <a:t>-top-</a:t>
            </a:r>
            <a:r>
              <a:rPr lang="pl-PL" dirty="0" err="1"/>
              <a:t>width</a:t>
            </a:r>
            <a:r>
              <a:rPr lang="pl-PL" dirty="0"/>
              <a:t> – górna krawędź</a:t>
            </a:r>
          </a:p>
          <a:p>
            <a:pPr>
              <a:buFontTx/>
              <a:buChar char="-"/>
            </a:pPr>
            <a:r>
              <a:rPr lang="pl-PL" dirty="0" err="1"/>
              <a:t>border-bottom-width</a:t>
            </a:r>
            <a:r>
              <a:rPr lang="pl-PL" dirty="0"/>
              <a:t> – dolna krawędź</a:t>
            </a:r>
          </a:p>
          <a:p>
            <a:pPr>
              <a:buFontTx/>
              <a:buChar char="-"/>
            </a:pPr>
            <a:r>
              <a:rPr lang="pl-PL" dirty="0" err="1"/>
              <a:t>border-left-width</a:t>
            </a:r>
            <a:r>
              <a:rPr lang="pl-PL" dirty="0"/>
              <a:t> – lewa krawędź</a:t>
            </a:r>
          </a:p>
          <a:p>
            <a:pPr>
              <a:buFontTx/>
              <a:buChar char="-"/>
            </a:pPr>
            <a:r>
              <a:rPr lang="pl-PL" dirty="0" err="1"/>
              <a:t>border-right-width</a:t>
            </a:r>
            <a:r>
              <a:rPr lang="pl-PL" dirty="0"/>
              <a:t> – prawa krawędź</a:t>
            </a:r>
          </a:p>
          <a:p>
            <a:pPr marL="0" indent="0">
              <a:buNone/>
            </a:pPr>
            <a:endParaRPr lang="pl-PL" dirty="0"/>
          </a:p>
        </p:txBody>
      </p:sp>
    </p:spTree>
    <p:extLst>
      <p:ext uri="{BB962C8B-B14F-4D97-AF65-F5344CB8AC3E}">
        <p14:creationId xmlns:p14="http://schemas.microsoft.com/office/powerpoint/2010/main" val="10500942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a:t>Styl obramowania definiujemy za pomocą atrybutu </a:t>
            </a:r>
            <a:r>
              <a:rPr lang="pl-PL" dirty="0" err="1"/>
              <a:t>border</a:t>
            </a:r>
            <a:r>
              <a:rPr lang="pl-PL" dirty="0"/>
              <a:t>-style i możemy zrobić to podobnie jak w przypadku szerokości dla wszystkich krawędzi lub podając większą ilość dla poszczególnych krawędzi.</a:t>
            </a:r>
          </a:p>
          <a:p>
            <a:pPr>
              <a:buFontTx/>
              <a:buChar char="-"/>
            </a:pPr>
            <a:r>
              <a:rPr lang="pl-PL" dirty="0" err="1"/>
              <a:t>border</a:t>
            </a:r>
            <a:r>
              <a:rPr lang="pl-PL" dirty="0"/>
              <a:t>-style</a:t>
            </a:r>
          </a:p>
          <a:p>
            <a:pPr>
              <a:buFontTx/>
              <a:buChar char="-"/>
            </a:pPr>
            <a:r>
              <a:rPr lang="pl-PL" dirty="0" err="1"/>
              <a:t>border</a:t>
            </a:r>
            <a:r>
              <a:rPr lang="pl-PL" dirty="0"/>
              <a:t>-top-style</a:t>
            </a:r>
          </a:p>
          <a:p>
            <a:pPr>
              <a:buFontTx/>
              <a:buChar char="-"/>
            </a:pPr>
            <a:r>
              <a:rPr lang="pl-PL" dirty="0" err="1"/>
              <a:t>border</a:t>
            </a:r>
            <a:r>
              <a:rPr lang="pl-PL" dirty="0"/>
              <a:t>-</a:t>
            </a:r>
            <a:r>
              <a:rPr lang="pl-PL" dirty="0" err="1"/>
              <a:t>bottom</a:t>
            </a:r>
            <a:r>
              <a:rPr lang="pl-PL" dirty="0"/>
              <a:t>-style</a:t>
            </a:r>
          </a:p>
          <a:p>
            <a:pPr>
              <a:buFontTx/>
              <a:buChar char="-"/>
            </a:pPr>
            <a:r>
              <a:rPr lang="pl-PL" dirty="0" err="1"/>
              <a:t>border</a:t>
            </a:r>
            <a:r>
              <a:rPr lang="pl-PL" dirty="0"/>
              <a:t>-</a:t>
            </a:r>
            <a:r>
              <a:rPr lang="pl-PL" dirty="0" err="1"/>
              <a:t>left</a:t>
            </a:r>
            <a:r>
              <a:rPr lang="pl-PL" dirty="0"/>
              <a:t>-style</a:t>
            </a:r>
          </a:p>
          <a:p>
            <a:pPr>
              <a:buFontTx/>
              <a:buChar char="-"/>
            </a:pPr>
            <a:r>
              <a:rPr lang="pl-PL" dirty="0" err="1"/>
              <a:t>border</a:t>
            </a:r>
            <a:r>
              <a:rPr lang="pl-PL" dirty="0"/>
              <a:t>-</a:t>
            </a:r>
            <a:r>
              <a:rPr lang="pl-PL" dirty="0" err="1"/>
              <a:t>right</a:t>
            </a:r>
            <a:r>
              <a:rPr lang="pl-PL" dirty="0"/>
              <a:t>-style</a:t>
            </a:r>
          </a:p>
          <a:p>
            <a:pPr marL="0" indent="0">
              <a:buNone/>
            </a:pPr>
            <a:endParaRPr lang="pl-PL" dirty="0"/>
          </a:p>
        </p:txBody>
      </p:sp>
    </p:spTree>
    <p:extLst>
      <p:ext uri="{BB962C8B-B14F-4D97-AF65-F5344CB8AC3E}">
        <p14:creationId xmlns:p14="http://schemas.microsoft.com/office/powerpoint/2010/main" val="29379864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Właściwości które możemy przypisać do stylów obramowania:</a:t>
            </a:r>
          </a:p>
          <a:p>
            <a:pPr>
              <a:buFontTx/>
              <a:buChar char="-"/>
            </a:pPr>
            <a:r>
              <a:rPr lang="pl-PL" dirty="0" err="1"/>
              <a:t>none</a:t>
            </a:r>
            <a:r>
              <a:rPr lang="pl-PL" dirty="0"/>
              <a:t> – brak obramowania</a:t>
            </a:r>
          </a:p>
          <a:p>
            <a:pPr>
              <a:buFontTx/>
              <a:buChar char="-"/>
            </a:pPr>
            <a:r>
              <a:rPr lang="pl-PL" dirty="0" err="1"/>
              <a:t>hidden</a:t>
            </a:r>
            <a:r>
              <a:rPr lang="pl-PL" dirty="0"/>
              <a:t> – obramowanie ukryte</a:t>
            </a:r>
          </a:p>
          <a:p>
            <a:pPr>
              <a:buFontTx/>
              <a:buChar char="-"/>
            </a:pPr>
            <a:r>
              <a:rPr lang="pl-PL" dirty="0" err="1"/>
              <a:t>dotted</a:t>
            </a:r>
            <a:r>
              <a:rPr lang="pl-PL" dirty="0"/>
              <a:t> – linia kropkowana </a:t>
            </a:r>
          </a:p>
          <a:p>
            <a:pPr>
              <a:buFontTx/>
              <a:buChar char="-"/>
            </a:pPr>
            <a:r>
              <a:rPr lang="pl-PL" dirty="0" err="1"/>
              <a:t>dashed</a:t>
            </a:r>
            <a:r>
              <a:rPr lang="pl-PL" dirty="0"/>
              <a:t> – linia kreskowana</a:t>
            </a:r>
          </a:p>
          <a:p>
            <a:pPr>
              <a:buFontTx/>
              <a:buChar char="-"/>
            </a:pPr>
            <a:r>
              <a:rPr lang="pl-PL" dirty="0"/>
              <a:t>solid – linia ciągła</a:t>
            </a:r>
          </a:p>
          <a:p>
            <a:pPr>
              <a:buFontTx/>
              <a:buChar char="-"/>
            </a:pPr>
            <a:r>
              <a:rPr lang="pl-PL" dirty="0" err="1"/>
              <a:t>double</a:t>
            </a:r>
            <a:r>
              <a:rPr lang="pl-PL" dirty="0"/>
              <a:t> – linia ciągła podwójna</a:t>
            </a:r>
          </a:p>
          <a:p>
            <a:pPr>
              <a:buFontTx/>
              <a:buChar char="-"/>
            </a:pPr>
            <a:r>
              <a:rPr lang="pl-PL" dirty="0" err="1"/>
              <a:t>groove</a:t>
            </a:r>
            <a:r>
              <a:rPr lang="pl-PL" dirty="0"/>
              <a:t> – rowek</a:t>
            </a:r>
          </a:p>
          <a:p>
            <a:pPr>
              <a:buFontTx/>
              <a:buChar char="-"/>
            </a:pPr>
            <a:r>
              <a:rPr lang="pl-PL" dirty="0" err="1"/>
              <a:t>ridge</a:t>
            </a:r>
            <a:r>
              <a:rPr lang="pl-PL" dirty="0"/>
              <a:t> – grzbiet</a:t>
            </a:r>
          </a:p>
          <a:p>
            <a:pPr>
              <a:buFontTx/>
              <a:buChar char="-"/>
            </a:pPr>
            <a:r>
              <a:rPr lang="pl-PL" dirty="0" err="1"/>
              <a:t>inset</a:t>
            </a:r>
            <a:r>
              <a:rPr lang="pl-PL" dirty="0"/>
              <a:t> – ramka</a:t>
            </a:r>
          </a:p>
          <a:p>
            <a:pPr>
              <a:buFontTx/>
              <a:buChar char="-"/>
            </a:pPr>
            <a:r>
              <a:rPr lang="pl-PL" dirty="0" err="1"/>
              <a:t>outset</a:t>
            </a:r>
            <a:r>
              <a:rPr lang="pl-PL" dirty="0"/>
              <a:t> – przycisk</a:t>
            </a:r>
          </a:p>
        </p:txBody>
      </p:sp>
    </p:spTree>
    <p:extLst>
      <p:ext uri="{BB962C8B-B14F-4D97-AF65-F5344CB8AC3E}">
        <p14:creationId xmlns:p14="http://schemas.microsoft.com/office/powerpoint/2010/main" val="21945920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Kolor obramowania ustawiamy przy pomocy atrybutu </a:t>
            </a:r>
            <a:r>
              <a:rPr lang="pl-PL" dirty="0" err="1"/>
              <a:t>border-color</a:t>
            </a:r>
            <a:r>
              <a:rPr lang="pl-PL" dirty="0"/>
              <a:t>.</a:t>
            </a:r>
          </a:p>
          <a:p>
            <a:pPr marL="0" indent="0">
              <a:buNone/>
            </a:pPr>
            <a:r>
              <a:rPr lang="pl-PL" dirty="0"/>
              <a:t>Oczywiście tak jak w poprzednich przypadkach możliwe jest podanie kilku wartości obok siebie które będą odpowiadałby odpowiednim krawędziom. Można też użyć osobnych atrybutów dla każdej krawędzi:</a:t>
            </a:r>
          </a:p>
          <a:p>
            <a:pPr marL="0" indent="0">
              <a:buNone/>
            </a:pPr>
            <a:r>
              <a:rPr lang="pl-PL" dirty="0"/>
              <a:t>-   </a:t>
            </a:r>
            <a:r>
              <a:rPr lang="pl-PL" dirty="0" err="1"/>
              <a:t>border</a:t>
            </a:r>
            <a:r>
              <a:rPr lang="pl-PL" dirty="0"/>
              <a:t>-top-</a:t>
            </a:r>
            <a:r>
              <a:rPr lang="pl-PL" dirty="0" err="1"/>
              <a:t>color</a:t>
            </a:r>
            <a:endParaRPr lang="pl-PL" dirty="0"/>
          </a:p>
          <a:p>
            <a:pPr>
              <a:buFontTx/>
              <a:buChar char="-"/>
            </a:pPr>
            <a:r>
              <a:rPr lang="pl-PL" dirty="0" err="1"/>
              <a:t>border-bottom-color</a:t>
            </a:r>
            <a:endParaRPr lang="pl-PL" dirty="0"/>
          </a:p>
          <a:p>
            <a:pPr>
              <a:buFontTx/>
              <a:buChar char="-"/>
            </a:pPr>
            <a:r>
              <a:rPr lang="pl-PL" dirty="0" err="1"/>
              <a:t>border-left-color</a:t>
            </a:r>
            <a:endParaRPr lang="pl-PL" dirty="0"/>
          </a:p>
          <a:p>
            <a:pPr>
              <a:buFontTx/>
              <a:buChar char="-"/>
            </a:pPr>
            <a:r>
              <a:rPr lang="pl-PL" dirty="0" err="1"/>
              <a:t>border-right-color</a:t>
            </a:r>
            <a:endParaRPr lang="pl-PL" dirty="0"/>
          </a:p>
        </p:txBody>
      </p:sp>
    </p:spTree>
    <p:extLst>
      <p:ext uri="{BB962C8B-B14F-4D97-AF65-F5344CB8AC3E}">
        <p14:creationId xmlns:p14="http://schemas.microsoft.com/office/powerpoint/2010/main" val="473984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a:t>
            </a:r>
          </a:p>
        </p:txBody>
      </p:sp>
      <p:sp>
        <p:nvSpPr>
          <p:cNvPr id="3" name="Symbol zastępczy zawartości 2"/>
          <p:cNvSpPr>
            <a:spLocks noGrp="1"/>
          </p:cNvSpPr>
          <p:nvPr>
            <p:ph idx="1"/>
          </p:nvPr>
        </p:nvSpPr>
        <p:spPr/>
        <p:txBody>
          <a:bodyPr/>
          <a:lstStyle/>
          <a:p>
            <a:pPr marL="0" indent="0">
              <a:buNone/>
            </a:pPr>
            <a:r>
              <a:rPr lang="pl-PL" dirty="0"/>
              <a:t>Do definiowania obramowania można użyć jednego atrybutu </a:t>
            </a:r>
            <a:r>
              <a:rPr lang="pl-PL" dirty="0" err="1"/>
              <a:t>border</a:t>
            </a:r>
            <a:r>
              <a:rPr lang="pl-PL" dirty="0"/>
              <a:t> i zdefiniować poszczególne wartości. Kolejność definiowania wartości jest dowolna.</a:t>
            </a:r>
          </a:p>
          <a:p>
            <a:pPr marL="0" indent="0">
              <a:buNone/>
            </a:pPr>
            <a:r>
              <a:rPr lang="pl-PL" dirty="0"/>
              <a:t>np. p{</a:t>
            </a:r>
            <a:r>
              <a:rPr lang="pl-PL" dirty="0" err="1"/>
              <a:t>border</a:t>
            </a:r>
            <a:r>
              <a:rPr lang="pl-PL" dirty="0"/>
              <a:t>: </a:t>
            </a:r>
            <a:r>
              <a:rPr lang="pl-PL" dirty="0" err="1"/>
              <a:t>double</a:t>
            </a:r>
            <a:r>
              <a:rPr lang="pl-PL" dirty="0"/>
              <a:t> 10px </a:t>
            </a:r>
            <a:r>
              <a:rPr lang="pl-PL" dirty="0" err="1"/>
              <a:t>blue</a:t>
            </a:r>
            <a:r>
              <a:rPr lang="pl-PL" dirty="0"/>
              <a:t>;}</a:t>
            </a:r>
          </a:p>
          <a:p>
            <a:pPr marL="0" indent="0">
              <a:buNone/>
            </a:pPr>
            <a:r>
              <a:rPr lang="pl-PL" dirty="0"/>
              <a:t>h1{</a:t>
            </a:r>
            <a:r>
              <a:rPr lang="pl-PL" dirty="0" err="1"/>
              <a:t>border</a:t>
            </a:r>
            <a:r>
              <a:rPr lang="pl-PL" dirty="0"/>
              <a:t>: 30pt </a:t>
            </a:r>
            <a:r>
              <a:rPr lang="pl-PL" dirty="0" err="1"/>
              <a:t>outset</a:t>
            </a:r>
            <a:r>
              <a:rPr lang="pl-PL" dirty="0"/>
              <a:t> red;}</a:t>
            </a:r>
          </a:p>
          <a:p>
            <a:pPr marL="0" indent="0">
              <a:buNone/>
            </a:pPr>
            <a:r>
              <a:rPr lang="pl-PL" dirty="0" err="1"/>
              <a:t>table</a:t>
            </a:r>
            <a:r>
              <a:rPr lang="pl-PL" dirty="0"/>
              <a:t>{</a:t>
            </a:r>
            <a:r>
              <a:rPr lang="pl-PL" dirty="0" err="1"/>
              <a:t>border</a:t>
            </a:r>
            <a:r>
              <a:rPr lang="pl-PL" dirty="0"/>
              <a:t>: </a:t>
            </a:r>
            <a:r>
              <a:rPr lang="pl-PL" dirty="0" err="1"/>
              <a:t>thick</a:t>
            </a:r>
            <a:r>
              <a:rPr lang="pl-PL" dirty="0"/>
              <a:t> </a:t>
            </a:r>
            <a:r>
              <a:rPr lang="pl-PL" dirty="0" err="1"/>
              <a:t>dotted</a:t>
            </a:r>
            <a:r>
              <a:rPr lang="pl-PL" dirty="0"/>
              <a:t> </a:t>
            </a:r>
            <a:r>
              <a:rPr lang="pl-PL" dirty="0" err="1"/>
              <a:t>black</a:t>
            </a:r>
            <a:r>
              <a:rPr lang="pl-PL" dirty="0"/>
              <a:t>;}</a:t>
            </a:r>
          </a:p>
        </p:txBody>
      </p:sp>
    </p:spTree>
    <p:extLst>
      <p:ext uri="{BB962C8B-B14F-4D97-AF65-F5344CB8AC3E}">
        <p14:creationId xmlns:p14="http://schemas.microsoft.com/office/powerpoint/2010/main" val="26965938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zewnętrzne</a:t>
            </a:r>
          </a:p>
        </p:txBody>
      </p:sp>
      <p:sp>
        <p:nvSpPr>
          <p:cNvPr id="3" name="Symbol zastępczy zawartości 2"/>
          <p:cNvSpPr>
            <a:spLocks noGrp="1"/>
          </p:cNvSpPr>
          <p:nvPr>
            <p:ph idx="1"/>
          </p:nvPr>
        </p:nvSpPr>
        <p:spPr/>
        <p:txBody>
          <a:bodyPr/>
          <a:lstStyle/>
          <a:p>
            <a:pPr marL="0" indent="0">
              <a:buNone/>
            </a:pPr>
            <a:r>
              <a:rPr lang="pl-PL" dirty="0"/>
              <a:t>Margines zewnętrzny określa przestrzeń wokół definiowanego elementu. Przestrzeń ta oddziela element od innych elementów strony.</a:t>
            </a:r>
          </a:p>
          <a:p>
            <a:pPr marL="0" indent="0">
              <a:buNone/>
            </a:pPr>
            <a:r>
              <a:rPr lang="pl-PL" dirty="0"/>
              <a:t>Dostępne atrybuty:</a:t>
            </a:r>
          </a:p>
          <a:p>
            <a:pPr marL="0" indent="0">
              <a:buNone/>
            </a:pPr>
            <a:r>
              <a:rPr lang="pl-PL" dirty="0" err="1"/>
              <a:t>margin</a:t>
            </a:r>
            <a:r>
              <a:rPr lang="pl-PL" dirty="0"/>
              <a:t>-top</a:t>
            </a:r>
          </a:p>
          <a:p>
            <a:pPr marL="0" indent="0">
              <a:buNone/>
            </a:pPr>
            <a:r>
              <a:rPr lang="pl-PL" dirty="0" err="1"/>
              <a:t>margin-bottom</a:t>
            </a:r>
            <a:endParaRPr lang="pl-PL" dirty="0"/>
          </a:p>
          <a:p>
            <a:pPr marL="0" indent="0">
              <a:buNone/>
            </a:pPr>
            <a:r>
              <a:rPr lang="pl-PL" dirty="0" err="1"/>
              <a:t>margin-left</a:t>
            </a:r>
            <a:endParaRPr lang="pl-PL" dirty="0"/>
          </a:p>
          <a:p>
            <a:pPr marL="0" indent="0">
              <a:buNone/>
            </a:pPr>
            <a:r>
              <a:rPr lang="pl-PL" dirty="0" err="1"/>
              <a:t>margin-right</a:t>
            </a:r>
            <a:endParaRPr lang="pl-PL" dirty="0"/>
          </a:p>
        </p:txBody>
      </p:sp>
    </p:spTree>
    <p:extLst>
      <p:ext uri="{BB962C8B-B14F-4D97-AF65-F5344CB8AC3E}">
        <p14:creationId xmlns:p14="http://schemas.microsoft.com/office/powerpoint/2010/main" val="38469749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zewnętrzne</a:t>
            </a:r>
          </a:p>
        </p:txBody>
      </p:sp>
      <p:sp>
        <p:nvSpPr>
          <p:cNvPr id="3" name="Symbol zastępczy zawartości 2"/>
          <p:cNvSpPr>
            <a:spLocks noGrp="1"/>
          </p:cNvSpPr>
          <p:nvPr>
            <p:ph idx="1"/>
          </p:nvPr>
        </p:nvSpPr>
        <p:spPr/>
        <p:txBody>
          <a:bodyPr>
            <a:normAutofit fontScale="92500"/>
          </a:bodyPr>
          <a:lstStyle/>
          <a:p>
            <a:pPr marL="0" indent="0">
              <a:buNone/>
            </a:pPr>
            <a:r>
              <a:rPr lang="pl-PL" dirty="0"/>
              <a:t>Można również użyć atrybutu </a:t>
            </a:r>
            <a:r>
              <a:rPr lang="pl-PL" dirty="0" err="1"/>
              <a:t>margin</a:t>
            </a:r>
            <a:r>
              <a:rPr lang="pl-PL" dirty="0"/>
              <a:t>.</a:t>
            </a:r>
          </a:p>
          <a:p>
            <a:pPr marL="0" indent="0">
              <a:buNone/>
            </a:pPr>
            <a:r>
              <a:rPr lang="pl-PL" dirty="0"/>
              <a:t>-   jedna wartość – wszystkie marginesy jednakowe</a:t>
            </a:r>
          </a:p>
          <a:p>
            <a:pPr marL="0" indent="0">
              <a:buNone/>
            </a:pPr>
            <a:r>
              <a:rPr lang="pl-PL" dirty="0"/>
              <a:t>-   dwie wartości – pierwsza wartość dolny i górny, druga prawy i lewy</a:t>
            </a:r>
          </a:p>
          <a:p>
            <a:pPr>
              <a:buFontTx/>
              <a:buChar char="-"/>
            </a:pPr>
            <a:r>
              <a:rPr lang="pl-PL" dirty="0"/>
              <a:t>trzy wartości – pierwsza górny, druga lewy prawy, trzecia dolny</a:t>
            </a:r>
          </a:p>
          <a:p>
            <a:pPr>
              <a:buFontTx/>
              <a:buChar char="-"/>
            </a:pPr>
            <a:r>
              <a:rPr lang="pl-PL" dirty="0"/>
              <a:t>cztery wartości – każdy margines osobno</a:t>
            </a:r>
          </a:p>
          <a:p>
            <a:pPr marL="0" indent="0">
              <a:buNone/>
            </a:pPr>
            <a:r>
              <a:rPr lang="pl-PL" dirty="0"/>
              <a:t>np. p{</a:t>
            </a:r>
            <a:r>
              <a:rPr lang="pl-PL" dirty="0" err="1"/>
              <a:t>margin</a:t>
            </a:r>
            <a:r>
              <a:rPr lang="pl-PL" dirty="0"/>
              <a:t>: 1cm 2cm 3cm 4cm;}</a:t>
            </a:r>
          </a:p>
        </p:txBody>
      </p:sp>
    </p:spTree>
    <p:extLst>
      <p:ext uri="{BB962C8B-B14F-4D97-AF65-F5344CB8AC3E}">
        <p14:creationId xmlns:p14="http://schemas.microsoft.com/office/powerpoint/2010/main" val="23664166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zewnętrzne</a:t>
            </a:r>
          </a:p>
        </p:txBody>
      </p:sp>
      <p:sp>
        <p:nvSpPr>
          <p:cNvPr id="3" name="Symbol zastępczy zawartości 2"/>
          <p:cNvSpPr>
            <a:spLocks noGrp="1"/>
          </p:cNvSpPr>
          <p:nvPr>
            <p:ph idx="1"/>
          </p:nvPr>
        </p:nvSpPr>
        <p:spPr/>
        <p:txBody>
          <a:bodyPr/>
          <a:lstStyle/>
          <a:p>
            <a:pPr marL="0" indent="0">
              <a:buNone/>
            </a:pPr>
            <a:r>
              <a:rPr lang="pl-PL" dirty="0"/>
              <a:t>Przykłady użycia:</a:t>
            </a:r>
          </a:p>
          <a:p>
            <a:pPr marL="0" indent="0">
              <a:buNone/>
            </a:pPr>
            <a:r>
              <a:rPr lang="pl-PL" dirty="0"/>
              <a:t>p{</a:t>
            </a:r>
            <a:r>
              <a:rPr lang="pl-PL" dirty="0" err="1"/>
              <a:t>margin-left</a:t>
            </a:r>
            <a:r>
              <a:rPr lang="pl-PL" dirty="0"/>
              <a:t>: 12px;}</a:t>
            </a:r>
          </a:p>
          <a:p>
            <a:pPr marL="0" indent="0">
              <a:buNone/>
            </a:pPr>
            <a:r>
              <a:rPr lang="pl-PL" dirty="0"/>
              <a:t>p{</a:t>
            </a:r>
            <a:r>
              <a:rPr lang="pl-PL" dirty="0" err="1"/>
              <a:t>margin</a:t>
            </a:r>
            <a:r>
              <a:rPr lang="pl-PL" dirty="0"/>
              <a:t>-top: auto;} – przeglądarka dostosuje automatycznie margines</a:t>
            </a:r>
          </a:p>
          <a:p>
            <a:pPr marL="0" indent="0">
              <a:buNone/>
            </a:pPr>
            <a:r>
              <a:rPr lang="pl-PL" dirty="0"/>
              <a:t>h1{</a:t>
            </a:r>
            <a:r>
              <a:rPr lang="pl-PL" dirty="0" err="1"/>
              <a:t>margin-bottom</a:t>
            </a:r>
            <a:r>
              <a:rPr lang="pl-PL" dirty="0"/>
              <a:t>: 0;}</a:t>
            </a:r>
          </a:p>
        </p:txBody>
      </p:sp>
    </p:spTree>
    <p:extLst>
      <p:ext uri="{BB962C8B-B14F-4D97-AF65-F5344CB8AC3E}">
        <p14:creationId xmlns:p14="http://schemas.microsoft.com/office/powerpoint/2010/main" val="37034750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wewnętrzne</a:t>
            </a:r>
          </a:p>
        </p:txBody>
      </p:sp>
      <p:sp>
        <p:nvSpPr>
          <p:cNvPr id="3" name="Symbol zastępczy zawartości 2"/>
          <p:cNvSpPr>
            <a:spLocks noGrp="1"/>
          </p:cNvSpPr>
          <p:nvPr>
            <p:ph idx="1"/>
          </p:nvPr>
        </p:nvSpPr>
        <p:spPr/>
        <p:txBody>
          <a:bodyPr/>
          <a:lstStyle/>
          <a:p>
            <a:pPr marL="0" indent="0">
              <a:buNone/>
            </a:pPr>
            <a:r>
              <a:rPr lang="pl-PL" dirty="0"/>
              <a:t>Margines wewnętrzny (</a:t>
            </a:r>
            <a:r>
              <a:rPr lang="pl-PL" dirty="0" err="1"/>
              <a:t>padding</a:t>
            </a:r>
            <a:r>
              <a:rPr lang="pl-PL" dirty="0"/>
              <a:t>) określa przestrzeń między zawartością elementu a obramowaniem.</a:t>
            </a:r>
          </a:p>
          <a:p>
            <a:pPr marL="0" indent="0">
              <a:buNone/>
            </a:pPr>
            <a:r>
              <a:rPr lang="pl-PL" dirty="0"/>
              <a:t>Dostępne atrybuty:</a:t>
            </a:r>
          </a:p>
          <a:p>
            <a:pPr marL="0" indent="0">
              <a:buNone/>
            </a:pPr>
            <a:r>
              <a:rPr lang="pl-PL" dirty="0" err="1"/>
              <a:t>padding</a:t>
            </a:r>
            <a:r>
              <a:rPr lang="pl-PL" dirty="0"/>
              <a:t>-top</a:t>
            </a:r>
          </a:p>
          <a:p>
            <a:pPr marL="0" indent="0">
              <a:buNone/>
            </a:pPr>
            <a:r>
              <a:rPr lang="pl-PL" dirty="0" err="1"/>
              <a:t>padding-bottom</a:t>
            </a:r>
            <a:endParaRPr lang="pl-PL" dirty="0"/>
          </a:p>
          <a:p>
            <a:pPr marL="0" indent="0">
              <a:buNone/>
            </a:pPr>
            <a:r>
              <a:rPr lang="pl-PL" dirty="0" err="1"/>
              <a:t>padding-left</a:t>
            </a:r>
            <a:endParaRPr lang="pl-PL" dirty="0"/>
          </a:p>
          <a:p>
            <a:pPr marL="0" indent="0">
              <a:buNone/>
            </a:pPr>
            <a:r>
              <a:rPr lang="pl-PL" dirty="0" err="1"/>
              <a:t>padding-right</a:t>
            </a:r>
            <a:endParaRPr lang="pl-PL" dirty="0"/>
          </a:p>
          <a:p>
            <a:pPr marL="0" indent="0">
              <a:buNone/>
            </a:pPr>
            <a:endParaRPr lang="pl-PL" dirty="0"/>
          </a:p>
        </p:txBody>
      </p:sp>
    </p:spTree>
    <p:extLst>
      <p:ext uri="{BB962C8B-B14F-4D97-AF65-F5344CB8AC3E}">
        <p14:creationId xmlns:p14="http://schemas.microsoft.com/office/powerpoint/2010/main" val="18603734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wewnętrzne</a:t>
            </a:r>
          </a:p>
        </p:txBody>
      </p:sp>
      <p:sp>
        <p:nvSpPr>
          <p:cNvPr id="3" name="Symbol zastępczy zawartości 2"/>
          <p:cNvSpPr>
            <a:spLocks noGrp="1"/>
          </p:cNvSpPr>
          <p:nvPr>
            <p:ph idx="1"/>
          </p:nvPr>
        </p:nvSpPr>
        <p:spPr/>
        <p:txBody>
          <a:bodyPr>
            <a:normAutofit fontScale="92500"/>
          </a:bodyPr>
          <a:lstStyle/>
          <a:p>
            <a:pPr marL="0" indent="0">
              <a:buNone/>
            </a:pPr>
            <a:r>
              <a:rPr lang="pl-PL" dirty="0"/>
              <a:t>Można również użyć atrybutu </a:t>
            </a:r>
            <a:r>
              <a:rPr lang="pl-PL" dirty="0" err="1"/>
              <a:t>padding</a:t>
            </a:r>
            <a:r>
              <a:rPr lang="pl-PL" dirty="0"/>
              <a:t>.</a:t>
            </a:r>
          </a:p>
          <a:p>
            <a:pPr marL="0" indent="0">
              <a:buNone/>
            </a:pPr>
            <a:r>
              <a:rPr lang="pl-PL" dirty="0"/>
              <a:t>-   jedna wartość – wszystkie marginesy jednakowe</a:t>
            </a:r>
          </a:p>
          <a:p>
            <a:pPr marL="0" indent="0">
              <a:buNone/>
            </a:pPr>
            <a:r>
              <a:rPr lang="pl-PL" dirty="0"/>
              <a:t>-   dwie wartości – pierwsza wartość dolny i górny, druga prawy i lewy</a:t>
            </a:r>
          </a:p>
          <a:p>
            <a:pPr>
              <a:buFontTx/>
              <a:buChar char="-"/>
            </a:pPr>
            <a:r>
              <a:rPr lang="pl-PL" dirty="0"/>
              <a:t>trzy wartości – pierwsza górny, druga lewy prawy, trzecia dolny</a:t>
            </a:r>
          </a:p>
          <a:p>
            <a:pPr>
              <a:buFontTx/>
              <a:buChar char="-"/>
            </a:pPr>
            <a:r>
              <a:rPr lang="pl-PL" dirty="0"/>
              <a:t>cztery wartości – każdy margines osobno</a:t>
            </a:r>
          </a:p>
          <a:p>
            <a:pPr marL="0" indent="0">
              <a:buNone/>
            </a:pPr>
            <a:r>
              <a:rPr lang="pl-PL" dirty="0"/>
              <a:t>np. p{</a:t>
            </a:r>
            <a:r>
              <a:rPr lang="pl-PL" dirty="0" err="1"/>
              <a:t>padding</a:t>
            </a:r>
            <a:r>
              <a:rPr lang="pl-PL" dirty="0"/>
              <a:t>: 10px 11px 12px 12px;}</a:t>
            </a:r>
          </a:p>
          <a:p>
            <a:pPr marL="0" indent="0">
              <a:buNone/>
            </a:pPr>
            <a:endParaRPr lang="pl-PL" dirty="0"/>
          </a:p>
        </p:txBody>
      </p:sp>
    </p:spTree>
    <p:extLst>
      <p:ext uri="{BB962C8B-B14F-4D97-AF65-F5344CB8AC3E}">
        <p14:creationId xmlns:p14="http://schemas.microsoft.com/office/powerpoint/2010/main" val="40272138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Model blokowy CSS – marginesy wewnętrzne</a:t>
            </a:r>
          </a:p>
        </p:txBody>
      </p:sp>
      <p:sp>
        <p:nvSpPr>
          <p:cNvPr id="3" name="Symbol zastępczy zawartości 2"/>
          <p:cNvSpPr>
            <a:spLocks noGrp="1"/>
          </p:cNvSpPr>
          <p:nvPr>
            <p:ph idx="1"/>
          </p:nvPr>
        </p:nvSpPr>
        <p:spPr/>
        <p:txBody>
          <a:bodyPr/>
          <a:lstStyle/>
          <a:p>
            <a:pPr marL="0" indent="0">
              <a:buNone/>
            </a:pPr>
            <a:r>
              <a:rPr lang="pl-PL" dirty="0"/>
              <a:t>Przykłady użycia:</a:t>
            </a:r>
          </a:p>
          <a:p>
            <a:pPr marL="0" indent="0">
              <a:buNone/>
            </a:pPr>
            <a:r>
              <a:rPr lang="pl-PL" dirty="0"/>
              <a:t>p{</a:t>
            </a:r>
            <a:r>
              <a:rPr lang="pl-PL" dirty="0" err="1"/>
              <a:t>padding-left</a:t>
            </a:r>
            <a:r>
              <a:rPr lang="pl-PL" dirty="0"/>
              <a:t>: 12px;}</a:t>
            </a:r>
          </a:p>
          <a:p>
            <a:pPr marL="0" indent="0">
              <a:buNone/>
            </a:pPr>
            <a:r>
              <a:rPr lang="pl-PL" dirty="0"/>
              <a:t>p{</a:t>
            </a:r>
            <a:r>
              <a:rPr lang="pl-PL" dirty="0" err="1"/>
              <a:t>padding</a:t>
            </a:r>
            <a:r>
              <a:rPr lang="pl-PL" dirty="0"/>
              <a:t>-top: auto;} – przeglądarka dostosuje automatycznie margines</a:t>
            </a:r>
          </a:p>
          <a:p>
            <a:pPr marL="0" indent="0">
              <a:buNone/>
            </a:pPr>
            <a:r>
              <a:rPr lang="pl-PL" dirty="0"/>
              <a:t>h1{</a:t>
            </a:r>
            <a:r>
              <a:rPr lang="pl-PL" dirty="0" err="1"/>
              <a:t>padding-bottom</a:t>
            </a:r>
            <a:r>
              <a:rPr lang="pl-PL" dirty="0"/>
              <a:t>: 0;}</a:t>
            </a:r>
          </a:p>
          <a:p>
            <a:pPr marL="0" indent="0">
              <a:buNone/>
            </a:pPr>
            <a:endParaRPr lang="pl-PL" dirty="0"/>
          </a:p>
        </p:txBody>
      </p:sp>
    </p:spTree>
    <p:extLst>
      <p:ext uri="{BB962C8B-B14F-4D97-AF65-F5344CB8AC3E}">
        <p14:creationId xmlns:p14="http://schemas.microsoft.com/office/powerpoint/2010/main" val="41408633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Model blokowy CSS – obrys</a:t>
            </a:r>
          </a:p>
        </p:txBody>
      </p:sp>
      <p:sp>
        <p:nvSpPr>
          <p:cNvPr id="3" name="Symbol zastępczy zawartości 2"/>
          <p:cNvSpPr>
            <a:spLocks noGrp="1"/>
          </p:cNvSpPr>
          <p:nvPr>
            <p:ph idx="1"/>
          </p:nvPr>
        </p:nvSpPr>
        <p:spPr/>
        <p:txBody>
          <a:bodyPr/>
          <a:lstStyle/>
          <a:p>
            <a:pPr marL="0" indent="0">
              <a:buNone/>
            </a:pPr>
            <a:r>
              <a:rPr lang="pl-PL" dirty="0"/>
              <a:t>Obramowanie wokół elementu można tworzyć przy pomocy obrysu. Obrys różni się od obramowania tym:</a:t>
            </a:r>
          </a:p>
          <a:p>
            <a:pPr>
              <a:buFontTx/>
              <a:buChar char="-"/>
            </a:pPr>
            <a:r>
              <a:rPr lang="pl-PL" dirty="0"/>
              <a:t>nie zajmuje miejsca, dzięki czemu nie wpływa na rozmiar i położenie elementu</a:t>
            </a:r>
          </a:p>
          <a:p>
            <a:pPr>
              <a:buFontTx/>
              <a:buChar char="-"/>
            </a:pPr>
            <a:r>
              <a:rPr lang="pl-PL" dirty="0"/>
              <a:t>jest tworzony na wierzchu elementu</a:t>
            </a:r>
          </a:p>
          <a:p>
            <a:pPr>
              <a:buFontTx/>
              <a:buChar char="-"/>
            </a:pPr>
            <a:r>
              <a:rPr lang="pl-PL" dirty="0"/>
              <a:t>jest definiowany dla wszystkich krawędzi równocześnie</a:t>
            </a:r>
          </a:p>
        </p:txBody>
      </p:sp>
    </p:spTree>
    <p:extLst>
      <p:ext uri="{BB962C8B-B14F-4D97-AF65-F5344CB8AC3E}">
        <p14:creationId xmlns:p14="http://schemas.microsoft.com/office/powerpoint/2010/main" val="482380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 – obrys</a:t>
            </a:r>
          </a:p>
        </p:txBody>
      </p:sp>
      <p:sp>
        <p:nvSpPr>
          <p:cNvPr id="3" name="Symbol zastępczy zawartości 2"/>
          <p:cNvSpPr>
            <a:spLocks noGrp="1"/>
          </p:cNvSpPr>
          <p:nvPr>
            <p:ph idx="1"/>
          </p:nvPr>
        </p:nvSpPr>
        <p:spPr/>
        <p:txBody>
          <a:bodyPr/>
          <a:lstStyle/>
          <a:p>
            <a:pPr marL="0" indent="0">
              <a:buNone/>
            </a:pPr>
            <a:r>
              <a:rPr lang="pl-PL" dirty="0"/>
              <a:t>Obrys tworzy się przy pomocy atrybutu </a:t>
            </a:r>
            <a:r>
              <a:rPr lang="pl-PL" dirty="0" err="1"/>
              <a:t>outline</a:t>
            </a:r>
            <a:r>
              <a:rPr lang="pl-PL" dirty="0"/>
              <a:t>.</a:t>
            </a:r>
          </a:p>
          <a:p>
            <a:pPr marL="0" indent="0">
              <a:buNone/>
            </a:pPr>
            <a:r>
              <a:rPr lang="pl-PL" dirty="0"/>
              <a:t>Dostępne atrybuty:</a:t>
            </a:r>
          </a:p>
          <a:p>
            <a:pPr>
              <a:buFontTx/>
              <a:buChar char="-"/>
            </a:pPr>
            <a:r>
              <a:rPr lang="pl-PL" dirty="0" err="1"/>
              <a:t>outline</a:t>
            </a:r>
            <a:endParaRPr lang="pl-PL" dirty="0"/>
          </a:p>
          <a:p>
            <a:pPr>
              <a:buFontTx/>
              <a:buChar char="-"/>
            </a:pPr>
            <a:r>
              <a:rPr lang="pl-PL" dirty="0" err="1"/>
              <a:t>outline</a:t>
            </a:r>
            <a:r>
              <a:rPr lang="pl-PL" dirty="0"/>
              <a:t>-style</a:t>
            </a:r>
          </a:p>
          <a:p>
            <a:pPr>
              <a:buFontTx/>
              <a:buChar char="-"/>
            </a:pPr>
            <a:r>
              <a:rPr lang="pl-PL" dirty="0" err="1"/>
              <a:t>outline-width</a:t>
            </a:r>
            <a:endParaRPr lang="pl-PL" dirty="0"/>
          </a:p>
          <a:p>
            <a:pPr>
              <a:buFontTx/>
              <a:buChar char="-"/>
            </a:pPr>
            <a:r>
              <a:rPr lang="pl-PL" dirty="0" err="1"/>
              <a:t>outline-color</a:t>
            </a:r>
            <a:endParaRPr lang="pl-PL" dirty="0"/>
          </a:p>
          <a:p>
            <a:pPr marL="0" indent="0">
              <a:buNone/>
            </a:pPr>
            <a:endParaRPr lang="pl-PL" dirty="0"/>
          </a:p>
        </p:txBody>
      </p:sp>
    </p:spTree>
    <p:extLst>
      <p:ext uri="{BB962C8B-B14F-4D97-AF65-F5344CB8AC3E}">
        <p14:creationId xmlns:p14="http://schemas.microsoft.com/office/powerpoint/2010/main" val="12231203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Model blokowy CSS – obrys</a:t>
            </a:r>
          </a:p>
        </p:txBody>
      </p:sp>
      <p:sp>
        <p:nvSpPr>
          <p:cNvPr id="3" name="Symbol zastępczy zawartości 2"/>
          <p:cNvSpPr>
            <a:spLocks noGrp="1"/>
          </p:cNvSpPr>
          <p:nvPr>
            <p:ph idx="1"/>
          </p:nvPr>
        </p:nvSpPr>
        <p:spPr/>
        <p:txBody>
          <a:bodyPr/>
          <a:lstStyle/>
          <a:p>
            <a:pPr marL="0" indent="0">
              <a:buNone/>
            </a:pPr>
            <a:r>
              <a:rPr lang="pl-PL" dirty="0"/>
              <a:t>np. </a:t>
            </a:r>
          </a:p>
          <a:p>
            <a:pPr marL="0" indent="0">
              <a:buNone/>
            </a:pPr>
            <a:r>
              <a:rPr lang="pl-PL" dirty="0"/>
              <a:t>p{</a:t>
            </a:r>
            <a:r>
              <a:rPr lang="pl-PL" dirty="0" err="1"/>
              <a:t>outline</a:t>
            </a:r>
            <a:r>
              <a:rPr lang="pl-PL" dirty="0"/>
              <a:t>: solid 3px </a:t>
            </a:r>
            <a:r>
              <a:rPr lang="pl-PL" dirty="0" err="1"/>
              <a:t>blue</a:t>
            </a:r>
            <a:r>
              <a:rPr lang="pl-PL" dirty="0"/>
              <a:t>;}</a:t>
            </a:r>
          </a:p>
          <a:p>
            <a:pPr marL="0" indent="0">
              <a:buNone/>
            </a:pPr>
            <a:r>
              <a:rPr lang="pl-PL" dirty="0"/>
              <a:t>p{</a:t>
            </a:r>
            <a:r>
              <a:rPr lang="pl-PL" dirty="0" err="1"/>
              <a:t>outline</a:t>
            </a:r>
            <a:r>
              <a:rPr lang="pl-PL" dirty="0"/>
              <a:t>-style: solid}</a:t>
            </a:r>
          </a:p>
          <a:p>
            <a:pPr marL="0" indent="0">
              <a:buNone/>
            </a:pPr>
            <a:endParaRPr lang="pl-PL" dirty="0"/>
          </a:p>
          <a:p>
            <a:pPr marL="0" indent="0">
              <a:buNone/>
            </a:pPr>
            <a:r>
              <a:rPr lang="pl-PL" dirty="0"/>
              <a:t>Jeżeli używamy atrybutu </a:t>
            </a:r>
            <a:r>
              <a:rPr lang="pl-PL" dirty="0" err="1"/>
              <a:t>outline</a:t>
            </a:r>
            <a:r>
              <a:rPr lang="pl-PL" dirty="0"/>
              <a:t> to obowiązkowym jest pierwszy parametr, pozostałe dwa możemy pominąć.</a:t>
            </a:r>
          </a:p>
        </p:txBody>
      </p:sp>
    </p:spTree>
    <p:extLst>
      <p:ext uri="{BB962C8B-B14F-4D97-AF65-F5344CB8AC3E}">
        <p14:creationId xmlns:p14="http://schemas.microsoft.com/office/powerpoint/2010/main" val="6476687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Atrybuty związane z rozmiarem elementów</a:t>
            </a:r>
          </a:p>
        </p:txBody>
      </p:sp>
      <p:sp>
        <p:nvSpPr>
          <p:cNvPr id="3" name="Symbol zastępczy zawartości 2"/>
          <p:cNvSpPr>
            <a:spLocks noGrp="1"/>
          </p:cNvSpPr>
          <p:nvPr>
            <p:ph idx="1"/>
          </p:nvPr>
        </p:nvSpPr>
        <p:spPr/>
        <p:txBody>
          <a:bodyPr>
            <a:normAutofit lnSpcReduction="10000"/>
          </a:bodyPr>
          <a:lstStyle/>
          <a:p>
            <a:pPr marL="0" indent="0">
              <a:buNone/>
            </a:pPr>
            <a:r>
              <a:rPr lang="pl-PL" b="1" dirty="0" err="1"/>
              <a:t>width</a:t>
            </a:r>
            <a:r>
              <a:rPr lang="pl-PL" dirty="0"/>
              <a:t> – szerokość</a:t>
            </a:r>
          </a:p>
          <a:p>
            <a:pPr marL="0" indent="0">
              <a:buNone/>
            </a:pPr>
            <a:r>
              <a:rPr lang="pl-PL" b="1" dirty="0"/>
              <a:t>min-</a:t>
            </a:r>
            <a:r>
              <a:rPr lang="pl-PL" b="1" dirty="0" err="1"/>
              <a:t>width</a:t>
            </a:r>
            <a:r>
              <a:rPr lang="pl-PL" dirty="0"/>
              <a:t> – określa minimalną szerokość elementu. Pozwala ustawić szerokość tak aby nigdy nie była mniejsza od podanej wartości</a:t>
            </a:r>
          </a:p>
          <a:p>
            <a:pPr marL="0" indent="0">
              <a:buNone/>
            </a:pPr>
            <a:r>
              <a:rPr lang="pl-PL" b="1" dirty="0"/>
              <a:t>max-</a:t>
            </a:r>
            <a:r>
              <a:rPr lang="pl-PL" b="1" dirty="0" err="1"/>
              <a:t>width</a:t>
            </a:r>
            <a:r>
              <a:rPr lang="pl-PL" dirty="0"/>
              <a:t> – określa maksymalną szerokość elementu. Element może być węższy ale nigdy nie może być szerszy</a:t>
            </a:r>
          </a:p>
          <a:p>
            <a:pPr marL="0" indent="0">
              <a:buNone/>
            </a:pPr>
            <a:r>
              <a:rPr lang="pl-PL" dirty="0"/>
              <a:t>np. </a:t>
            </a:r>
          </a:p>
          <a:p>
            <a:pPr marL="0" indent="0">
              <a:buNone/>
            </a:pPr>
            <a:r>
              <a:rPr lang="pl-PL" dirty="0" err="1"/>
              <a:t>img</a:t>
            </a:r>
            <a:r>
              <a:rPr lang="pl-PL" dirty="0"/>
              <a:t>{max-</a:t>
            </a:r>
            <a:r>
              <a:rPr lang="pl-PL" dirty="0" err="1"/>
              <a:t>width</a:t>
            </a:r>
            <a:r>
              <a:rPr lang="pl-PL" dirty="0"/>
              <a:t>: 300px;}</a:t>
            </a:r>
          </a:p>
        </p:txBody>
      </p:sp>
    </p:spTree>
    <p:extLst>
      <p:ext uri="{BB962C8B-B14F-4D97-AF65-F5344CB8AC3E}">
        <p14:creationId xmlns:p14="http://schemas.microsoft.com/office/powerpoint/2010/main" val="32006374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Atrybuty związane z rozmiarem elementów</a:t>
            </a:r>
          </a:p>
        </p:txBody>
      </p:sp>
      <p:sp>
        <p:nvSpPr>
          <p:cNvPr id="3" name="Symbol zastępczy zawartości 2"/>
          <p:cNvSpPr>
            <a:spLocks noGrp="1"/>
          </p:cNvSpPr>
          <p:nvPr>
            <p:ph idx="1"/>
          </p:nvPr>
        </p:nvSpPr>
        <p:spPr/>
        <p:txBody>
          <a:bodyPr>
            <a:normAutofit lnSpcReduction="10000"/>
          </a:bodyPr>
          <a:lstStyle/>
          <a:p>
            <a:pPr marL="0" indent="0">
              <a:buNone/>
            </a:pPr>
            <a:r>
              <a:rPr lang="pl-PL" b="1" dirty="0" err="1"/>
              <a:t>height</a:t>
            </a:r>
            <a:r>
              <a:rPr lang="pl-PL" dirty="0"/>
              <a:t> – wysokość</a:t>
            </a:r>
          </a:p>
          <a:p>
            <a:pPr marL="0" indent="0">
              <a:buNone/>
            </a:pPr>
            <a:r>
              <a:rPr lang="pl-PL" b="1" dirty="0"/>
              <a:t>min-</a:t>
            </a:r>
            <a:r>
              <a:rPr lang="pl-PL" b="1" dirty="0" err="1"/>
              <a:t>height</a:t>
            </a:r>
            <a:r>
              <a:rPr lang="pl-PL" dirty="0"/>
              <a:t> – określa minimalną wysokość elementu. Pozwala ustawić wysokość tak aby nigdy nie była mniejsza od podanej wartości</a:t>
            </a:r>
          </a:p>
          <a:p>
            <a:pPr marL="0" indent="0">
              <a:buNone/>
            </a:pPr>
            <a:r>
              <a:rPr lang="pl-PL" b="1" dirty="0"/>
              <a:t>max-</a:t>
            </a:r>
            <a:r>
              <a:rPr lang="pl-PL" b="1" dirty="0" err="1"/>
              <a:t>height</a:t>
            </a:r>
            <a:r>
              <a:rPr lang="pl-PL" dirty="0"/>
              <a:t> – określa maksymalną wysokość elementu. Element może być wyższy ale nigdy nie może być niższy</a:t>
            </a:r>
          </a:p>
          <a:p>
            <a:pPr marL="0" indent="0">
              <a:buNone/>
            </a:pPr>
            <a:r>
              <a:rPr lang="pl-PL" dirty="0"/>
              <a:t>np. </a:t>
            </a:r>
          </a:p>
          <a:p>
            <a:pPr marL="0" indent="0">
              <a:buNone/>
            </a:pPr>
            <a:r>
              <a:rPr lang="pl-PL" dirty="0" err="1"/>
              <a:t>img</a:t>
            </a:r>
            <a:r>
              <a:rPr lang="pl-PL" dirty="0"/>
              <a:t>{max-</a:t>
            </a:r>
            <a:r>
              <a:rPr lang="pl-PL" dirty="0" err="1"/>
              <a:t>height</a:t>
            </a:r>
            <a:r>
              <a:rPr lang="pl-PL" dirty="0"/>
              <a:t>: 300px;}</a:t>
            </a:r>
          </a:p>
        </p:txBody>
      </p:sp>
    </p:spTree>
    <p:extLst>
      <p:ext uri="{BB962C8B-B14F-4D97-AF65-F5344CB8AC3E}">
        <p14:creationId xmlns:p14="http://schemas.microsoft.com/office/powerpoint/2010/main" val="500940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Atrybuty związane z rozmiarem elementów</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err="1"/>
              <a:t>overflow</a:t>
            </a:r>
            <a:r>
              <a:rPr lang="pl-PL" dirty="0"/>
              <a:t> – atrybut przepełnienia</a:t>
            </a:r>
          </a:p>
          <a:p>
            <a:pPr marL="0" indent="0">
              <a:buNone/>
            </a:pPr>
            <a:r>
              <a:rPr lang="pl-PL" dirty="0"/>
              <a:t>opcje:</a:t>
            </a:r>
          </a:p>
          <a:p>
            <a:pPr>
              <a:buFontTx/>
              <a:buChar char="-"/>
            </a:pPr>
            <a:r>
              <a:rPr lang="pl-PL" dirty="0" err="1"/>
              <a:t>visible</a:t>
            </a:r>
            <a:r>
              <a:rPr lang="pl-PL" dirty="0"/>
              <a:t> – pokazywana jest cała zawartość niezależnie od ustawionego rozmiaru</a:t>
            </a:r>
          </a:p>
          <a:p>
            <a:pPr>
              <a:buFontTx/>
              <a:buChar char="-"/>
            </a:pPr>
            <a:r>
              <a:rPr lang="pl-PL" dirty="0" err="1"/>
              <a:t>hidden</a:t>
            </a:r>
            <a:r>
              <a:rPr lang="pl-PL" dirty="0"/>
              <a:t> – treść nie mieszcząca się w danym rozmiarze zostanie ukryta</a:t>
            </a:r>
          </a:p>
          <a:p>
            <a:pPr>
              <a:buFontTx/>
              <a:buChar char="-"/>
            </a:pPr>
            <a:r>
              <a:rPr lang="pl-PL" dirty="0" err="1"/>
              <a:t>scroll</a:t>
            </a:r>
            <a:r>
              <a:rPr lang="pl-PL" dirty="0"/>
              <a:t> – powoduje w razie potrzeby wyświetlenie się paska przewijania</a:t>
            </a:r>
          </a:p>
          <a:p>
            <a:pPr>
              <a:buFontTx/>
              <a:buChar char="-"/>
            </a:pPr>
            <a:r>
              <a:rPr lang="pl-PL" dirty="0"/>
              <a:t>auto – jeżeli jest to konieczne suwaki zostaną wyświetlone</a:t>
            </a:r>
          </a:p>
        </p:txBody>
      </p:sp>
    </p:spTree>
    <p:extLst>
      <p:ext uri="{BB962C8B-B14F-4D97-AF65-F5344CB8AC3E}">
        <p14:creationId xmlns:p14="http://schemas.microsoft.com/office/powerpoint/2010/main" val="7287756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Atrybuty związane z rozmiarem elementów</a:t>
            </a:r>
          </a:p>
        </p:txBody>
      </p:sp>
      <p:sp>
        <p:nvSpPr>
          <p:cNvPr id="3" name="Symbol zastępczy zawartości 2"/>
          <p:cNvSpPr>
            <a:spLocks noGrp="1"/>
          </p:cNvSpPr>
          <p:nvPr>
            <p:ph idx="1"/>
          </p:nvPr>
        </p:nvSpPr>
        <p:spPr/>
        <p:txBody>
          <a:bodyPr/>
          <a:lstStyle/>
          <a:p>
            <a:pPr marL="0" indent="0">
              <a:buNone/>
            </a:pPr>
            <a:r>
              <a:rPr lang="pl-PL" dirty="0"/>
              <a:t>Atrybutu </a:t>
            </a:r>
            <a:r>
              <a:rPr lang="pl-PL" dirty="0" err="1"/>
              <a:t>overflow</a:t>
            </a:r>
            <a:r>
              <a:rPr lang="pl-PL" dirty="0"/>
              <a:t> można używać tylko dla elementów blokowych ze zdefiniowaną  wysokością. Domyślną wartością dla argumentu </a:t>
            </a:r>
            <a:r>
              <a:rPr lang="pl-PL" dirty="0" err="1"/>
              <a:t>overflow</a:t>
            </a:r>
            <a:r>
              <a:rPr lang="pl-PL" dirty="0"/>
              <a:t> jest </a:t>
            </a:r>
            <a:r>
              <a:rPr lang="pl-PL" dirty="0" err="1"/>
              <a:t>visible</a:t>
            </a:r>
            <a:r>
              <a:rPr lang="pl-PL"/>
              <a:t>.</a:t>
            </a:r>
            <a:endParaRPr lang="pl-PL" dirty="0"/>
          </a:p>
        </p:txBody>
      </p:sp>
    </p:spTree>
    <p:extLst>
      <p:ext uri="{BB962C8B-B14F-4D97-AF65-F5344CB8AC3E}">
        <p14:creationId xmlns:p14="http://schemas.microsoft.com/office/powerpoint/2010/main" val="10269229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list -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Selektory możliwe do formatowania w listach to &lt;ul&gt;, &lt;</a:t>
            </a:r>
            <a:r>
              <a:rPr lang="pl-PL" dirty="0" err="1"/>
              <a:t>ol</a:t>
            </a:r>
            <a:r>
              <a:rPr lang="pl-PL" dirty="0"/>
              <a:t>&gt;, &lt;li&gt;. Atrybut list-style-</a:t>
            </a:r>
            <a:r>
              <a:rPr lang="pl-PL" dirty="0" err="1"/>
              <a:t>type</a:t>
            </a:r>
            <a:r>
              <a:rPr lang="pl-PL" dirty="0"/>
              <a:t>.</a:t>
            </a:r>
          </a:p>
          <a:p>
            <a:pPr marL="0" indent="0">
              <a:buNone/>
            </a:pPr>
            <a:r>
              <a:rPr lang="pl-PL" dirty="0"/>
              <a:t>Możliwe wartości atrybutów:</a:t>
            </a:r>
          </a:p>
          <a:p>
            <a:pPr>
              <a:buFontTx/>
              <a:buChar char="-"/>
            </a:pPr>
            <a:r>
              <a:rPr lang="pl-PL" dirty="0"/>
              <a:t>disc – koło</a:t>
            </a:r>
          </a:p>
          <a:p>
            <a:pPr>
              <a:buFontTx/>
              <a:buChar char="-"/>
            </a:pPr>
            <a:r>
              <a:rPr lang="pl-PL" dirty="0" err="1"/>
              <a:t>circle</a:t>
            </a:r>
            <a:r>
              <a:rPr lang="pl-PL" dirty="0"/>
              <a:t> – okrąg</a:t>
            </a:r>
          </a:p>
          <a:p>
            <a:pPr>
              <a:buFontTx/>
              <a:buChar char="-"/>
            </a:pPr>
            <a:r>
              <a:rPr lang="pl-PL" dirty="0" err="1"/>
              <a:t>square</a:t>
            </a:r>
            <a:r>
              <a:rPr lang="pl-PL" dirty="0"/>
              <a:t> – </a:t>
            </a:r>
            <a:r>
              <a:rPr lang="pl-PL" dirty="0" err="1"/>
              <a:t>kwdrat</a:t>
            </a:r>
            <a:endParaRPr lang="pl-PL" dirty="0"/>
          </a:p>
          <a:p>
            <a:pPr>
              <a:buFontTx/>
              <a:buChar char="-"/>
            </a:pPr>
            <a:r>
              <a:rPr lang="pl-PL" dirty="0" err="1"/>
              <a:t>decimal</a:t>
            </a:r>
            <a:r>
              <a:rPr lang="pl-PL" dirty="0"/>
              <a:t> – liczby arabskie</a:t>
            </a:r>
          </a:p>
          <a:p>
            <a:pPr>
              <a:buFontTx/>
              <a:buChar char="-"/>
            </a:pPr>
            <a:r>
              <a:rPr lang="pl-PL" dirty="0" err="1"/>
              <a:t>lower-roman</a:t>
            </a:r>
            <a:r>
              <a:rPr lang="pl-PL" dirty="0"/>
              <a:t> – małe cyfry rzymskie</a:t>
            </a:r>
          </a:p>
          <a:p>
            <a:pPr>
              <a:buFontTx/>
              <a:buChar char="-"/>
            </a:pPr>
            <a:r>
              <a:rPr lang="pl-PL" dirty="0" err="1"/>
              <a:t>upper-roman</a:t>
            </a:r>
            <a:r>
              <a:rPr lang="pl-PL" dirty="0"/>
              <a:t> – duże cyfry rzymskie</a:t>
            </a:r>
          </a:p>
          <a:p>
            <a:pPr>
              <a:buFontTx/>
              <a:buChar char="-"/>
            </a:pPr>
            <a:r>
              <a:rPr lang="pl-PL" dirty="0" err="1"/>
              <a:t>lower-alpha</a:t>
            </a:r>
            <a:r>
              <a:rPr lang="pl-PL" dirty="0"/>
              <a:t> – małe litery</a:t>
            </a:r>
          </a:p>
          <a:p>
            <a:pPr>
              <a:buFontTx/>
              <a:buChar char="-"/>
            </a:pPr>
            <a:r>
              <a:rPr lang="pl-PL" dirty="0" err="1"/>
              <a:t>upper-alpha</a:t>
            </a:r>
            <a:r>
              <a:rPr lang="pl-PL" dirty="0"/>
              <a:t> – duże litery</a:t>
            </a:r>
          </a:p>
          <a:p>
            <a:pPr>
              <a:buFontTx/>
              <a:buChar char="-"/>
            </a:pPr>
            <a:r>
              <a:rPr lang="pl-PL" dirty="0" err="1"/>
              <a:t>none</a:t>
            </a:r>
            <a:r>
              <a:rPr lang="pl-PL" dirty="0"/>
              <a:t> – brak </a:t>
            </a:r>
            <a:r>
              <a:rPr lang="pl-PL" dirty="0" err="1"/>
              <a:t>punktora</a:t>
            </a:r>
            <a:endParaRPr lang="pl-PL" dirty="0"/>
          </a:p>
        </p:txBody>
      </p:sp>
    </p:spTree>
    <p:extLst>
      <p:ext uri="{BB962C8B-B14F-4D97-AF65-F5344CB8AC3E}">
        <p14:creationId xmlns:p14="http://schemas.microsoft.com/office/powerpoint/2010/main" val="28067942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Formatowanie list - zdjęcie</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a:t>Aby zamiast punktu wyświetlić zdjęcie w liście wypunktowanej należy użyć znacznika ul oraz atrybutu list-style-image: </a:t>
            </a:r>
            <a:r>
              <a:rPr lang="pl-PL" dirty="0" err="1"/>
              <a:t>url</a:t>
            </a:r>
            <a:r>
              <a:rPr lang="pl-PL" dirty="0"/>
              <a:t>(nazwa.png)</a:t>
            </a:r>
          </a:p>
          <a:p>
            <a:pPr marL="0" indent="0">
              <a:buNone/>
            </a:pPr>
            <a:endParaRPr lang="pl-PL" dirty="0"/>
          </a:p>
          <a:p>
            <a:pPr marL="0" indent="0">
              <a:buNone/>
            </a:pPr>
            <a:r>
              <a:rPr lang="pl-PL" dirty="0"/>
              <a:t>Aby ustawić położenie </a:t>
            </a:r>
            <a:r>
              <a:rPr lang="pl-PL" dirty="0" err="1"/>
              <a:t>punktora</a:t>
            </a:r>
            <a:r>
              <a:rPr lang="pl-PL" dirty="0"/>
              <a:t> należy użyć atrybutu list-style-</a:t>
            </a:r>
            <a:r>
              <a:rPr lang="pl-PL" dirty="0" err="1"/>
              <a:t>position</a:t>
            </a:r>
            <a:r>
              <a:rPr lang="pl-PL" dirty="0"/>
              <a:t>. </a:t>
            </a:r>
          </a:p>
          <a:p>
            <a:pPr marL="0" indent="0">
              <a:buNone/>
            </a:pPr>
            <a:r>
              <a:rPr lang="pl-PL" dirty="0"/>
              <a:t>Możliwe wartości:</a:t>
            </a:r>
          </a:p>
          <a:p>
            <a:pPr>
              <a:buFontTx/>
              <a:buChar char="-"/>
            </a:pPr>
            <a:r>
              <a:rPr lang="pl-PL" dirty="0" err="1"/>
              <a:t>outside</a:t>
            </a:r>
            <a:endParaRPr lang="pl-PL" dirty="0"/>
          </a:p>
          <a:p>
            <a:pPr>
              <a:buFontTx/>
              <a:buChar char="-"/>
            </a:pPr>
            <a:r>
              <a:rPr lang="pl-PL" dirty="0" err="1"/>
              <a:t>inside</a:t>
            </a:r>
            <a:endParaRPr lang="pl-PL"/>
          </a:p>
          <a:p>
            <a:pPr>
              <a:buFontTx/>
              <a:buChar char="-"/>
            </a:pPr>
            <a:endParaRPr lang="pl-PL"/>
          </a:p>
        </p:txBody>
      </p:sp>
    </p:spTree>
    <p:extLst>
      <p:ext uri="{BB962C8B-B14F-4D97-AF65-F5344CB8AC3E}">
        <p14:creationId xmlns:p14="http://schemas.microsoft.com/office/powerpoint/2010/main" val="22838944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err="1"/>
              <a:t>caption-side</a:t>
            </a:r>
            <a:r>
              <a:rPr lang="pl-PL" dirty="0"/>
              <a:t> – służy do określenia położenia podpisu dodanego do tabeli</a:t>
            </a:r>
          </a:p>
          <a:p>
            <a:pPr marL="0" indent="0">
              <a:buNone/>
            </a:pPr>
            <a:endParaRPr lang="pl-PL" dirty="0"/>
          </a:p>
          <a:p>
            <a:pPr marL="0" indent="0">
              <a:buNone/>
            </a:pPr>
            <a:r>
              <a:rPr lang="pl-PL" dirty="0"/>
              <a:t>możliwe wartości :</a:t>
            </a:r>
          </a:p>
          <a:p>
            <a:pPr>
              <a:buFontTx/>
              <a:buChar char="-"/>
            </a:pPr>
            <a:r>
              <a:rPr lang="pl-PL" dirty="0"/>
              <a:t>top</a:t>
            </a:r>
          </a:p>
          <a:p>
            <a:pPr>
              <a:buFontTx/>
              <a:buChar char="-"/>
            </a:pPr>
            <a:r>
              <a:rPr lang="pl-PL" dirty="0" err="1"/>
              <a:t>bottom</a:t>
            </a:r>
            <a:endParaRPr lang="pl-PL" dirty="0"/>
          </a:p>
          <a:p>
            <a:pPr>
              <a:buFontTx/>
              <a:buChar char="-"/>
            </a:pPr>
            <a:r>
              <a:rPr lang="pl-PL" dirty="0" err="1"/>
              <a:t>left</a:t>
            </a:r>
            <a:endParaRPr lang="pl-PL" dirty="0"/>
          </a:p>
          <a:p>
            <a:pPr>
              <a:buFontTx/>
              <a:buChar char="-"/>
            </a:pPr>
            <a:r>
              <a:rPr lang="pl-PL" dirty="0" err="1"/>
              <a:t>right</a:t>
            </a:r>
            <a:endParaRPr lang="pl-PL" dirty="0"/>
          </a:p>
          <a:p>
            <a:pPr marL="0" indent="0">
              <a:buNone/>
            </a:pPr>
            <a:r>
              <a:rPr lang="pl-PL" dirty="0"/>
              <a:t>np.</a:t>
            </a:r>
          </a:p>
          <a:p>
            <a:pPr marL="0" indent="0">
              <a:buNone/>
            </a:pPr>
            <a:r>
              <a:rPr lang="pl-PL" dirty="0" err="1"/>
              <a:t>table</a:t>
            </a:r>
            <a:r>
              <a:rPr lang="pl-PL" dirty="0"/>
              <a:t>{</a:t>
            </a:r>
            <a:r>
              <a:rPr lang="pl-PL" dirty="0" err="1"/>
              <a:t>caption-side</a:t>
            </a:r>
            <a:r>
              <a:rPr lang="pl-PL" dirty="0"/>
              <a:t>: </a:t>
            </a:r>
            <a:r>
              <a:rPr lang="pl-PL" dirty="0" err="1"/>
              <a:t>bottom</a:t>
            </a:r>
            <a:r>
              <a:rPr lang="pl-PL" dirty="0"/>
              <a:t>;}</a:t>
            </a:r>
          </a:p>
        </p:txBody>
      </p:sp>
    </p:spTree>
    <p:extLst>
      <p:ext uri="{BB962C8B-B14F-4D97-AF65-F5344CB8AC3E}">
        <p14:creationId xmlns:p14="http://schemas.microsoft.com/office/powerpoint/2010/main" val="13926922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err="1"/>
              <a:t>border</a:t>
            </a:r>
            <a:r>
              <a:rPr lang="pl-PL" dirty="0"/>
              <a:t> – służy do określenia obramowania, w przypadku tabeli można go stosować do selektorów </a:t>
            </a:r>
            <a:r>
              <a:rPr lang="pl-PL" dirty="0" err="1"/>
              <a:t>table</a:t>
            </a:r>
            <a:r>
              <a:rPr lang="pl-PL" dirty="0"/>
              <a:t>, th, </a:t>
            </a:r>
            <a:r>
              <a:rPr lang="pl-PL" dirty="0" err="1"/>
              <a:t>td</a:t>
            </a:r>
            <a:r>
              <a:rPr lang="pl-PL" dirty="0"/>
              <a:t>, </a:t>
            </a:r>
            <a:r>
              <a:rPr lang="pl-PL" dirty="0" err="1"/>
              <a:t>tr</a:t>
            </a:r>
            <a:endParaRPr lang="pl-PL" dirty="0"/>
          </a:p>
          <a:p>
            <a:pPr marL="0" indent="0">
              <a:buNone/>
            </a:pPr>
            <a:endParaRPr lang="pl-PL" dirty="0"/>
          </a:p>
          <a:p>
            <a:pPr marL="0" indent="0">
              <a:buNone/>
            </a:pPr>
            <a:r>
              <a:rPr lang="pl-PL" dirty="0"/>
              <a:t>np. </a:t>
            </a:r>
            <a:r>
              <a:rPr lang="pl-PL" dirty="0" err="1"/>
              <a:t>table</a:t>
            </a:r>
            <a:r>
              <a:rPr lang="pl-PL" dirty="0"/>
              <a:t>{</a:t>
            </a:r>
            <a:r>
              <a:rPr lang="pl-PL" dirty="0" err="1"/>
              <a:t>border</a:t>
            </a:r>
            <a:r>
              <a:rPr lang="pl-PL" dirty="0"/>
              <a:t>: 5px solid </a:t>
            </a:r>
            <a:r>
              <a:rPr lang="pl-PL" dirty="0" err="1"/>
              <a:t>black</a:t>
            </a:r>
            <a:r>
              <a:rPr lang="pl-PL" dirty="0"/>
              <a:t>;} – cała tabela będzie obramowana w następujący sposób</a:t>
            </a:r>
          </a:p>
          <a:p>
            <a:pPr marL="0" indent="0">
              <a:buNone/>
            </a:pPr>
            <a:endParaRPr lang="pl-PL" dirty="0"/>
          </a:p>
          <a:p>
            <a:pPr marL="0" indent="0">
              <a:buNone/>
            </a:pPr>
            <a:r>
              <a:rPr lang="pl-PL" dirty="0"/>
              <a:t>lub</a:t>
            </a:r>
          </a:p>
          <a:p>
            <a:pPr marL="0" indent="0">
              <a:buNone/>
            </a:pPr>
            <a:endParaRPr lang="pl-PL" dirty="0"/>
          </a:p>
          <a:p>
            <a:pPr marL="0" indent="0">
              <a:buNone/>
            </a:pPr>
            <a:r>
              <a:rPr lang="pl-PL" dirty="0" err="1"/>
              <a:t>td</a:t>
            </a:r>
            <a:r>
              <a:rPr lang="pl-PL" dirty="0"/>
              <a:t>{</a:t>
            </a:r>
            <a:r>
              <a:rPr lang="pl-PL" dirty="0" err="1"/>
              <a:t>border</a:t>
            </a:r>
            <a:r>
              <a:rPr lang="pl-PL" dirty="0"/>
              <a:t>: 5px solid </a:t>
            </a:r>
            <a:r>
              <a:rPr lang="pl-PL" dirty="0" err="1"/>
              <a:t>black</a:t>
            </a:r>
            <a:r>
              <a:rPr lang="pl-PL" dirty="0"/>
              <a:t>;} – tylko wiersze będą obramowane w następujący sposób</a:t>
            </a:r>
          </a:p>
          <a:p>
            <a:pPr marL="0" indent="0">
              <a:buNone/>
            </a:pPr>
            <a:endParaRPr lang="pl-PL" dirty="0"/>
          </a:p>
        </p:txBody>
      </p:sp>
    </p:spTree>
    <p:extLst>
      <p:ext uri="{BB962C8B-B14F-4D97-AF65-F5344CB8AC3E}">
        <p14:creationId xmlns:p14="http://schemas.microsoft.com/office/powerpoint/2010/main" val="3952865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err="1"/>
              <a:t>border-collapse</a:t>
            </a:r>
            <a:r>
              <a:rPr lang="pl-PL" dirty="0"/>
              <a:t> – określa sposób obramowania komórek tabeli. Możliwe jest obramowanie sąsiednich komórek za pomocą jednej linii lub obramowanie każdej komórki osobno.</a:t>
            </a:r>
          </a:p>
          <a:p>
            <a:pPr marL="0" indent="0">
              <a:buNone/>
            </a:pPr>
            <a:endParaRPr lang="pl-PL" dirty="0"/>
          </a:p>
          <a:p>
            <a:pPr marL="0" indent="0">
              <a:buNone/>
            </a:pPr>
            <a:r>
              <a:rPr lang="pl-PL" dirty="0"/>
              <a:t>możliwe wartości to:</a:t>
            </a:r>
          </a:p>
          <a:p>
            <a:pPr marL="0" indent="0">
              <a:buNone/>
            </a:pPr>
            <a:r>
              <a:rPr lang="pl-PL" dirty="0" err="1"/>
              <a:t>collapse</a:t>
            </a:r>
            <a:r>
              <a:rPr lang="pl-PL" dirty="0"/>
              <a:t> – pojedyncze obramowanie</a:t>
            </a:r>
          </a:p>
          <a:p>
            <a:pPr marL="0" indent="0">
              <a:buNone/>
            </a:pPr>
            <a:r>
              <a:rPr lang="pl-PL" dirty="0" err="1"/>
              <a:t>separate</a:t>
            </a:r>
            <a:r>
              <a:rPr lang="pl-PL" dirty="0"/>
              <a:t> – komórki tabeli będą od siebie odseparowane</a:t>
            </a:r>
          </a:p>
          <a:p>
            <a:pPr marL="0" indent="0">
              <a:buNone/>
            </a:pPr>
            <a:endParaRPr lang="pl-PL" dirty="0"/>
          </a:p>
          <a:p>
            <a:pPr marL="0" indent="0">
              <a:buNone/>
            </a:pPr>
            <a:r>
              <a:rPr lang="pl-PL" dirty="0"/>
              <a:t>np. </a:t>
            </a:r>
            <a:r>
              <a:rPr lang="en-US" dirty="0"/>
              <a:t>table{</a:t>
            </a:r>
          </a:p>
          <a:p>
            <a:pPr marL="0" indent="0">
              <a:buNone/>
            </a:pPr>
            <a:r>
              <a:rPr lang="en-US" dirty="0"/>
              <a:t>border-collapse: collapse;</a:t>
            </a:r>
            <a:endParaRPr lang="pl-PL" dirty="0"/>
          </a:p>
          <a:p>
            <a:pPr marL="0" indent="0">
              <a:buNone/>
            </a:pPr>
            <a:r>
              <a:rPr lang="pl-PL" dirty="0"/>
              <a:t>}</a:t>
            </a:r>
          </a:p>
        </p:txBody>
      </p:sp>
    </p:spTree>
    <p:extLst>
      <p:ext uri="{BB962C8B-B14F-4D97-AF65-F5344CB8AC3E}">
        <p14:creationId xmlns:p14="http://schemas.microsoft.com/office/powerpoint/2010/main" val="269723549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err="1"/>
              <a:t>empty-cells</a:t>
            </a:r>
            <a:r>
              <a:rPr lang="pl-PL" dirty="0"/>
              <a:t> – służy do określenia obramowania pustych cel</a:t>
            </a:r>
          </a:p>
          <a:p>
            <a:pPr marL="0" indent="0">
              <a:buNone/>
            </a:pPr>
            <a:endParaRPr lang="pl-PL" dirty="0"/>
          </a:p>
          <a:p>
            <a:pPr marL="0" indent="0">
              <a:buNone/>
            </a:pPr>
            <a:r>
              <a:rPr lang="pl-PL" dirty="0"/>
              <a:t>możliwe wartości:</a:t>
            </a:r>
          </a:p>
          <a:p>
            <a:pPr>
              <a:buFontTx/>
              <a:buChar char="-"/>
            </a:pPr>
            <a:r>
              <a:rPr lang="pl-PL" dirty="0"/>
              <a:t>show</a:t>
            </a:r>
          </a:p>
          <a:p>
            <a:pPr>
              <a:buFontTx/>
              <a:buChar char="-"/>
            </a:pPr>
            <a:r>
              <a:rPr lang="pl-PL" dirty="0" err="1"/>
              <a:t>hide</a:t>
            </a:r>
            <a:endParaRPr lang="pl-PL" dirty="0"/>
          </a:p>
          <a:p>
            <a:pPr marL="0" indent="0">
              <a:buNone/>
            </a:pPr>
            <a:endParaRPr lang="pl-PL" dirty="0"/>
          </a:p>
          <a:p>
            <a:pPr marL="0" indent="0">
              <a:buNone/>
            </a:pPr>
            <a:r>
              <a:rPr lang="pl-PL" dirty="0"/>
              <a:t>Lecz należy pamiętać żeby ta opcja działała należy ustawić </a:t>
            </a:r>
            <a:r>
              <a:rPr lang="pl-PL" dirty="0" err="1"/>
              <a:t>border-collapse</a:t>
            </a:r>
            <a:r>
              <a:rPr lang="pl-PL" dirty="0"/>
              <a:t> na </a:t>
            </a:r>
            <a:r>
              <a:rPr lang="pl-PL" dirty="0" err="1"/>
              <a:t>separate</a:t>
            </a:r>
            <a:endParaRPr lang="pl-PL" dirty="0"/>
          </a:p>
        </p:txBody>
      </p:sp>
    </p:spTree>
    <p:extLst>
      <p:ext uri="{BB962C8B-B14F-4D97-AF65-F5344CB8AC3E}">
        <p14:creationId xmlns:p14="http://schemas.microsoft.com/office/powerpoint/2010/main" val="69605746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err="1"/>
              <a:t>table-layout</a:t>
            </a:r>
            <a:r>
              <a:rPr lang="pl-PL" dirty="0"/>
              <a:t> – służy do rozplanowania tabeli na stronie</a:t>
            </a:r>
          </a:p>
          <a:p>
            <a:pPr marL="0" indent="0">
              <a:buNone/>
            </a:pPr>
            <a:r>
              <a:rPr lang="pl-PL" dirty="0"/>
              <a:t>możliwe wartości:</a:t>
            </a:r>
          </a:p>
          <a:p>
            <a:pPr marL="0" indent="0">
              <a:buNone/>
            </a:pPr>
            <a:r>
              <a:rPr lang="pl-PL" dirty="0"/>
              <a:t>auto – szerokość tabeli jest ustawiona automatycznie i zależy od zawartości komórek</a:t>
            </a:r>
          </a:p>
          <a:p>
            <a:pPr marL="0" indent="0">
              <a:buNone/>
            </a:pPr>
            <a:r>
              <a:rPr lang="pl-PL" dirty="0" err="1"/>
              <a:t>fixed</a:t>
            </a:r>
            <a:r>
              <a:rPr lang="pl-PL" dirty="0"/>
              <a:t> – szerokość tabeli wynika z zadeklarowanej szerokości poszczególnych komórek oraz szerokości całej tabeli</a:t>
            </a:r>
          </a:p>
          <a:p>
            <a:pPr marL="0" indent="0">
              <a:buNone/>
            </a:pPr>
            <a:endParaRPr lang="pl-PL" dirty="0"/>
          </a:p>
          <a:p>
            <a:pPr marL="0" indent="0">
              <a:buNone/>
            </a:pPr>
            <a:r>
              <a:rPr lang="pl-PL" dirty="0"/>
              <a:t>Uwaga !!! różne przeglądarki różnie interpretują ten atrybut</a:t>
            </a:r>
          </a:p>
        </p:txBody>
      </p:sp>
    </p:spTree>
    <p:extLst>
      <p:ext uri="{BB962C8B-B14F-4D97-AF65-F5344CB8AC3E}">
        <p14:creationId xmlns:p14="http://schemas.microsoft.com/office/powerpoint/2010/main" val="11888796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normAutofit fontScale="70000" lnSpcReduction="20000"/>
          </a:bodyPr>
          <a:lstStyle/>
          <a:p>
            <a:pPr marL="0" indent="0">
              <a:buNone/>
            </a:pPr>
            <a:r>
              <a:rPr lang="pl-PL" dirty="0" err="1"/>
              <a:t>border-spacing</a:t>
            </a:r>
            <a:r>
              <a:rPr lang="pl-PL" dirty="0"/>
              <a:t> – służy do określania wielkości odstępu między komórkami. Gdy podamy jedną wartość będzie dotyczyło to wszystkich krawędzi, gdy podamy dwie wartości pierwsza będzie dotyczyła odstępu poziomego, druga będzie dotyczyła odstępu pionowego.</a:t>
            </a:r>
          </a:p>
          <a:p>
            <a:pPr marL="0" indent="0">
              <a:buNone/>
            </a:pPr>
            <a:r>
              <a:rPr lang="pl-PL" dirty="0"/>
              <a:t>np.</a:t>
            </a:r>
          </a:p>
          <a:p>
            <a:pPr marL="0" indent="0">
              <a:buNone/>
            </a:pPr>
            <a:r>
              <a:rPr lang="pl-PL" dirty="0"/>
              <a:t>#table1 {</a:t>
            </a:r>
          </a:p>
          <a:p>
            <a:pPr marL="0" indent="0">
              <a:buNone/>
            </a:pPr>
            <a:r>
              <a:rPr lang="pl-PL" dirty="0"/>
              <a:t>  </a:t>
            </a:r>
            <a:r>
              <a:rPr lang="pl-PL" dirty="0" err="1"/>
              <a:t>border-collapse</a:t>
            </a:r>
            <a:r>
              <a:rPr lang="pl-PL" dirty="0"/>
              <a:t>: </a:t>
            </a:r>
            <a:r>
              <a:rPr lang="pl-PL" dirty="0" err="1"/>
              <a:t>separate</a:t>
            </a:r>
            <a:r>
              <a:rPr lang="pl-PL" dirty="0"/>
              <a:t>;</a:t>
            </a:r>
          </a:p>
          <a:p>
            <a:pPr marL="0" indent="0">
              <a:buNone/>
            </a:pPr>
            <a:r>
              <a:rPr lang="pl-PL" dirty="0"/>
              <a:t>  </a:t>
            </a:r>
            <a:r>
              <a:rPr lang="pl-PL" dirty="0" err="1"/>
              <a:t>border-spacing</a:t>
            </a:r>
            <a:r>
              <a:rPr lang="pl-PL" dirty="0"/>
              <a:t>: 15px;</a:t>
            </a:r>
          </a:p>
          <a:p>
            <a:pPr marL="0" indent="0">
              <a:buNone/>
            </a:pPr>
            <a:r>
              <a:rPr lang="pl-PL" dirty="0"/>
              <a:t>}</a:t>
            </a:r>
          </a:p>
          <a:p>
            <a:pPr marL="0" indent="0">
              <a:buNone/>
            </a:pPr>
            <a:r>
              <a:rPr lang="pl-PL" dirty="0"/>
              <a:t>#table2 {</a:t>
            </a:r>
          </a:p>
          <a:p>
            <a:pPr marL="0" indent="0">
              <a:buNone/>
            </a:pPr>
            <a:r>
              <a:rPr lang="pl-PL" dirty="0"/>
              <a:t>  </a:t>
            </a:r>
            <a:r>
              <a:rPr lang="pl-PL" dirty="0" err="1"/>
              <a:t>border-collapse</a:t>
            </a:r>
            <a:r>
              <a:rPr lang="pl-PL" dirty="0"/>
              <a:t>: </a:t>
            </a:r>
            <a:r>
              <a:rPr lang="pl-PL" dirty="0" err="1"/>
              <a:t>separate</a:t>
            </a:r>
            <a:r>
              <a:rPr lang="pl-PL" dirty="0"/>
              <a:t>;</a:t>
            </a:r>
          </a:p>
          <a:p>
            <a:pPr marL="0" indent="0">
              <a:buNone/>
            </a:pPr>
            <a:r>
              <a:rPr lang="pl-PL" dirty="0"/>
              <a:t>  </a:t>
            </a:r>
            <a:r>
              <a:rPr lang="pl-PL" dirty="0" err="1"/>
              <a:t>border-spacing</a:t>
            </a:r>
            <a:r>
              <a:rPr lang="pl-PL" dirty="0"/>
              <a:t>: 15px 50px;</a:t>
            </a:r>
          </a:p>
          <a:p>
            <a:pPr marL="0" indent="0">
              <a:buNone/>
            </a:pPr>
            <a:r>
              <a:rPr lang="pl-PL" dirty="0"/>
              <a:t>}</a:t>
            </a:r>
          </a:p>
        </p:txBody>
      </p:sp>
    </p:spTree>
    <p:extLst>
      <p:ext uri="{BB962C8B-B14F-4D97-AF65-F5344CB8AC3E}">
        <p14:creationId xmlns:p14="http://schemas.microsoft.com/office/powerpoint/2010/main" val="33753690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Tabele – formatowanie w CSS</a:t>
            </a:r>
          </a:p>
        </p:txBody>
      </p:sp>
      <p:sp>
        <p:nvSpPr>
          <p:cNvPr id="3" name="Symbol zastępczy zawartości 2"/>
          <p:cNvSpPr>
            <a:spLocks noGrp="1"/>
          </p:cNvSpPr>
          <p:nvPr>
            <p:ph idx="1"/>
          </p:nvPr>
        </p:nvSpPr>
        <p:spPr/>
        <p:txBody>
          <a:bodyPr/>
          <a:lstStyle/>
          <a:p>
            <a:pPr marL="0" indent="0">
              <a:buNone/>
            </a:pPr>
            <a:r>
              <a:rPr lang="pl-PL" dirty="0" err="1"/>
              <a:t>width</a:t>
            </a:r>
            <a:r>
              <a:rPr lang="pl-PL" dirty="0"/>
              <a:t> – </a:t>
            </a:r>
            <a:r>
              <a:rPr lang="pl-PL" dirty="0" err="1"/>
              <a:t>szerokść</a:t>
            </a:r>
            <a:r>
              <a:rPr lang="pl-PL" dirty="0"/>
              <a:t> </a:t>
            </a:r>
          </a:p>
          <a:p>
            <a:pPr marL="0" indent="0">
              <a:buNone/>
            </a:pPr>
            <a:r>
              <a:rPr lang="pl-PL" dirty="0" err="1"/>
              <a:t>height</a:t>
            </a:r>
            <a:r>
              <a:rPr lang="pl-PL" dirty="0"/>
              <a:t> – wysokość</a:t>
            </a:r>
          </a:p>
          <a:p>
            <a:pPr marL="0" indent="0">
              <a:buNone/>
            </a:pPr>
            <a:r>
              <a:rPr lang="pl-PL" dirty="0"/>
              <a:t>Jeżeli podane atrybuty zastosujemy w selektorach </a:t>
            </a:r>
            <a:r>
              <a:rPr lang="pl-PL" dirty="0" err="1"/>
              <a:t>table</a:t>
            </a:r>
            <a:r>
              <a:rPr lang="pl-PL" dirty="0"/>
              <a:t>, th, </a:t>
            </a:r>
            <a:r>
              <a:rPr lang="pl-PL" dirty="0" err="1"/>
              <a:t>td</a:t>
            </a:r>
            <a:r>
              <a:rPr lang="pl-PL" dirty="0"/>
              <a:t>, </a:t>
            </a:r>
            <a:r>
              <a:rPr lang="pl-PL" dirty="0" err="1"/>
              <a:t>tr</a:t>
            </a:r>
            <a:r>
              <a:rPr lang="pl-PL" dirty="0"/>
              <a:t> ustawimy sobie odpowiednią wysokość i </a:t>
            </a:r>
            <a:r>
              <a:rPr lang="pl-PL"/>
              <a:t>szerokość tabeli</a:t>
            </a:r>
          </a:p>
        </p:txBody>
      </p:sp>
    </p:spTree>
    <p:extLst>
      <p:ext uri="{BB962C8B-B14F-4D97-AF65-F5344CB8AC3E}">
        <p14:creationId xmlns:p14="http://schemas.microsoft.com/office/powerpoint/2010/main" val="30254486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normAutofit fontScale="92500"/>
          </a:bodyPr>
          <a:lstStyle/>
          <a:p>
            <a:pPr marL="0" indent="0">
              <a:buNone/>
            </a:pPr>
            <a:r>
              <a:rPr lang="pl-PL" dirty="0"/>
              <a:t>Pozycjonowanie na stronach internetowych pozwala na zdefiniowanie położenia elementu względem okna przeglądarki lub innego elementu.</a:t>
            </a:r>
          </a:p>
          <a:p>
            <a:pPr marL="0" indent="0">
              <a:buNone/>
            </a:pPr>
            <a:endParaRPr lang="pl-PL" dirty="0"/>
          </a:p>
          <a:p>
            <a:pPr marL="0" indent="0">
              <a:buNone/>
            </a:pPr>
            <a:r>
              <a:rPr lang="pl-PL" dirty="0"/>
              <a:t>Do pozycjonowania służy atrybut </a:t>
            </a:r>
            <a:r>
              <a:rPr lang="pl-PL" dirty="0" err="1"/>
              <a:t>position</a:t>
            </a:r>
            <a:endParaRPr lang="pl-PL" dirty="0"/>
          </a:p>
          <a:p>
            <a:pPr marL="0" indent="0">
              <a:buNone/>
            </a:pPr>
            <a:endParaRPr lang="pl-PL" dirty="0"/>
          </a:p>
          <a:p>
            <a:pPr marL="0" indent="0">
              <a:buNone/>
            </a:pPr>
            <a:r>
              <a:rPr lang="pl-PL" dirty="0"/>
              <a:t>Składnia:</a:t>
            </a:r>
          </a:p>
          <a:p>
            <a:pPr marL="0" indent="0">
              <a:buNone/>
            </a:pPr>
            <a:r>
              <a:rPr lang="pl-PL" dirty="0"/>
              <a:t>selektor{</a:t>
            </a:r>
            <a:r>
              <a:rPr lang="pl-PL" dirty="0" err="1"/>
              <a:t>position</a:t>
            </a:r>
            <a:r>
              <a:rPr lang="pl-PL" dirty="0"/>
              <a:t>: rodzaj; parametry;}</a:t>
            </a:r>
          </a:p>
        </p:txBody>
      </p:sp>
    </p:spTree>
    <p:extLst>
      <p:ext uri="{BB962C8B-B14F-4D97-AF65-F5344CB8AC3E}">
        <p14:creationId xmlns:p14="http://schemas.microsoft.com/office/powerpoint/2010/main" val="10632541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a:t>Atrybut </a:t>
            </a:r>
            <a:r>
              <a:rPr lang="pl-PL" dirty="0" err="1"/>
              <a:t>position</a:t>
            </a:r>
            <a:r>
              <a:rPr lang="pl-PL" dirty="0"/>
              <a:t> może przyjmować następujące wartości:</a:t>
            </a:r>
          </a:p>
          <a:p>
            <a:pPr>
              <a:buFontTx/>
              <a:buChar char="-"/>
            </a:pPr>
            <a:r>
              <a:rPr lang="pl-PL" dirty="0" err="1"/>
              <a:t>static</a:t>
            </a:r>
            <a:endParaRPr lang="pl-PL" dirty="0"/>
          </a:p>
          <a:p>
            <a:pPr>
              <a:buFontTx/>
              <a:buChar char="-"/>
            </a:pPr>
            <a:r>
              <a:rPr lang="pl-PL" dirty="0" err="1"/>
              <a:t>relative</a:t>
            </a:r>
            <a:endParaRPr lang="pl-PL" dirty="0"/>
          </a:p>
          <a:p>
            <a:pPr>
              <a:buFontTx/>
              <a:buChar char="-"/>
            </a:pPr>
            <a:r>
              <a:rPr lang="pl-PL" dirty="0" err="1"/>
              <a:t>absolute</a:t>
            </a:r>
            <a:endParaRPr lang="pl-PL" dirty="0"/>
          </a:p>
          <a:p>
            <a:pPr>
              <a:buFontTx/>
              <a:buChar char="-"/>
            </a:pPr>
            <a:r>
              <a:rPr lang="pl-PL" dirty="0" err="1"/>
              <a:t>fixed</a:t>
            </a:r>
            <a:endParaRPr lang="pl-PL" dirty="0"/>
          </a:p>
        </p:txBody>
      </p:sp>
    </p:spTree>
    <p:extLst>
      <p:ext uri="{BB962C8B-B14F-4D97-AF65-F5344CB8AC3E}">
        <p14:creationId xmlns:p14="http://schemas.microsoft.com/office/powerpoint/2010/main" val="376415831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err="1"/>
              <a:t>Static</a:t>
            </a:r>
            <a:r>
              <a:rPr lang="pl-PL" dirty="0"/>
              <a:t> przywraca normalne pozycjonowanie elementu. Jest to wartość przydatna wtedy, gdy wcześniej została podana deklaracja pozycjonowania tego typu elementów. Użycie w definicji stylu </a:t>
            </a:r>
            <a:r>
              <a:rPr lang="pl-PL" dirty="0" err="1"/>
              <a:t>inline</a:t>
            </a:r>
            <a:r>
              <a:rPr lang="pl-PL" dirty="0"/>
              <a:t> dla wybranego elementu deklaracji </a:t>
            </a:r>
            <a:r>
              <a:rPr lang="pl-PL" dirty="0" err="1"/>
              <a:t>position</a:t>
            </a:r>
            <a:r>
              <a:rPr lang="pl-PL" dirty="0"/>
              <a:t>: </a:t>
            </a:r>
            <a:r>
              <a:rPr lang="pl-PL" dirty="0" err="1"/>
              <a:t>static</a:t>
            </a:r>
            <a:r>
              <a:rPr lang="pl-PL" dirty="0"/>
              <a:t> zniesie wcześniej zadeklarowane wartości w kodzie CSS dla danego elementu.</a:t>
            </a:r>
          </a:p>
        </p:txBody>
      </p:sp>
    </p:spTree>
    <p:extLst>
      <p:ext uri="{BB962C8B-B14F-4D97-AF65-F5344CB8AC3E}">
        <p14:creationId xmlns:p14="http://schemas.microsoft.com/office/powerpoint/2010/main" val="371102670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err="1"/>
              <a:t>Relative</a:t>
            </a:r>
            <a:r>
              <a:rPr lang="pl-PL" dirty="0"/>
              <a:t> – jest to pozycjonowane względne. Pozwala przesunąć wybrany element w inne miejsce w stosunku do położenia pierwotnego. Poprzez ustawienie parametrów można określić sposób przesunięcia</a:t>
            </a:r>
          </a:p>
        </p:txBody>
      </p:sp>
    </p:spTree>
    <p:extLst>
      <p:ext uri="{BB962C8B-B14F-4D97-AF65-F5344CB8AC3E}">
        <p14:creationId xmlns:p14="http://schemas.microsoft.com/office/powerpoint/2010/main" val="1091503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err="1"/>
              <a:t>Absolute</a:t>
            </a:r>
            <a:r>
              <a:rPr lang="pl-PL" dirty="0"/>
              <a:t> – pozwala przesunąć element w inne miejsce względem brzegów strony lub bloku. Poprzez ustawienie parametrów można określić sposób przesunięcia. Element zostanie umieszczony na sztywno w miejscu określonym przez parametry.</a:t>
            </a:r>
          </a:p>
        </p:txBody>
      </p:sp>
    </p:spTree>
    <p:extLst>
      <p:ext uri="{BB962C8B-B14F-4D97-AF65-F5344CB8AC3E}">
        <p14:creationId xmlns:p14="http://schemas.microsoft.com/office/powerpoint/2010/main" val="296978624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err="1"/>
              <a:t>fixed</a:t>
            </a:r>
            <a:r>
              <a:rPr lang="pl-PL" dirty="0"/>
              <a:t> – działa podobnie jak </a:t>
            </a:r>
            <a:r>
              <a:rPr lang="pl-PL" dirty="0" err="1"/>
              <a:t>absolute</a:t>
            </a:r>
            <a:r>
              <a:rPr lang="pl-PL" dirty="0"/>
              <a:t>. Różnica polega tylko na tym że pozycjonowanie </a:t>
            </a:r>
            <a:r>
              <a:rPr lang="pl-PL" dirty="0" err="1"/>
              <a:t>fixed</a:t>
            </a:r>
            <a:r>
              <a:rPr lang="pl-PL" dirty="0"/>
              <a:t> ustala położenie elementu zawsze względem okna przeglądarki. Tak pozycjonowany element pozostaje nieruchomy przez cały czas, nawet jeżeli będziemy przewijali okno przeglądarki.</a:t>
            </a:r>
          </a:p>
        </p:txBody>
      </p:sp>
    </p:spTree>
    <p:extLst>
      <p:ext uri="{BB962C8B-B14F-4D97-AF65-F5344CB8AC3E}">
        <p14:creationId xmlns:p14="http://schemas.microsoft.com/office/powerpoint/2010/main" val="23053172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normAutofit fontScale="85000" lnSpcReduction="10000"/>
          </a:bodyPr>
          <a:lstStyle/>
          <a:p>
            <a:pPr marL="0" indent="0">
              <a:buNone/>
            </a:pPr>
            <a:r>
              <a:rPr lang="pl-PL" dirty="0"/>
              <a:t>Parametry jakie można podawać podczas pozycjonowania:</a:t>
            </a:r>
          </a:p>
          <a:p>
            <a:pPr>
              <a:buFont typeface="Wingdings" pitchFamily="2" charset="2"/>
              <a:buChar char="ü"/>
            </a:pPr>
            <a:r>
              <a:rPr lang="pl-PL" dirty="0" err="1"/>
              <a:t>left</a:t>
            </a:r>
            <a:r>
              <a:rPr lang="pl-PL" dirty="0"/>
              <a:t> – przesunięcie o określoną wartość w stosunku do lewej krawędzi położenia pierwotnego</a:t>
            </a:r>
          </a:p>
          <a:p>
            <a:pPr>
              <a:buFont typeface="Wingdings" pitchFamily="2" charset="2"/>
              <a:buChar char="ü"/>
            </a:pPr>
            <a:r>
              <a:rPr lang="pl-PL" dirty="0" err="1"/>
              <a:t>right</a:t>
            </a:r>
            <a:r>
              <a:rPr lang="pl-PL" dirty="0"/>
              <a:t> - przesunięcie o określoną wartość w stosunku do prawej krawędzi położenia pierwotnego</a:t>
            </a:r>
          </a:p>
          <a:p>
            <a:pPr>
              <a:buFont typeface="Wingdings" pitchFamily="2" charset="2"/>
              <a:buChar char="ü"/>
            </a:pPr>
            <a:r>
              <a:rPr lang="pl-PL" dirty="0"/>
              <a:t>top - przesunięcie o określoną wartość w stosunku do  górnej krawędzi położenia pierwotnego</a:t>
            </a:r>
          </a:p>
          <a:p>
            <a:pPr>
              <a:buFont typeface="Wingdings" pitchFamily="2" charset="2"/>
              <a:buChar char="ü"/>
            </a:pPr>
            <a:r>
              <a:rPr lang="pl-PL" dirty="0" err="1"/>
              <a:t>bottom</a:t>
            </a:r>
            <a:r>
              <a:rPr lang="pl-PL" dirty="0"/>
              <a:t> - przesunięcie o określoną wartość w stosunku do 	dolnej krawędzi położenia pierwotnego</a:t>
            </a:r>
          </a:p>
        </p:txBody>
      </p:sp>
    </p:spTree>
    <p:extLst>
      <p:ext uri="{BB962C8B-B14F-4D97-AF65-F5344CB8AC3E}">
        <p14:creationId xmlns:p14="http://schemas.microsoft.com/office/powerpoint/2010/main" val="364342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CSS</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a:t>np. </a:t>
            </a:r>
            <a:r>
              <a:rPr lang="pl-PL" dirty="0" err="1"/>
              <a:t>img</a:t>
            </a:r>
            <a:r>
              <a:rPr lang="pl-PL" dirty="0"/>
              <a:t>{	</a:t>
            </a:r>
            <a:r>
              <a:rPr lang="pl-PL" dirty="0" err="1"/>
              <a:t>position</a:t>
            </a:r>
            <a:r>
              <a:rPr lang="pl-PL" dirty="0"/>
              <a:t>: </a:t>
            </a:r>
            <a:r>
              <a:rPr lang="pl-PL" dirty="0" err="1"/>
              <a:t>absolute</a:t>
            </a:r>
            <a:r>
              <a:rPr lang="pl-PL" dirty="0"/>
              <a:t>; </a:t>
            </a:r>
          </a:p>
          <a:p>
            <a:pPr marL="0" indent="0">
              <a:buNone/>
            </a:pPr>
            <a:r>
              <a:rPr lang="pl-PL" dirty="0"/>
              <a:t>		</a:t>
            </a:r>
            <a:r>
              <a:rPr lang="pl-PL" dirty="0" err="1"/>
              <a:t>left</a:t>
            </a:r>
            <a:r>
              <a:rPr lang="pl-PL" dirty="0"/>
              <a:t>: 100px;</a:t>
            </a:r>
          </a:p>
          <a:p>
            <a:pPr marL="0" indent="0">
              <a:buNone/>
            </a:pPr>
            <a:r>
              <a:rPr lang="pl-PL" dirty="0"/>
              <a:t>		top: 50px;</a:t>
            </a:r>
          </a:p>
          <a:p>
            <a:pPr marL="0" indent="0">
              <a:buNone/>
            </a:pPr>
            <a:r>
              <a:rPr lang="pl-PL" dirty="0"/>
              <a:t>	   }</a:t>
            </a:r>
          </a:p>
          <a:p>
            <a:pPr marL="0" indent="0">
              <a:buNone/>
            </a:pPr>
            <a:r>
              <a:rPr lang="pl-PL" dirty="0"/>
              <a:t>Wartości podajemy w </a:t>
            </a:r>
            <a:r>
              <a:rPr lang="pl-PL" dirty="0" err="1"/>
              <a:t>pixelach</a:t>
            </a:r>
            <a:r>
              <a:rPr lang="pl-PL" dirty="0"/>
              <a:t>, można też </a:t>
            </a:r>
            <a:r>
              <a:rPr lang="pl-PL" dirty="0" err="1"/>
              <a:t>wpiać</a:t>
            </a:r>
            <a:r>
              <a:rPr lang="pl-PL" dirty="0"/>
              <a:t> wartość auto – wtedy zostanie </a:t>
            </a:r>
            <a:r>
              <a:rPr lang="pl-PL"/>
              <a:t>ustawiona wartość domyślna.</a:t>
            </a:r>
            <a:endParaRPr lang="pl-PL" dirty="0"/>
          </a:p>
          <a:p>
            <a:pPr marL="0" indent="0">
              <a:buNone/>
            </a:pPr>
            <a:r>
              <a:rPr lang="pl-PL" dirty="0"/>
              <a:t>Należy pamiętać że atrybuty </a:t>
            </a:r>
            <a:r>
              <a:rPr lang="pl-PL" dirty="0" err="1"/>
              <a:t>left</a:t>
            </a:r>
            <a:r>
              <a:rPr lang="pl-PL" dirty="0"/>
              <a:t> i top mają pierwszeństwo w stosunku do </a:t>
            </a:r>
            <a:r>
              <a:rPr lang="pl-PL" dirty="0" err="1"/>
              <a:t>right</a:t>
            </a:r>
            <a:r>
              <a:rPr lang="pl-PL" dirty="0"/>
              <a:t> i </a:t>
            </a:r>
            <a:r>
              <a:rPr lang="pl-PL" dirty="0" err="1"/>
              <a:t>bottom</a:t>
            </a:r>
            <a:r>
              <a:rPr lang="pl-PL" dirty="0"/>
              <a:t>.</a:t>
            </a:r>
          </a:p>
        </p:txBody>
      </p:sp>
    </p:spTree>
    <p:extLst>
      <p:ext uri="{BB962C8B-B14F-4D97-AF65-F5344CB8AC3E}">
        <p14:creationId xmlns:p14="http://schemas.microsoft.com/office/powerpoint/2010/main" val="13512454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Przezroczystość w CSS</a:t>
            </a:r>
          </a:p>
        </p:txBody>
      </p:sp>
      <p:sp>
        <p:nvSpPr>
          <p:cNvPr id="3" name="Symbol zastępczy zawartości 2"/>
          <p:cNvSpPr>
            <a:spLocks noGrp="1"/>
          </p:cNvSpPr>
          <p:nvPr>
            <p:ph idx="1"/>
          </p:nvPr>
        </p:nvSpPr>
        <p:spPr/>
        <p:txBody>
          <a:bodyPr/>
          <a:lstStyle/>
          <a:p>
            <a:pPr marL="0" indent="0">
              <a:buNone/>
            </a:pPr>
            <a:r>
              <a:rPr lang="pl-PL" dirty="0"/>
              <a:t>Do ustawiania przezroczystości służy atrybut </a:t>
            </a:r>
            <a:r>
              <a:rPr lang="pl-PL" dirty="0" err="1"/>
              <a:t>opacity</a:t>
            </a:r>
            <a:r>
              <a:rPr lang="pl-PL" dirty="0"/>
              <a:t>. Może przyjmować wartości od 0 do 1. Zero oznacza całkowitą przezroczystość a jeden brak przezroczystości. Np. 0.1 to jest obiekt widoczny z przezroczystością 90%.</a:t>
            </a:r>
          </a:p>
          <a:p>
            <a:pPr marL="0" indent="0">
              <a:buNone/>
            </a:pPr>
            <a:endParaRPr lang="pl-PL" dirty="0"/>
          </a:p>
          <a:p>
            <a:pPr marL="0" indent="0">
              <a:buNone/>
            </a:pPr>
            <a:r>
              <a:rPr lang="pl-PL" dirty="0"/>
              <a:t>np. </a:t>
            </a:r>
            <a:r>
              <a:rPr lang="pl-PL" dirty="0" err="1"/>
              <a:t>img</a:t>
            </a:r>
            <a:r>
              <a:rPr lang="pl-PL" dirty="0"/>
              <a:t> {</a:t>
            </a:r>
            <a:r>
              <a:rPr lang="pl-PL" dirty="0" err="1"/>
              <a:t>opacity</a:t>
            </a:r>
            <a:r>
              <a:rPr lang="pl-PL" dirty="0"/>
              <a:t>: 0.5;} – oznacza że obiekt będzie widoczny z przezroczystością 50%</a:t>
            </a:r>
          </a:p>
        </p:txBody>
      </p:sp>
    </p:spTree>
    <p:extLst>
      <p:ext uri="{BB962C8B-B14F-4D97-AF65-F5344CB8AC3E}">
        <p14:creationId xmlns:p14="http://schemas.microsoft.com/office/powerpoint/2010/main" val="79048337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Pozycjonowanie w </a:t>
            </a:r>
            <a:r>
              <a:rPr lang="pl-PL"/>
              <a:t>CSS – 24.html</a:t>
            </a:r>
            <a:endParaRPr lang="pl-PL" dirty="0"/>
          </a:p>
        </p:txBody>
      </p:sp>
      <p:sp>
        <p:nvSpPr>
          <p:cNvPr id="3" name="Symbol zastępczy zawartości 2"/>
          <p:cNvSpPr>
            <a:spLocks noGrp="1"/>
          </p:cNvSpPr>
          <p:nvPr>
            <p:ph idx="1"/>
          </p:nvPr>
        </p:nvSpPr>
        <p:spPr/>
        <p:txBody>
          <a:bodyPr>
            <a:normAutofit fontScale="55000" lnSpcReduction="20000"/>
          </a:bodyPr>
          <a:lstStyle/>
          <a:p>
            <a:pPr marL="0" indent="0">
              <a:buNone/>
            </a:pPr>
            <a:r>
              <a:rPr lang="pl-PL" dirty="0"/>
              <a:t>Wyrównanie w pionie można ustawić przy pomocy atrybutu </a:t>
            </a:r>
            <a:r>
              <a:rPr lang="pl-PL" dirty="0" err="1"/>
              <a:t>vertical-align</a:t>
            </a:r>
            <a:r>
              <a:rPr lang="pl-PL" dirty="0"/>
              <a:t>. Wyrównanie odbywa się w stosunku do innych elementów strony.</a:t>
            </a:r>
          </a:p>
          <a:p>
            <a:pPr marL="0" indent="0">
              <a:buNone/>
            </a:pPr>
            <a:r>
              <a:rPr lang="pl-PL" dirty="0"/>
              <a:t>Wartości atrybutu </a:t>
            </a:r>
            <a:r>
              <a:rPr lang="pl-PL" dirty="0" err="1"/>
              <a:t>vertical-align</a:t>
            </a:r>
            <a:r>
              <a:rPr lang="pl-PL" dirty="0"/>
              <a:t>:</a:t>
            </a:r>
          </a:p>
          <a:p>
            <a:pPr>
              <a:buFontTx/>
              <a:buChar char="-"/>
            </a:pPr>
            <a:r>
              <a:rPr lang="pl-PL" dirty="0" err="1"/>
              <a:t>baseline</a:t>
            </a:r>
            <a:r>
              <a:rPr lang="pl-PL" dirty="0"/>
              <a:t> – wyrównuje linię bazową elementu do linii bazowej elementu nadrzędnego</a:t>
            </a:r>
          </a:p>
          <a:p>
            <a:pPr>
              <a:buFontTx/>
              <a:buChar char="-"/>
            </a:pPr>
            <a:r>
              <a:rPr lang="pl-PL" dirty="0" err="1"/>
              <a:t>middle</a:t>
            </a:r>
            <a:r>
              <a:rPr lang="pl-PL" dirty="0"/>
              <a:t> – ustawienie elementu na środku wysokości sąsiednich elementów</a:t>
            </a:r>
          </a:p>
          <a:p>
            <a:pPr>
              <a:buFontTx/>
              <a:buChar char="-"/>
            </a:pPr>
            <a:r>
              <a:rPr lang="pl-PL" dirty="0" err="1"/>
              <a:t>text</a:t>
            </a:r>
            <a:r>
              <a:rPr lang="pl-PL" dirty="0"/>
              <a:t>-top – wyrównuje górną krawędź elementu do górnej krawędzi tekstu elementu nadrzędnego</a:t>
            </a:r>
          </a:p>
          <a:p>
            <a:pPr>
              <a:buFontTx/>
              <a:buChar char="-"/>
            </a:pPr>
            <a:r>
              <a:rPr lang="pl-PL" dirty="0" err="1"/>
              <a:t>text-bottom</a:t>
            </a:r>
            <a:r>
              <a:rPr lang="pl-PL" dirty="0"/>
              <a:t> – wyrównuje podstawę elementu do podstawy tekstu elementu nadrzędnego</a:t>
            </a:r>
          </a:p>
          <a:p>
            <a:pPr>
              <a:buFontTx/>
              <a:buChar char="-"/>
            </a:pPr>
            <a:r>
              <a:rPr lang="pl-PL" dirty="0"/>
              <a:t>super – ustawia element jako indeks górny</a:t>
            </a:r>
          </a:p>
          <a:p>
            <a:pPr>
              <a:buFontTx/>
              <a:buChar char="-"/>
            </a:pPr>
            <a:r>
              <a:rPr lang="pl-PL" dirty="0" err="1"/>
              <a:t>sub</a:t>
            </a:r>
            <a:r>
              <a:rPr lang="pl-PL" dirty="0"/>
              <a:t> – ustawia element jako indeks dolny</a:t>
            </a:r>
          </a:p>
          <a:p>
            <a:pPr>
              <a:buFontTx/>
              <a:buChar char="-"/>
            </a:pPr>
            <a:r>
              <a:rPr lang="pl-PL" dirty="0"/>
              <a:t>top – wyrównuje górną krawędź elementu do górnej krawędzi najwyższego elementu linii</a:t>
            </a:r>
          </a:p>
          <a:p>
            <a:pPr>
              <a:buFontTx/>
              <a:buChar char="-"/>
            </a:pPr>
            <a:r>
              <a:rPr lang="pl-PL" dirty="0" err="1"/>
              <a:t>bottom</a:t>
            </a:r>
            <a:r>
              <a:rPr lang="pl-PL" dirty="0"/>
              <a:t> – wyrównuje podstawę elementu do podstawy elementu położonego najniżej w linii</a:t>
            </a:r>
          </a:p>
        </p:txBody>
      </p:sp>
    </p:spTree>
    <p:extLst>
      <p:ext uri="{BB962C8B-B14F-4D97-AF65-F5344CB8AC3E}">
        <p14:creationId xmlns:p14="http://schemas.microsoft.com/office/powerpoint/2010/main" val="377849854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Pozycjonowanie w CSS</a:t>
            </a:r>
          </a:p>
        </p:txBody>
      </p:sp>
      <p:sp>
        <p:nvSpPr>
          <p:cNvPr id="3" name="Symbol zastępczy zawartości 2"/>
          <p:cNvSpPr>
            <a:spLocks noGrp="1"/>
          </p:cNvSpPr>
          <p:nvPr>
            <p:ph idx="1"/>
          </p:nvPr>
        </p:nvSpPr>
        <p:spPr/>
        <p:txBody>
          <a:bodyPr/>
          <a:lstStyle/>
          <a:p>
            <a:pPr marL="0" indent="0">
              <a:buNone/>
            </a:pPr>
            <a:r>
              <a:rPr lang="pl-PL" dirty="0"/>
              <a:t>np. p{</a:t>
            </a:r>
            <a:r>
              <a:rPr lang="pl-PL" dirty="0" err="1"/>
              <a:t>vertical-align</a:t>
            </a:r>
            <a:r>
              <a:rPr lang="pl-PL" dirty="0"/>
              <a:t>: </a:t>
            </a:r>
            <a:r>
              <a:rPr lang="pl-PL" dirty="0" err="1"/>
              <a:t>middle</a:t>
            </a:r>
            <a:r>
              <a:rPr lang="pl-PL" dirty="0"/>
              <a:t>;}</a:t>
            </a:r>
          </a:p>
          <a:p>
            <a:pPr marL="0" indent="0">
              <a:buNone/>
            </a:pPr>
            <a:endParaRPr lang="pl-PL" dirty="0"/>
          </a:p>
          <a:p>
            <a:pPr marL="0" indent="0">
              <a:buNone/>
            </a:pPr>
            <a:r>
              <a:rPr lang="pl-PL" dirty="0"/>
              <a:t>oprócz wyżej wymienionych właściwości można również podać wyrównanie w np. w mm.</a:t>
            </a:r>
          </a:p>
          <a:p>
            <a:pPr marL="0" indent="0">
              <a:buNone/>
            </a:pPr>
            <a:endParaRPr lang="pl-PL" dirty="0"/>
          </a:p>
          <a:p>
            <a:pPr marL="0" indent="0">
              <a:buNone/>
            </a:pPr>
            <a:r>
              <a:rPr lang="pl-PL" dirty="0"/>
              <a:t>p{</a:t>
            </a:r>
            <a:r>
              <a:rPr lang="pl-PL" dirty="0" err="1"/>
              <a:t>vertical-align</a:t>
            </a:r>
            <a:r>
              <a:rPr lang="pl-PL" dirty="0"/>
              <a:t>: 2mm;}</a:t>
            </a:r>
          </a:p>
          <a:p>
            <a:pPr marL="0" indent="0">
              <a:buNone/>
            </a:pPr>
            <a:endParaRPr lang="pl-PL" dirty="0"/>
          </a:p>
        </p:txBody>
      </p:sp>
    </p:spTree>
    <p:extLst>
      <p:ext uri="{BB962C8B-B14F-4D97-AF65-F5344CB8AC3E}">
        <p14:creationId xmlns:p14="http://schemas.microsoft.com/office/powerpoint/2010/main" val="15828786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Pozycjonowanie w CSS</a:t>
            </a:r>
          </a:p>
        </p:txBody>
      </p:sp>
      <p:sp>
        <p:nvSpPr>
          <p:cNvPr id="3" name="Symbol zastępczy zawartości 2"/>
          <p:cNvSpPr>
            <a:spLocks noGrp="1"/>
          </p:cNvSpPr>
          <p:nvPr>
            <p:ph idx="1"/>
          </p:nvPr>
        </p:nvSpPr>
        <p:spPr/>
        <p:txBody>
          <a:bodyPr>
            <a:normAutofit fontScale="92500" lnSpcReduction="10000"/>
          </a:bodyPr>
          <a:lstStyle/>
          <a:p>
            <a:pPr marL="0" indent="0">
              <a:buNone/>
            </a:pPr>
            <a:r>
              <a:rPr lang="pl-PL" dirty="0"/>
              <a:t>Do ustawienia elementów w poziomie służy atrybut </a:t>
            </a:r>
            <a:r>
              <a:rPr lang="pl-PL" dirty="0" err="1"/>
              <a:t>float</a:t>
            </a:r>
            <a:r>
              <a:rPr lang="pl-PL" dirty="0"/>
              <a:t>.</a:t>
            </a:r>
          </a:p>
          <a:p>
            <a:pPr marL="0" indent="0">
              <a:buNone/>
            </a:pPr>
            <a:r>
              <a:rPr lang="pl-PL" dirty="0" err="1"/>
              <a:t>Float</a:t>
            </a:r>
            <a:r>
              <a:rPr lang="pl-PL" dirty="0"/>
              <a:t> może przyjmować następujące wartości:</a:t>
            </a:r>
          </a:p>
          <a:p>
            <a:pPr>
              <a:buFontTx/>
              <a:buChar char="-"/>
            </a:pPr>
            <a:r>
              <a:rPr lang="pl-PL" dirty="0" err="1"/>
              <a:t>left</a:t>
            </a:r>
            <a:r>
              <a:rPr lang="pl-PL" dirty="0"/>
              <a:t> – element może zostać ustawiony po lewej stronie względem elementów sąsiadujących</a:t>
            </a:r>
          </a:p>
          <a:p>
            <a:pPr>
              <a:buFontTx/>
              <a:buChar char="-"/>
            </a:pPr>
            <a:r>
              <a:rPr lang="pl-PL" dirty="0" err="1"/>
              <a:t>right</a:t>
            </a:r>
            <a:r>
              <a:rPr lang="pl-PL" dirty="0"/>
              <a:t> - element może zostać ustawiony po prawej stronie względem elementów sąsiadujących</a:t>
            </a:r>
          </a:p>
          <a:p>
            <a:pPr>
              <a:buFontTx/>
              <a:buChar char="-"/>
            </a:pPr>
            <a:r>
              <a:rPr lang="pl-PL" dirty="0" err="1"/>
              <a:t>none</a:t>
            </a:r>
            <a:r>
              <a:rPr lang="pl-PL" dirty="0"/>
              <a:t> – element nie będzie sąsiadował z innymi elementami</a:t>
            </a:r>
          </a:p>
        </p:txBody>
      </p:sp>
    </p:spTree>
    <p:extLst>
      <p:ext uri="{BB962C8B-B14F-4D97-AF65-F5344CB8AC3E}">
        <p14:creationId xmlns:p14="http://schemas.microsoft.com/office/powerpoint/2010/main" val="345249022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Pozycjonowanie w CSS</a:t>
            </a:r>
          </a:p>
        </p:txBody>
      </p:sp>
      <p:sp>
        <p:nvSpPr>
          <p:cNvPr id="3" name="Symbol zastępczy zawartości 2"/>
          <p:cNvSpPr>
            <a:spLocks noGrp="1"/>
          </p:cNvSpPr>
          <p:nvPr>
            <p:ph idx="1"/>
          </p:nvPr>
        </p:nvSpPr>
        <p:spPr/>
        <p:txBody>
          <a:bodyPr>
            <a:normAutofit fontScale="77500" lnSpcReduction="20000"/>
          </a:bodyPr>
          <a:lstStyle/>
          <a:p>
            <a:pPr marL="0" indent="0">
              <a:buNone/>
            </a:pPr>
            <a:r>
              <a:rPr lang="pl-PL" dirty="0"/>
              <a:t>Atrybut </a:t>
            </a:r>
            <a:r>
              <a:rPr lang="pl-PL" dirty="0" err="1"/>
              <a:t>clear</a:t>
            </a:r>
            <a:r>
              <a:rPr lang="pl-PL" dirty="0"/>
              <a:t> – ustawia pozycję kolejnego elementu względem elementu pływającego.</a:t>
            </a:r>
          </a:p>
          <a:p>
            <a:pPr marL="0" indent="0">
              <a:buNone/>
            </a:pPr>
            <a:r>
              <a:rPr lang="pl-PL" dirty="0"/>
              <a:t>Wartość elementu </a:t>
            </a:r>
            <a:r>
              <a:rPr lang="pl-PL" dirty="0" err="1"/>
              <a:t>clear</a:t>
            </a:r>
            <a:r>
              <a:rPr lang="pl-PL" dirty="0"/>
              <a:t> określa sposób zachowania się kolejnych elementów względem elementu pływającego. </a:t>
            </a:r>
          </a:p>
          <a:p>
            <a:pPr marL="0" indent="0">
              <a:buNone/>
            </a:pPr>
            <a:r>
              <a:rPr lang="pl-PL" dirty="0"/>
              <a:t>Możliwe wartości:</a:t>
            </a:r>
          </a:p>
          <a:p>
            <a:pPr>
              <a:buFontTx/>
              <a:buChar char="-"/>
            </a:pPr>
            <a:r>
              <a:rPr lang="pl-PL" dirty="0" err="1"/>
              <a:t>left</a:t>
            </a:r>
            <a:r>
              <a:rPr lang="pl-PL" dirty="0"/>
              <a:t> – lewy bok następnego elementu nie przylega do elementu pływającego</a:t>
            </a:r>
          </a:p>
          <a:p>
            <a:pPr>
              <a:buFontTx/>
              <a:buChar char="-"/>
            </a:pPr>
            <a:r>
              <a:rPr lang="pl-PL" dirty="0" err="1"/>
              <a:t>right</a:t>
            </a:r>
            <a:r>
              <a:rPr lang="pl-PL" dirty="0"/>
              <a:t> – prawy bok następnego elementu nie przylega do elementu pływającego</a:t>
            </a:r>
          </a:p>
          <a:p>
            <a:pPr>
              <a:buFontTx/>
              <a:buChar char="-"/>
            </a:pPr>
            <a:r>
              <a:rPr lang="pl-PL" dirty="0" err="1"/>
              <a:t>both</a:t>
            </a:r>
            <a:r>
              <a:rPr lang="pl-PL" dirty="0"/>
              <a:t> – żaden bok następnego elementu nie przylega do elementu pływającego</a:t>
            </a:r>
          </a:p>
          <a:p>
            <a:pPr>
              <a:buFontTx/>
              <a:buChar char="-"/>
            </a:pPr>
            <a:r>
              <a:rPr lang="pl-PL" dirty="0" err="1"/>
              <a:t>none</a:t>
            </a:r>
            <a:r>
              <a:rPr lang="pl-PL" dirty="0"/>
              <a:t> – brak ograniczeń</a:t>
            </a:r>
          </a:p>
        </p:txBody>
      </p:sp>
    </p:spTree>
    <p:extLst>
      <p:ext uri="{BB962C8B-B14F-4D97-AF65-F5344CB8AC3E}">
        <p14:creationId xmlns:p14="http://schemas.microsoft.com/office/powerpoint/2010/main" val="169505120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Sposoby wyświetlania elementów w CSS</a:t>
            </a:r>
          </a:p>
        </p:txBody>
      </p:sp>
      <p:sp>
        <p:nvSpPr>
          <p:cNvPr id="3" name="Symbol zastępczy zawartości 2"/>
          <p:cNvSpPr>
            <a:spLocks noGrp="1"/>
          </p:cNvSpPr>
          <p:nvPr>
            <p:ph idx="1"/>
          </p:nvPr>
        </p:nvSpPr>
        <p:spPr/>
        <p:txBody>
          <a:bodyPr>
            <a:normAutofit fontScale="62500" lnSpcReduction="20000"/>
          </a:bodyPr>
          <a:lstStyle/>
          <a:p>
            <a:pPr marL="0" indent="0">
              <a:buNone/>
            </a:pPr>
            <a:r>
              <a:rPr lang="pl-PL" dirty="0"/>
              <a:t>Wszystkie zdefiniowane elementy są wyświetlane na stronie w sposób domyślny. Jeżeli chcemy zmienić ten sposób musimy użyć atrybutu display. </a:t>
            </a:r>
          </a:p>
          <a:p>
            <a:pPr marL="0" indent="0">
              <a:buNone/>
            </a:pPr>
            <a:r>
              <a:rPr lang="pl-PL" dirty="0"/>
              <a:t>Parametr display przyjmuje następujące wartości:</a:t>
            </a:r>
          </a:p>
          <a:p>
            <a:pPr>
              <a:buFontTx/>
              <a:buChar char="-"/>
            </a:pPr>
            <a:r>
              <a:rPr lang="pl-PL" dirty="0" err="1"/>
              <a:t>block</a:t>
            </a:r>
            <a:r>
              <a:rPr lang="pl-PL" dirty="0"/>
              <a:t> – element jest wyświetlany jako element blokowy z odstępami od góry i od dołu</a:t>
            </a:r>
          </a:p>
          <a:p>
            <a:pPr>
              <a:buFontTx/>
              <a:buChar char="-"/>
            </a:pPr>
            <a:r>
              <a:rPr lang="pl-PL" dirty="0" err="1"/>
              <a:t>inline</a:t>
            </a:r>
            <a:r>
              <a:rPr lang="pl-PL" dirty="0"/>
              <a:t> – element wyświetlany jest w linii z innymi dokumentami</a:t>
            </a:r>
          </a:p>
          <a:p>
            <a:pPr>
              <a:buFontTx/>
              <a:buChar char="-"/>
            </a:pPr>
            <a:r>
              <a:rPr lang="pl-PL" dirty="0"/>
              <a:t>list-</a:t>
            </a:r>
            <a:r>
              <a:rPr lang="pl-PL" dirty="0" err="1"/>
              <a:t>item</a:t>
            </a:r>
            <a:r>
              <a:rPr lang="pl-PL" dirty="0"/>
              <a:t> – element wyświetlany jest jako element wykazu listy</a:t>
            </a:r>
          </a:p>
          <a:p>
            <a:pPr>
              <a:buFontTx/>
              <a:buChar char="-"/>
            </a:pPr>
            <a:r>
              <a:rPr lang="pl-PL" dirty="0" err="1"/>
              <a:t>none</a:t>
            </a:r>
            <a:r>
              <a:rPr lang="pl-PL" dirty="0"/>
              <a:t> – element nie będzie wyświetlany</a:t>
            </a:r>
          </a:p>
          <a:p>
            <a:pPr>
              <a:buFontTx/>
              <a:buChar char="-"/>
            </a:pPr>
            <a:r>
              <a:rPr lang="pl-PL" dirty="0" err="1"/>
              <a:t>inline-block</a:t>
            </a:r>
            <a:r>
              <a:rPr lang="pl-PL" dirty="0"/>
              <a:t> – element wyświetlany podobnie jak element zastępowany, mimo że element ma charakter blokowy jest wyświetlany jako liniowy</a:t>
            </a:r>
          </a:p>
          <a:p>
            <a:pPr>
              <a:buFontTx/>
              <a:buChar char="-"/>
            </a:pPr>
            <a:r>
              <a:rPr lang="pl-PL" dirty="0"/>
              <a:t>run-in – jeżeli po elemencie występuje element będący blokiem, to ten pierwszy element zostanie wyświetlony w jednej linii z blokiem, w przeciwnym razie element zostanie wyświetlony w bloku.</a:t>
            </a:r>
          </a:p>
        </p:txBody>
      </p:sp>
    </p:spTree>
    <p:extLst>
      <p:ext uri="{BB962C8B-B14F-4D97-AF65-F5344CB8AC3E}">
        <p14:creationId xmlns:p14="http://schemas.microsoft.com/office/powerpoint/2010/main" val="6815355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Sposoby wyświetlania elementów w CSS</a:t>
            </a:r>
          </a:p>
        </p:txBody>
      </p:sp>
      <p:sp>
        <p:nvSpPr>
          <p:cNvPr id="3" name="Symbol zastępczy zawartości 2"/>
          <p:cNvSpPr>
            <a:spLocks noGrp="1"/>
          </p:cNvSpPr>
          <p:nvPr>
            <p:ph idx="1"/>
          </p:nvPr>
        </p:nvSpPr>
        <p:spPr/>
        <p:txBody>
          <a:bodyPr>
            <a:normAutofit fontScale="92500" lnSpcReduction="20000"/>
          </a:bodyPr>
          <a:lstStyle/>
          <a:p>
            <a:pPr marL="0" indent="0">
              <a:buNone/>
            </a:pPr>
            <a:r>
              <a:rPr lang="pl-PL" dirty="0"/>
              <a:t>Elementami blokowymi są:</a:t>
            </a:r>
          </a:p>
          <a:p>
            <a:pPr>
              <a:buFontTx/>
              <a:buChar char="-"/>
            </a:pPr>
            <a:r>
              <a:rPr lang="pl-PL" dirty="0"/>
              <a:t>&lt;div&gt;</a:t>
            </a:r>
          </a:p>
          <a:p>
            <a:pPr>
              <a:buFontTx/>
              <a:buChar char="-"/>
            </a:pPr>
            <a:r>
              <a:rPr lang="pl-PL" dirty="0"/>
              <a:t>&lt;h1&gt; … &lt;h6&gt;</a:t>
            </a:r>
          </a:p>
          <a:p>
            <a:pPr>
              <a:buFontTx/>
              <a:buChar char="-"/>
            </a:pPr>
            <a:r>
              <a:rPr lang="pl-PL" dirty="0"/>
              <a:t>&lt;p&gt;</a:t>
            </a:r>
          </a:p>
          <a:p>
            <a:pPr>
              <a:buFontTx/>
              <a:buChar char="-"/>
            </a:pPr>
            <a:r>
              <a:rPr lang="pl-PL" dirty="0"/>
              <a:t>&lt;form&gt;</a:t>
            </a:r>
          </a:p>
          <a:p>
            <a:pPr>
              <a:buFontTx/>
              <a:buChar char="-"/>
            </a:pPr>
            <a:r>
              <a:rPr lang="pl-PL" dirty="0"/>
              <a:t>&lt;</a:t>
            </a:r>
            <a:r>
              <a:rPr lang="pl-PL" dirty="0" err="1"/>
              <a:t>header</a:t>
            </a:r>
            <a:r>
              <a:rPr lang="pl-PL" dirty="0"/>
              <a:t>&gt;</a:t>
            </a:r>
          </a:p>
          <a:p>
            <a:pPr>
              <a:buFontTx/>
              <a:buChar char="-"/>
            </a:pPr>
            <a:r>
              <a:rPr lang="pl-PL" dirty="0"/>
              <a:t>&lt;</a:t>
            </a:r>
            <a:r>
              <a:rPr lang="pl-PL" dirty="0" err="1"/>
              <a:t>footer</a:t>
            </a:r>
            <a:r>
              <a:rPr lang="pl-PL" dirty="0"/>
              <a:t>&gt;</a:t>
            </a:r>
          </a:p>
          <a:p>
            <a:pPr>
              <a:buFontTx/>
              <a:buChar char="-"/>
            </a:pPr>
            <a:r>
              <a:rPr lang="pl-PL" dirty="0"/>
              <a:t>&lt;</a:t>
            </a:r>
            <a:r>
              <a:rPr lang="pl-PL" dirty="0" err="1"/>
              <a:t>section</a:t>
            </a:r>
            <a:r>
              <a:rPr lang="pl-PL" dirty="0"/>
              <a:t>&gt;</a:t>
            </a:r>
          </a:p>
          <a:p>
            <a:pPr marL="0" indent="0">
              <a:buNone/>
            </a:pPr>
            <a:r>
              <a:rPr lang="pl-PL" dirty="0"/>
              <a:t>Zajmują całą szerokość strony i zawsze zaczynają się od nowej linii.</a:t>
            </a:r>
          </a:p>
        </p:txBody>
      </p:sp>
    </p:spTree>
    <p:extLst>
      <p:ext uri="{BB962C8B-B14F-4D97-AF65-F5344CB8AC3E}">
        <p14:creationId xmlns:p14="http://schemas.microsoft.com/office/powerpoint/2010/main" val="222946412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Sposoby wyświetlania elementów w CSS</a:t>
            </a:r>
          </a:p>
        </p:txBody>
      </p:sp>
      <p:sp>
        <p:nvSpPr>
          <p:cNvPr id="3" name="Symbol zastępczy zawartości 2"/>
          <p:cNvSpPr>
            <a:spLocks noGrp="1"/>
          </p:cNvSpPr>
          <p:nvPr>
            <p:ph idx="1"/>
          </p:nvPr>
        </p:nvSpPr>
        <p:spPr/>
        <p:txBody>
          <a:bodyPr/>
          <a:lstStyle/>
          <a:p>
            <a:pPr marL="0" indent="0">
              <a:buNone/>
            </a:pPr>
            <a:r>
              <a:rPr lang="pl-PL" dirty="0"/>
              <a:t>Elementy wbudowane </a:t>
            </a:r>
            <a:r>
              <a:rPr lang="pl-PL" dirty="0" err="1"/>
              <a:t>inline</a:t>
            </a:r>
            <a:r>
              <a:rPr lang="pl-PL" dirty="0"/>
              <a:t>:</a:t>
            </a:r>
          </a:p>
          <a:p>
            <a:pPr>
              <a:buFontTx/>
              <a:buChar char="-"/>
            </a:pPr>
            <a:r>
              <a:rPr lang="pl-PL" dirty="0"/>
              <a:t>&lt;</a:t>
            </a:r>
            <a:r>
              <a:rPr lang="pl-PL" dirty="0" err="1"/>
              <a:t>span</a:t>
            </a:r>
            <a:r>
              <a:rPr lang="pl-PL" dirty="0"/>
              <a:t>&gt;</a:t>
            </a:r>
          </a:p>
          <a:p>
            <a:pPr>
              <a:buFontTx/>
              <a:buChar char="-"/>
            </a:pPr>
            <a:r>
              <a:rPr lang="pl-PL" dirty="0"/>
              <a:t>&lt;</a:t>
            </a:r>
            <a:r>
              <a:rPr lang="pl-PL" dirty="0" err="1"/>
              <a:t>img</a:t>
            </a:r>
            <a:r>
              <a:rPr lang="pl-PL" dirty="0"/>
              <a:t>&gt;</a:t>
            </a:r>
          </a:p>
          <a:p>
            <a:pPr>
              <a:buFontTx/>
              <a:buChar char="-"/>
            </a:pPr>
            <a:r>
              <a:rPr lang="pl-PL" dirty="0"/>
              <a:t>&lt;a&gt;</a:t>
            </a:r>
          </a:p>
        </p:txBody>
      </p:sp>
    </p:spTree>
    <p:extLst>
      <p:ext uri="{BB962C8B-B14F-4D97-AF65-F5344CB8AC3E}">
        <p14:creationId xmlns:p14="http://schemas.microsoft.com/office/powerpoint/2010/main" val="117449626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sp>
        <p:nvSpPr>
          <p:cNvPr id="3" name="Symbol zastępczy zawartości 2"/>
          <p:cNvSpPr>
            <a:spLocks noGrp="1"/>
          </p:cNvSpPr>
          <p:nvPr>
            <p:ph idx="1"/>
          </p:nvPr>
        </p:nvSpPr>
        <p:spPr/>
        <p:txBody>
          <a:bodyPr>
            <a:normAutofit fontScale="47500" lnSpcReduction="20000"/>
          </a:bodyPr>
          <a:lstStyle/>
          <a:p>
            <a:pPr marL="0" indent="0">
              <a:buNone/>
            </a:pPr>
            <a:r>
              <a:rPr lang="pl-PL" dirty="0"/>
              <a:t>&lt;!DOCTYPE </a:t>
            </a:r>
            <a:r>
              <a:rPr lang="pl-PL" dirty="0" err="1"/>
              <a:t>html</a:t>
            </a:r>
            <a:r>
              <a:rPr lang="pl-PL" dirty="0"/>
              <a:t>&gt; </a:t>
            </a:r>
          </a:p>
          <a:p>
            <a:pPr marL="0" indent="0">
              <a:buNone/>
            </a:pPr>
            <a:r>
              <a:rPr lang="pl-PL" dirty="0"/>
              <a:t>&lt;</a:t>
            </a:r>
            <a:r>
              <a:rPr lang="pl-PL" dirty="0" err="1"/>
              <a:t>html</a:t>
            </a:r>
            <a:r>
              <a:rPr lang="pl-PL" dirty="0"/>
              <a:t> </a:t>
            </a:r>
            <a:r>
              <a:rPr lang="pl-PL" dirty="0" err="1"/>
              <a:t>lang</a:t>
            </a:r>
            <a:r>
              <a:rPr lang="pl-PL" dirty="0"/>
              <a:t>="</a:t>
            </a:r>
            <a:r>
              <a:rPr lang="pl-PL" dirty="0" err="1"/>
              <a:t>pl</a:t>
            </a:r>
            <a:r>
              <a:rPr lang="pl-PL" dirty="0"/>
              <a:t>-PL"&gt;</a:t>
            </a:r>
          </a:p>
          <a:p>
            <a:pPr marL="0" indent="0">
              <a:buNone/>
            </a:pPr>
            <a:r>
              <a:rPr lang="pl-PL" dirty="0"/>
              <a:t>&lt;</a:t>
            </a:r>
            <a:r>
              <a:rPr lang="pl-PL" dirty="0" err="1"/>
              <a:t>head</a:t>
            </a:r>
            <a:r>
              <a:rPr lang="pl-PL" dirty="0"/>
              <a:t>&gt;</a:t>
            </a:r>
          </a:p>
          <a:p>
            <a:pPr marL="0" indent="0">
              <a:buNone/>
            </a:pPr>
            <a:r>
              <a:rPr lang="pl-PL" dirty="0"/>
              <a:t>&lt;meta </a:t>
            </a:r>
            <a:r>
              <a:rPr lang="pl-PL" dirty="0" err="1"/>
              <a:t>charset</a:t>
            </a:r>
            <a:r>
              <a:rPr lang="pl-PL" dirty="0"/>
              <a:t>="UTF-8"/&gt;</a:t>
            </a:r>
          </a:p>
          <a:p>
            <a:pPr marL="0" indent="0">
              <a:buNone/>
            </a:pPr>
            <a:r>
              <a:rPr lang="pl-PL" dirty="0"/>
              <a:t>&lt;style&gt;</a:t>
            </a:r>
          </a:p>
          <a:p>
            <a:pPr marL="0" indent="0">
              <a:buNone/>
            </a:pPr>
            <a:r>
              <a:rPr lang="pl-PL" dirty="0"/>
              <a:t>body{</a:t>
            </a:r>
          </a:p>
          <a:p>
            <a:pPr marL="0" indent="0">
              <a:buNone/>
            </a:pPr>
            <a:r>
              <a:rPr lang="pl-PL" dirty="0" err="1"/>
              <a:t>background-color</a:t>
            </a:r>
            <a:r>
              <a:rPr lang="pl-PL" dirty="0"/>
              <a:t>: </a:t>
            </a:r>
            <a:r>
              <a:rPr lang="pl-PL" dirty="0" err="1"/>
              <a:t>black</a:t>
            </a:r>
            <a:r>
              <a:rPr lang="pl-PL" dirty="0"/>
              <a:t>;</a:t>
            </a:r>
          </a:p>
          <a:p>
            <a:pPr marL="0" indent="0">
              <a:buNone/>
            </a:pPr>
            <a:r>
              <a:rPr lang="pl-PL" dirty="0"/>
              <a:t>}</a:t>
            </a:r>
          </a:p>
          <a:p>
            <a:pPr marL="0" indent="0">
              <a:buNone/>
            </a:pPr>
            <a:endParaRPr lang="pl-PL" dirty="0"/>
          </a:p>
          <a:p>
            <a:pPr marL="0" indent="0">
              <a:buNone/>
            </a:pPr>
            <a:r>
              <a:rPr lang="pl-PL" dirty="0"/>
              <a:t>ul, ul li { </a:t>
            </a:r>
            <a:r>
              <a:rPr lang="pl-PL" dirty="0" err="1"/>
              <a:t>margin</a:t>
            </a:r>
            <a:r>
              <a:rPr lang="pl-PL" dirty="0"/>
              <a:t>: 0;</a:t>
            </a:r>
          </a:p>
          <a:p>
            <a:pPr marL="0" indent="0">
              <a:buNone/>
            </a:pPr>
            <a:r>
              <a:rPr lang="pl-PL" dirty="0"/>
              <a:t>			</a:t>
            </a:r>
            <a:r>
              <a:rPr lang="pl-PL" dirty="0" err="1"/>
              <a:t>padding</a:t>
            </a:r>
            <a:r>
              <a:rPr lang="pl-PL" dirty="0"/>
              <a:t>: 0;}</a:t>
            </a:r>
          </a:p>
          <a:p>
            <a:pPr marL="0" indent="0">
              <a:buNone/>
            </a:pPr>
            <a:r>
              <a:rPr lang="pl-PL" dirty="0"/>
              <a:t>#menu1 li{</a:t>
            </a:r>
          </a:p>
          <a:p>
            <a:pPr marL="0" indent="0">
              <a:buNone/>
            </a:pPr>
            <a:r>
              <a:rPr lang="pl-PL" dirty="0"/>
              <a:t>list-style: </a:t>
            </a:r>
            <a:r>
              <a:rPr lang="pl-PL" dirty="0" err="1"/>
              <a:t>none</a:t>
            </a:r>
            <a:r>
              <a:rPr lang="pl-PL" dirty="0"/>
              <a:t>;</a:t>
            </a:r>
          </a:p>
          <a:p>
            <a:pPr marL="0" indent="0">
              <a:buNone/>
            </a:pPr>
            <a:r>
              <a:rPr lang="pl-PL" dirty="0"/>
              <a:t>}</a:t>
            </a:r>
          </a:p>
          <a:p>
            <a:pPr marL="0" indent="0">
              <a:buNone/>
            </a:pPr>
            <a:endParaRPr lang="pl-PL" dirty="0"/>
          </a:p>
          <a:p>
            <a:pPr marL="0" indent="0">
              <a:buNone/>
            </a:pPr>
            <a:r>
              <a:rPr lang="pl-PL" dirty="0"/>
              <a:t>#menu1, #menu1 ul {</a:t>
            </a:r>
          </a:p>
          <a:p>
            <a:pPr marL="0" indent="0">
              <a:buNone/>
            </a:pPr>
            <a:r>
              <a:rPr lang="pl-PL" dirty="0" err="1"/>
              <a:t>width</a:t>
            </a:r>
            <a:r>
              <a:rPr lang="pl-PL" dirty="0"/>
              <a:t>: 140px;</a:t>
            </a:r>
          </a:p>
          <a:p>
            <a:pPr marL="0" indent="0">
              <a:buNone/>
            </a:pPr>
            <a:r>
              <a:rPr lang="pl-PL" dirty="0"/>
              <a:t>}</a:t>
            </a:r>
          </a:p>
        </p:txBody>
      </p:sp>
    </p:spTree>
    <p:extLst>
      <p:ext uri="{BB962C8B-B14F-4D97-AF65-F5344CB8AC3E}">
        <p14:creationId xmlns:p14="http://schemas.microsoft.com/office/powerpoint/2010/main" val="411498797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sp>
        <p:nvSpPr>
          <p:cNvPr id="3" name="Symbol zastępczy zawartości 2"/>
          <p:cNvSpPr>
            <a:spLocks noGrp="1"/>
          </p:cNvSpPr>
          <p:nvPr>
            <p:ph idx="1"/>
          </p:nvPr>
        </p:nvSpPr>
        <p:spPr/>
        <p:txBody>
          <a:bodyPr>
            <a:normAutofit fontScale="55000" lnSpcReduction="20000"/>
          </a:bodyPr>
          <a:lstStyle/>
          <a:p>
            <a:pPr marL="0" indent="0">
              <a:buNone/>
            </a:pPr>
            <a:r>
              <a:rPr lang="pl-PL" dirty="0"/>
              <a:t>#menu1 ul  {</a:t>
            </a:r>
            <a:r>
              <a:rPr lang="pl-PL" dirty="0" err="1"/>
              <a:t>position</a:t>
            </a:r>
            <a:r>
              <a:rPr lang="pl-PL" dirty="0"/>
              <a:t>: </a:t>
            </a:r>
            <a:r>
              <a:rPr lang="pl-PL" dirty="0" err="1"/>
              <a:t>absolute</a:t>
            </a:r>
            <a:r>
              <a:rPr lang="pl-PL" dirty="0"/>
              <a:t>;</a:t>
            </a:r>
          </a:p>
          <a:p>
            <a:pPr marL="0" indent="0">
              <a:buNone/>
            </a:pPr>
            <a:r>
              <a:rPr lang="pl-PL" dirty="0"/>
              <a:t>			top: 0;</a:t>
            </a:r>
          </a:p>
          <a:p>
            <a:pPr marL="0" indent="0">
              <a:buNone/>
            </a:pPr>
            <a:r>
              <a:rPr lang="pl-PL" dirty="0"/>
              <a:t>			</a:t>
            </a:r>
            <a:r>
              <a:rPr lang="pl-PL" dirty="0" err="1"/>
              <a:t>left</a:t>
            </a:r>
            <a:r>
              <a:rPr lang="pl-PL" dirty="0"/>
              <a:t>: 160px;</a:t>
            </a:r>
          </a:p>
          <a:p>
            <a:pPr marL="0" indent="0">
              <a:buNone/>
            </a:pPr>
            <a:r>
              <a:rPr lang="pl-PL" dirty="0"/>
              <a:t>			</a:t>
            </a:r>
            <a:r>
              <a:rPr lang="pl-PL" dirty="0" err="1"/>
              <a:t>padding-left</a:t>
            </a:r>
            <a:r>
              <a:rPr lang="pl-PL" dirty="0"/>
              <a:t>: 1px;</a:t>
            </a:r>
          </a:p>
          <a:p>
            <a:pPr marL="0" indent="0">
              <a:buNone/>
            </a:pPr>
            <a:r>
              <a:rPr lang="pl-PL" dirty="0"/>
              <a:t>			</a:t>
            </a:r>
            <a:r>
              <a:rPr lang="pl-PL" dirty="0" err="1"/>
              <a:t>visibility</a:t>
            </a:r>
            <a:r>
              <a:rPr lang="pl-PL" dirty="0"/>
              <a:t>: </a:t>
            </a:r>
            <a:r>
              <a:rPr lang="pl-PL" dirty="0" err="1"/>
              <a:t>hidden</a:t>
            </a:r>
            <a:r>
              <a:rPr lang="pl-PL" dirty="0"/>
              <a:t>;}</a:t>
            </a:r>
          </a:p>
          <a:p>
            <a:pPr marL="0" indent="0">
              <a:buNone/>
            </a:pPr>
            <a:r>
              <a:rPr lang="pl-PL" dirty="0"/>
              <a:t>#menu1 li {</a:t>
            </a:r>
            <a:r>
              <a:rPr lang="pl-PL" dirty="0" err="1"/>
              <a:t>padding-bottom</a:t>
            </a:r>
            <a:r>
              <a:rPr lang="pl-PL" dirty="0"/>
              <a:t>: 1px;</a:t>
            </a:r>
          </a:p>
          <a:p>
            <a:pPr marL="0" indent="0">
              <a:buNone/>
            </a:pPr>
            <a:r>
              <a:rPr lang="pl-PL" dirty="0"/>
              <a:t>			</a:t>
            </a:r>
            <a:r>
              <a:rPr lang="pl-PL" dirty="0" err="1"/>
              <a:t>position:relative</a:t>
            </a:r>
            <a:r>
              <a:rPr lang="pl-PL" dirty="0"/>
              <a:t>;}</a:t>
            </a:r>
          </a:p>
          <a:p>
            <a:pPr marL="0" indent="0">
              <a:buNone/>
            </a:pPr>
            <a:r>
              <a:rPr lang="pl-PL" dirty="0"/>
              <a:t>			</a:t>
            </a:r>
          </a:p>
          <a:p>
            <a:pPr marL="0" indent="0">
              <a:buNone/>
            </a:pPr>
            <a:r>
              <a:rPr lang="pl-PL" dirty="0"/>
              <a:t>#menu1 </a:t>
            </a:r>
            <a:r>
              <a:rPr lang="pl-PL" dirty="0" err="1"/>
              <a:t>li:hover</a:t>
            </a:r>
            <a:r>
              <a:rPr lang="pl-PL" dirty="0"/>
              <a:t> ul{</a:t>
            </a:r>
            <a:r>
              <a:rPr lang="pl-PL" dirty="0" err="1"/>
              <a:t>background-color</a:t>
            </a:r>
            <a:r>
              <a:rPr lang="pl-PL" dirty="0"/>
              <a:t>: #ff0000;</a:t>
            </a:r>
          </a:p>
          <a:p>
            <a:pPr marL="0" indent="0">
              <a:buNone/>
            </a:pPr>
            <a:r>
              <a:rPr lang="pl-PL" dirty="0"/>
              <a:t>					</a:t>
            </a:r>
            <a:r>
              <a:rPr lang="pl-PL" dirty="0" err="1"/>
              <a:t>visibility</a:t>
            </a:r>
            <a:r>
              <a:rPr lang="pl-PL" dirty="0"/>
              <a:t>: </a:t>
            </a:r>
            <a:r>
              <a:rPr lang="pl-PL" dirty="0" err="1"/>
              <a:t>visible</a:t>
            </a:r>
            <a:r>
              <a:rPr lang="pl-PL" dirty="0"/>
              <a:t>;</a:t>
            </a:r>
          </a:p>
          <a:p>
            <a:pPr marL="0" indent="0">
              <a:buNone/>
            </a:pPr>
            <a:r>
              <a:rPr lang="pl-PL" dirty="0"/>
              <a:t>					</a:t>
            </a:r>
            <a:r>
              <a:rPr lang="pl-PL" dirty="0" err="1"/>
              <a:t>width</a:t>
            </a:r>
            <a:r>
              <a:rPr lang="pl-PL" dirty="0"/>
              <a:t>: auto;</a:t>
            </a:r>
          </a:p>
          <a:p>
            <a:pPr marL="0" indent="0">
              <a:buNone/>
            </a:pPr>
            <a:r>
              <a:rPr lang="pl-PL" dirty="0"/>
              <a:t>					</a:t>
            </a:r>
            <a:r>
              <a:rPr lang="pl-PL" dirty="0" err="1"/>
              <a:t>height</a:t>
            </a:r>
            <a:r>
              <a:rPr lang="pl-PL" dirty="0"/>
              <a:t>: auto;</a:t>
            </a:r>
          </a:p>
          <a:p>
            <a:pPr marL="0" indent="0">
              <a:buNone/>
            </a:pPr>
            <a:r>
              <a:rPr lang="pl-PL" dirty="0"/>
              <a:t>					}</a:t>
            </a:r>
          </a:p>
          <a:p>
            <a:pPr marL="0" indent="0">
              <a:buNone/>
            </a:pPr>
            <a:r>
              <a:rPr lang="pl-PL" dirty="0"/>
              <a:t>		</a:t>
            </a:r>
          </a:p>
          <a:p>
            <a:pPr marL="0" indent="0">
              <a:buNone/>
            </a:pPr>
            <a:r>
              <a:rPr lang="pl-PL" dirty="0"/>
              <a:t>#menu1 </a:t>
            </a:r>
            <a:r>
              <a:rPr lang="pl-PL" dirty="0" err="1"/>
              <a:t>li:hover</a:t>
            </a:r>
            <a:r>
              <a:rPr lang="pl-PL" dirty="0"/>
              <a:t> ul </a:t>
            </a:r>
            <a:r>
              <a:rPr lang="pl-PL" dirty="0" err="1"/>
              <a:t>li:hover</a:t>
            </a:r>
            <a:r>
              <a:rPr lang="pl-PL" dirty="0"/>
              <a:t> a{</a:t>
            </a:r>
            <a:r>
              <a:rPr lang="pl-PL" dirty="0" err="1"/>
              <a:t>background-color</a:t>
            </a:r>
            <a:r>
              <a:rPr lang="pl-PL" dirty="0"/>
              <a:t>: #0000ff;</a:t>
            </a:r>
          </a:p>
          <a:p>
            <a:pPr marL="0" indent="0">
              <a:buNone/>
            </a:pPr>
            <a:r>
              <a:rPr lang="pl-PL" dirty="0"/>
              <a:t>					}</a:t>
            </a:r>
          </a:p>
        </p:txBody>
      </p:sp>
    </p:spTree>
    <p:extLst>
      <p:ext uri="{BB962C8B-B14F-4D97-AF65-F5344CB8AC3E}">
        <p14:creationId xmlns:p14="http://schemas.microsoft.com/office/powerpoint/2010/main" val="286272787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sp>
        <p:nvSpPr>
          <p:cNvPr id="3" name="Symbol zastępczy zawartości 2"/>
          <p:cNvSpPr>
            <a:spLocks noGrp="1"/>
          </p:cNvSpPr>
          <p:nvPr>
            <p:ph idx="1"/>
          </p:nvPr>
        </p:nvSpPr>
        <p:spPr/>
        <p:txBody>
          <a:bodyPr>
            <a:normAutofit fontScale="47500" lnSpcReduction="20000"/>
          </a:bodyPr>
          <a:lstStyle/>
          <a:p>
            <a:pPr marL="0" indent="0">
              <a:buNone/>
            </a:pPr>
            <a:r>
              <a:rPr lang="pl-PL" dirty="0"/>
              <a:t>#menu1 a, #menu1 </a:t>
            </a:r>
            <a:r>
              <a:rPr lang="pl-PL" dirty="0" err="1"/>
              <a:t>li:hover</a:t>
            </a:r>
            <a:r>
              <a:rPr lang="pl-PL" dirty="0"/>
              <a:t> li a {display: </a:t>
            </a:r>
            <a:r>
              <a:rPr lang="pl-PL" dirty="0" err="1"/>
              <a:t>block</a:t>
            </a:r>
            <a:r>
              <a:rPr lang="pl-PL" dirty="0"/>
              <a:t>;</a:t>
            </a:r>
          </a:p>
          <a:p>
            <a:pPr marL="0" indent="0">
              <a:buNone/>
            </a:pPr>
            <a:r>
              <a:rPr lang="pl-PL" dirty="0" err="1"/>
              <a:t>font</a:t>
            </a:r>
            <a:r>
              <a:rPr lang="pl-PL" dirty="0"/>
              <a:t>: 12px/30px </a:t>
            </a:r>
            <a:r>
              <a:rPr lang="pl-PL" dirty="0" err="1"/>
              <a:t>arial</a:t>
            </a:r>
            <a:r>
              <a:rPr lang="pl-PL" dirty="0"/>
              <a:t>, </a:t>
            </a:r>
            <a:r>
              <a:rPr lang="pl-PL" dirty="0" err="1"/>
              <a:t>verdana</a:t>
            </a:r>
            <a:r>
              <a:rPr lang="pl-PL" dirty="0"/>
              <a:t>;</a:t>
            </a:r>
          </a:p>
          <a:p>
            <a:pPr marL="0" indent="0">
              <a:buNone/>
            </a:pPr>
            <a:r>
              <a:rPr lang="pl-PL" dirty="0" err="1"/>
              <a:t>text-decoration</a:t>
            </a:r>
            <a:r>
              <a:rPr lang="pl-PL" dirty="0"/>
              <a:t>: </a:t>
            </a:r>
            <a:r>
              <a:rPr lang="pl-PL" dirty="0" err="1"/>
              <a:t>none</a:t>
            </a:r>
            <a:r>
              <a:rPr lang="pl-PL" dirty="0"/>
              <a:t>;</a:t>
            </a:r>
          </a:p>
          <a:p>
            <a:pPr marL="0" indent="0">
              <a:buNone/>
            </a:pPr>
            <a:r>
              <a:rPr lang="pl-PL" dirty="0" err="1"/>
              <a:t>padding</a:t>
            </a:r>
            <a:r>
              <a:rPr lang="pl-PL" dirty="0"/>
              <a:t>: 0px 10px;</a:t>
            </a:r>
          </a:p>
          <a:p>
            <a:pPr marL="0" indent="0">
              <a:buNone/>
            </a:pPr>
            <a:r>
              <a:rPr lang="pl-PL" dirty="0" err="1"/>
              <a:t>width</a:t>
            </a:r>
            <a:r>
              <a:rPr lang="pl-PL" dirty="0"/>
              <a:t>: 140px;</a:t>
            </a:r>
          </a:p>
          <a:p>
            <a:pPr marL="0" indent="0">
              <a:buNone/>
            </a:pPr>
            <a:r>
              <a:rPr lang="pl-PL" dirty="0" err="1"/>
              <a:t>color</a:t>
            </a:r>
            <a:r>
              <a:rPr lang="pl-PL" dirty="0"/>
              <a:t>: red;</a:t>
            </a:r>
          </a:p>
          <a:p>
            <a:pPr marL="0" indent="0">
              <a:buNone/>
            </a:pPr>
            <a:r>
              <a:rPr lang="pl-PL" dirty="0" err="1"/>
              <a:t>background-color</a:t>
            </a:r>
            <a:r>
              <a:rPr lang="pl-PL" dirty="0"/>
              <a:t>: #</a:t>
            </a:r>
            <a:r>
              <a:rPr lang="pl-PL" dirty="0" err="1"/>
              <a:t>ffffff</a:t>
            </a:r>
            <a:r>
              <a:rPr lang="pl-PL" dirty="0"/>
              <a:t>;</a:t>
            </a:r>
          </a:p>
          <a:p>
            <a:pPr marL="0" indent="0">
              <a:buNone/>
            </a:pPr>
            <a:endParaRPr lang="pl-PL" dirty="0"/>
          </a:p>
          <a:p>
            <a:pPr marL="0" indent="0">
              <a:buNone/>
            </a:pPr>
            <a:r>
              <a:rPr lang="pl-PL" dirty="0"/>
              <a:t>}					</a:t>
            </a:r>
          </a:p>
          <a:p>
            <a:pPr marL="0" indent="0">
              <a:buNone/>
            </a:pPr>
            <a:endParaRPr lang="pl-PL" dirty="0"/>
          </a:p>
          <a:p>
            <a:pPr marL="0" indent="0">
              <a:buNone/>
            </a:pPr>
            <a:r>
              <a:rPr lang="pl-PL" dirty="0"/>
              <a:t>#menu1 </a:t>
            </a:r>
            <a:r>
              <a:rPr lang="pl-PL" dirty="0" err="1"/>
              <a:t>li:hover</a:t>
            </a:r>
            <a:r>
              <a:rPr lang="pl-PL" dirty="0"/>
              <a:t> a, #menu1 </a:t>
            </a:r>
            <a:r>
              <a:rPr lang="pl-PL" dirty="0" err="1"/>
              <a:t>li:hover</a:t>
            </a:r>
            <a:r>
              <a:rPr lang="pl-PL" dirty="0"/>
              <a:t> </a:t>
            </a:r>
            <a:r>
              <a:rPr lang="pl-PL" dirty="0" err="1"/>
              <a:t>li:hover</a:t>
            </a:r>
            <a:r>
              <a:rPr lang="pl-PL" dirty="0"/>
              <a:t> </a:t>
            </a:r>
            <a:r>
              <a:rPr lang="pl-PL" dirty="0" err="1"/>
              <a:t>li:hover</a:t>
            </a:r>
            <a:r>
              <a:rPr lang="pl-PL" dirty="0"/>
              <a:t> a {</a:t>
            </a:r>
          </a:p>
          <a:p>
            <a:pPr marL="0" indent="0">
              <a:buNone/>
            </a:pPr>
            <a:r>
              <a:rPr lang="pl-PL" dirty="0" err="1"/>
              <a:t>background-color</a:t>
            </a:r>
            <a:r>
              <a:rPr lang="pl-PL" dirty="0"/>
              <a:t>: #ffff00;</a:t>
            </a:r>
          </a:p>
          <a:p>
            <a:pPr marL="0" indent="0">
              <a:buNone/>
            </a:pPr>
            <a:r>
              <a:rPr lang="pl-PL" dirty="0" err="1"/>
              <a:t>color</a:t>
            </a:r>
            <a:r>
              <a:rPr lang="pl-PL" dirty="0"/>
              <a:t>: </a:t>
            </a:r>
            <a:r>
              <a:rPr lang="pl-PL" dirty="0" err="1"/>
              <a:t>white</a:t>
            </a:r>
            <a:r>
              <a:rPr lang="pl-PL" dirty="0"/>
              <a:t>;</a:t>
            </a:r>
          </a:p>
          <a:p>
            <a:pPr marL="0" indent="0">
              <a:buNone/>
            </a:pPr>
            <a:r>
              <a:rPr lang="pl-PL" dirty="0"/>
              <a:t>}</a:t>
            </a:r>
          </a:p>
          <a:p>
            <a:pPr marL="0" indent="0">
              <a:buNone/>
            </a:pPr>
            <a:endParaRPr lang="pl-PL" dirty="0"/>
          </a:p>
          <a:p>
            <a:pPr marL="0" indent="0">
              <a:buNone/>
            </a:pPr>
            <a:endParaRPr lang="pl-PL" dirty="0"/>
          </a:p>
          <a:p>
            <a:pPr marL="0" indent="0">
              <a:buNone/>
            </a:pPr>
            <a:r>
              <a:rPr lang="pl-PL" dirty="0"/>
              <a:t>	&lt;/style&gt;</a:t>
            </a:r>
          </a:p>
        </p:txBody>
      </p:sp>
    </p:spTree>
    <p:extLst>
      <p:ext uri="{BB962C8B-B14F-4D97-AF65-F5344CB8AC3E}">
        <p14:creationId xmlns:p14="http://schemas.microsoft.com/office/powerpoint/2010/main" val="38691392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sp>
        <p:nvSpPr>
          <p:cNvPr id="3" name="Symbol zastępczy zawartości 2"/>
          <p:cNvSpPr>
            <a:spLocks noGrp="1"/>
          </p:cNvSpPr>
          <p:nvPr>
            <p:ph idx="1"/>
          </p:nvPr>
        </p:nvSpPr>
        <p:spPr/>
        <p:txBody>
          <a:bodyPr>
            <a:normAutofit fontScale="47500" lnSpcReduction="20000"/>
          </a:bodyPr>
          <a:lstStyle/>
          <a:p>
            <a:pPr marL="0" indent="0">
              <a:buNone/>
            </a:pPr>
            <a:r>
              <a:rPr lang="pl-PL" dirty="0"/>
              <a:t>&lt;/</a:t>
            </a:r>
            <a:r>
              <a:rPr lang="pl-PL" dirty="0" err="1"/>
              <a:t>head</a:t>
            </a:r>
            <a:r>
              <a:rPr lang="pl-PL" dirty="0"/>
              <a:t>&gt;</a:t>
            </a:r>
          </a:p>
          <a:p>
            <a:pPr marL="0" indent="0">
              <a:buNone/>
            </a:pPr>
            <a:r>
              <a:rPr lang="pl-PL" dirty="0"/>
              <a:t>&lt;body&gt;</a:t>
            </a:r>
          </a:p>
          <a:p>
            <a:pPr marL="0" indent="0">
              <a:buNone/>
            </a:pPr>
            <a:r>
              <a:rPr lang="pl-PL" dirty="0"/>
              <a:t>&lt;ul id="menu1"&gt;</a:t>
            </a:r>
          </a:p>
          <a:p>
            <a:pPr marL="0" indent="0">
              <a:buNone/>
            </a:pPr>
            <a:r>
              <a:rPr lang="pl-PL" dirty="0"/>
              <a:t>&lt;li&gt;&lt;a </a:t>
            </a:r>
            <a:r>
              <a:rPr lang="pl-PL" dirty="0" err="1"/>
              <a:t>href</a:t>
            </a:r>
            <a:r>
              <a:rPr lang="pl-PL" dirty="0"/>
              <a:t>="s1.html"&gt;Strona1&lt;/a&gt;&lt;/li&gt;</a:t>
            </a:r>
          </a:p>
          <a:p>
            <a:pPr marL="0" indent="0">
              <a:buNone/>
            </a:pPr>
            <a:r>
              <a:rPr lang="pl-PL" dirty="0"/>
              <a:t>&lt;li&gt;&lt;a </a:t>
            </a:r>
            <a:r>
              <a:rPr lang="pl-PL" dirty="0" err="1"/>
              <a:t>href</a:t>
            </a:r>
            <a:r>
              <a:rPr lang="pl-PL" dirty="0"/>
              <a:t>="s1.html"&gt;Strona2&lt;/a&gt;</a:t>
            </a:r>
          </a:p>
          <a:p>
            <a:pPr marL="0" indent="0">
              <a:buNone/>
            </a:pPr>
            <a:r>
              <a:rPr lang="pl-PL" dirty="0"/>
              <a:t>&lt;ul&gt;</a:t>
            </a:r>
          </a:p>
          <a:p>
            <a:pPr marL="0" indent="0">
              <a:buNone/>
            </a:pPr>
            <a:r>
              <a:rPr lang="pl-PL" dirty="0"/>
              <a:t>&lt;li&gt;&lt;a </a:t>
            </a:r>
            <a:r>
              <a:rPr lang="pl-PL" dirty="0" err="1"/>
              <a:t>href</a:t>
            </a:r>
            <a:r>
              <a:rPr lang="pl-PL" dirty="0"/>
              <a:t>="s1.html"&gt;Podstrona1&lt;/a&gt;&lt;/li&gt;</a:t>
            </a:r>
          </a:p>
          <a:p>
            <a:pPr marL="0" indent="0">
              <a:buNone/>
            </a:pPr>
            <a:r>
              <a:rPr lang="pl-PL" dirty="0"/>
              <a:t>&lt;li&gt;&lt;a </a:t>
            </a:r>
            <a:r>
              <a:rPr lang="pl-PL" dirty="0" err="1"/>
              <a:t>href</a:t>
            </a:r>
            <a:r>
              <a:rPr lang="pl-PL" dirty="0"/>
              <a:t>="s1.html"&gt;Podstrona2&lt;/a&gt;&lt;/li&gt;</a:t>
            </a:r>
          </a:p>
          <a:p>
            <a:pPr marL="0" indent="0">
              <a:buNone/>
            </a:pPr>
            <a:r>
              <a:rPr lang="pl-PL" dirty="0"/>
              <a:t>&lt;li&gt;&lt;a </a:t>
            </a:r>
            <a:r>
              <a:rPr lang="pl-PL" dirty="0" err="1"/>
              <a:t>href</a:t>
            </a:r>
            <a:r>
              <a:rPr lang="pl-PL" dirty="0"/>
              <a:t>="s1.html"&gt;Podstrona3&lt;/a&gt;&lt;/li&gt;</a:t>
            </a:r>
          </a:p>
          <a:p>
            <a:pPr marL="0" indent="0">
              <a:buNone/>
            </a:pPr>
            <a:r>
              <a:rPr lang="pl-PL" dirty="0"/>
              <a:t>&lt;li&gt;&lt;a </a:t>
            </a:r>
            <a:r>
              <a:rPr lang="pl-PL" dirty="0" err="1"/>
              <a:t>href</a:t>
            </a:r>
            <a:r>
              <a:rPr lang="pl-PL" dirty="0"/>
              <a:t>="s1.html"&gt;Podstrona4&lt;/a&gt;&lt;/li&gt;</a:t>
            </a:r>
          </a:p>
          <a:p>
            <a:pPr marL="0" indent="0">
              <a:buNone/>
            </a:pPr>
            <a:r>
              <a:rPr lang="pl-PL" dirty="0"/>
              <a:t>&lt;/ul&gt;</a:t>
            </a:r>
          </a:p>
          <a:p>
            <a:pPr marL="0" indent="0">
              <a:buNone/>
            </a:pPr>
            <a:r>
              <a:rPr lang="pl-PL" dirty="0"/>
              <a:t>&lt;/li&gt;</a:t>
            </a:r>
          </a:p>
          <a:p>
            <a:pPr marL="0" indent="0">
              <a:buNone/>
            </a:pPr>
            <a:r>
              <a:rPr lang="pl-PL" dirty="0"/>
              <a:t>&lt;li&gt;&lt;a </a:t>
            </a:r>
            <a:r>
              <a:rPr lang="pl-PL" dirty="0" err="1"/>
              <a:t>href</a:t>
            </a:r>
            <a:r>
              <a:rPr lang="pl-PL" dirty="0"/>
              <a:t>="s1.html"&gt;Strona2&lt;/a&gt;&lt;/li&gt;</a:t>
            </a:r>
          </a:p>
          <a:p>
            <a:pPr marL="0" indent="0">
              <a:buNone/>
            </a:pPr>
            <a:endParaRPr lang="pl-PL" dirty="0"/>
          </a:p>
          <a:p>
            <a:pPr marL="0" indent="0">
              <a:buNone/>
            </a:pPr>
            <a:r>
              <a:rPr lang="pl-PL" dirty="0"/>
              <a:t>&lt;/ul&gt;</a:t>
            </a:r>
          </a:p>
          <a:p>
            <a:pPr marL="0" indent="0">
              <a:buNone/>
            </a:pPr>
            <a:endParaRPr lang="pl-PL" dirty="0"/>
          </a:p>
          <a:p>
            <a:pPr marL="0" indent="0">
              <a:buNone/>
            </a:pPr>
            <a:endParaRPr lang="pl-PL" dirty="0"/>
          </a:p>
          <a:p>
            <a:pPr marL="0" indent="0">
              <a:buNone/>
            </a:pPr>
            <a:r>
              <a:rPr lang="pl-PL" dirty="0"/>
              <a:t>&lt;/body&gt;</a:t>
            </a:r>
          </a:p>
          <a:p>
            <a:pPr marL="0" indent="0">
              <a:buNone/>
            </a:pPr>
            <a:r>
              <a:rPr lang="pl-PL" dirty="0"/>
              <a:t>&lt;/</a:t>
            </a:r>
            <a:r>
              <a:rPr lang="pl-PL" dirty="0" err="1"/>
              <a:t>html</a:t>
            </a:r>
            <a:r>
              <a:rPr lang="pl-PL" dirty="0"/>
              <a:t>&gt;</a:t>
            </a:r>
          </a:p>
          <a:p>
            <a:pPr marL="0" indent="0">
              <a:buNone/>
            </a:pPr>
            <a:endParaRPr lang="pl-PL" dirty="0"/>
          </a:p>
        </p:txBody>
      </p:sp>
    </p:spTree>
    <p:extLst>
      <p:ext uri="{BB962C8B-B14F-4D97-AF65-F5344CB8AC3E}">
        <p14:creationId xmlns:p14="http://schemas.microsoft.com/office/powerpoint/2010/main" val="109480964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pic>
        <p:nvPicPr>
          <p:cNvPr id="4" name="Symbol zastępczy zawartości 3">
            <a:extLst>
              <a:ext uri="{FF2B5EF4-FFF2-40B4-BE49-F238E27FC236}">
                <a16:creationId xmlns:a16="http://schemas.microsoft.com/office/drawing/2014/main" id="{2779A340-E04A-4DBF-856B-767313D42A41}"/>
              </a:ext>
            </a:extLst>
          </p:cNvPr>
          <p:cNvPicPr>
            <a:picLocks noGrp="1" noChangeAspect="1"/>
          </p:cNvPicPr>
          <p:nvPr>
            <p:ph idx="1"/>
          </p:nvPr>
        </p:nvPicPr>
        <p:blipFill>
          <a:blip r:embed="rId2"/>
          <a:stretch>
            <a:fillRect/>
          </a:stretch>
        </p:blipFill>
        <p:spPr>
          <a:xfrm>
            <a:off x="1247775" y="2143919"/>
            <a:ext cx="6648450" cy="3438525"/>
          </a:xfrm>
          <a:prstGeom prst="rect">
            <a:avLst/>
          </a:prstGeom>
        </p:spPr>
      </p:pic>
    </p:spTree>
    <p:extLst>
      <p:ext uri="{BB962C8B-B14F-4D97-AF65-F5344CB8AC3E}">
        <p14:creationId xmlns:p14="http://schemas.microsoft.com/office/powerpoint/2010/main" val="12032419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pic>
        <p:nvPicPr>
          <p:cNvPr id="4" name="Symbol zastępczy zawartości 3">
            <a:extLst>
              <a:ext uri="{FF2B5EF4-FFF2-40B4-BE49-F238E27FC236}">
                <a16:creationId xmlns:a16="http://schemas.microsoft.com/office/drawing/2014/main" id="{9D9D0B86-F056-4696-8498-E2FF0335E8E8}"/>
              </a:ext>
            </a:extLst>
          </p:cNvPr>
          <p:cNvPicPr>
            <a:picLocks noGrp="1" noChangeAspect="1"/>
          </p:cNvPicPr>
          <p:nvPr>
            <p:ph idx="1"/>
          </p:nvPr>
        </p:nvPicPr>
        <p:blipFill>
          <a:blip r:embed="rId2"/>
          <a:stretch>
            <a:fillRect/>
          </a:stretch>
        </p:blipFill>
        <p:spPr>
          <a:xfrm>
            <a:off x="1571625" y="1953419"/>
            <a:ext cx="6000750" cy="3819525"/>
          </a:xfrm>
          <a:prstGeom prst="rect">
            <a:avLst/>
          </a:prstGeom>
        </p:spPr>
      </p:pic>
    </p:spTree>
    <p:extLst>
      <p:ext uri="{BB962C8B-B14F-4D97-AF65-F5344CB8AC3E}">
        <p14:creationId xmlns:p14="http://schemas.microsoft.com/office/powerpoint/2010/main" val="329270777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Menu rozwijane</a:t>
            </a:r>
          </a:p>
        </p:txBody>
      </p:sp>
      <p:pic>
        <p:nvPicPr>
          <p:cNvPr id="6" name="Symbol zastępczy zawartości 5">
            <a:extLst>
              <a:ext uri="{FF2B5EF4-FFF2-40B4-BE49-F238E27FC236}">
                <a16:creationId xmlns:a16="http://schemas.microsoft.com/office/drawing/2014/main" id="{58F00463-D190-4D8D-804F-34052DB5E28E}"/>
              </a:ext>
            </a:extLst>
          </p:cNvPr>
          <p:cNvPicPr>
            <a:picLocks noGrp="1" noChangeAspect="1"/>
          </p:cNvPicPr>
          <p:nvPr>
            <p:ph idx="1"/>
          </p:nvPr>
        </p:nvPicPr>
        <p:blipFill>
          <a:blip r:embed="rId2"/>
          <a:stretch>
            <a:fillRect/>
          </a:stretch>
        </p:blipFill>
        <p:spPr>
          <a:xfrm>
            <a:off x="1519237" y="1981994"/>
            <a:ext cx="6105525" cy="3762375"/>
          </a:xfrm>
          <a:prstGeom prst="rect">
            <a:avLst/>
          </a:prstGeom>
        </p:spPr>
      </p:pic>
    </p:spTree>
    <p:extLst>
      <p:ext uri="{BB962C8B-B14F-4D97-AF65-F5344CB8AC3E}">
        <p14:creationId xmlns:p14="http://schemas.microsoft.com/office/powerpoint/2010/main" val="33176025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A79AF80-B5F3-4335-AAC7-A83149D95D8C}"/>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22639544-C52A-4DC4-A2C2-C7D277DA7A37}"/>
              </a:ext>
            </a:extLst>
          </p:cNvPr>
          <p:cNvSpPr>
            <a:spLocks noGrp="1"/>
          </p:cNvSpPr>
          <p:nvPr>
            <p:ph idx="1"/>
          </p:nvPr>
        </p:nvSpPr>
        <p:spPr/>
        <p:txBody>
          <a:bodyPr/>
          <a:lstStyle/>
          <a:p>
            <a:pPr marL="0" indent="0">
              <a:buNone/>
            </a:pPr>
            <a:r>
              <a:rPr lang="pl-PL" dirty="0"/>
              <a:t>Obecnie standardem projektowania szablonu stron jest szerokość ekranu 1024, czyli szerokość strony pasuje ustawić mniejszą np. 1000,  oczywiście większość monitorów posiada dużo większą rozdzielczość ale musimy dostosować się do użytkowników posiadających starszy sprzęt tak aby i oni mogli wygonie przeglądać naszą stronę.</a:t>
            </a:r>
          </a:p>
        </p:txBody>
      </p:sp>
    </p:spTree>
    <p:extLst>
      <p:ext uri="{BB962C8B-B14F-4D97-AF65-F5344CB8AC3E}">
        <p14:creationId xmlns:p14="http://schemas.microsoft.com/office/powerpoint/2010/main" val="25327347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lstStyle/>
          <a:p>
            <a:pPr marL="0" indent="0">
              <a:buNone/>
            </a:pPr>
            <a:r>
              <a:rPr lang="pl-PL" dirty="0"/>
              <a:t>Na stronie należy używać znaczników ułatwiających rozmieszczenie elementów:</a:t>
            </a:r>
          </a:p>
          <a:p>
            <a:pPr marL="0" indent="0">
              <a:buNone/>
            </a:pPr>
            <a:r>
              <a:rPr lang="pl-PL" dirty="0"/>
              <a:t>&lt;div&gt; &lt;</a:t>
            </a:r>
            <a:r>
              <a:rPr lang="pl-PL" dirty="0" err="1"/>
              <a:t>footer</a:t>
            </a:r>
            <a:r>
              <a:rPr lang="pl-PL" dirty="0"/>
              <a:t>&gt; &lt;</a:t>
            </a:r>
            <a:r>
              <a:rPr lang="pl-PL" dirty="0" err="1"/>
              <a:t>nav</a:t>
            </a:r>
            <a:r>
              <a:rPr lang="pl-PL" dirty="0"/>
              <a:t>&gt; &lt;</a:t>
            </a:r>
            <a:r>
              <a:rPr lang="pl-PL" dirty="0" err="1"/>
              <a:t>header</a:t>
            </a:r>
            <a:r>
              <a:rPr lang="pl-PL" dirty="0"/>
              <a:t>&gt; &lt;</a:t>
            </a:r>
            <a:r>
              <a:rPr lang="pl-PL" dirty="0" err="1"/>
              <a:t>section</a:t>
            </a:r>
            <a:r>
              <a:rPr lang="pl-PL" dirty="0"/>
              <a:t>&gt;</a:t>
            </a:r>
          </a:p>
          <a:p>
            <a:pPr marL="0" indent="0">
              <a:buNone/>
            </a:pPr>
            <a:endParaRPr lang="pl-PL" dirty="0"/>
          </a:p>
          <a:p>
            <a:pPr marL="0" indent="0">
              <a:buNone/>
            </a:pPr>
            <a:r>
              <a:rPr lang="pl-PL" dirty="0"/>
              <a:t>W praktyce najczęściej używanym szablonem strony jest nagłówek, trzy kolumny, stopka. Równie często spotyka się układ nagłówek, dwie kolumny i stopka.</a:t>
            </a:r>
          </a:p>
        </p:txBody>
      </p:sp>
    </p:spTree>
    <p:extLst>
      <p:ext uri="{BB962C8B-B14F-4D97-AF65-F5344CB8AC3E}">
        <p14:creationId xmlns:p14="http://schemas.microsoft.com/office/powerpoint/2010/main" val="13652937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fontScale="62500" lnSpcReduction="20000"/>
          </a:bodyPr>
          <a:lstStyle/>
          <a:p>
            <a:pPr marL="0" indent="0">
              <a:buNone/>
            </a:pPr>
            <a:r>
              <a:rPr lang="pl-PL" dirty="0"/>
              <a:t>&lt;!DOCTYPE </a:t>
            </a:r>
            <a:r>
              <a:rPr lang="pl-PL" dirty="0" err="1"/>
              <a:t>html</a:t>
            </a:r>
            <a:r>
              <a:rPr lang="pl-PL" dirty="0"/>
              <a:t>&gt; </a:t>
            </a:r>
          </a:p>
          <a:p>
            <a:pPr marL="0" indent="0">
              <a:buNone/>
            </a:pPr>
            <a:r>
              <a:rPr lang="pl-PL" dirty="0"/>
              <a:t>&lt;</a:t>
            </a:r>
            <a:r>
              <a:rPr lang="pl-PL" dirty="0" err="1"/>
              <a:t>html</a:t>
            </a:r>
            <a:r>
              <a:rPr lang="pl-PL" dirty="0"/>
              <a:t> </a:t>
            </a:r>
            <a:r>
              <a:rPr lang="pl-PL" dirty="0" err="1"/>
              <a:t>lang</a:t>
            </a:r>
            <a:r>
              <a:rPr lang="pl-PL" dirty="0"/>
              <a:t>="</a:t>
            </a:r>
            <a:r>
              <a:rPr lang="pl-PL" dirty="0" err="1"/>
              <a:t>pl</a:t>
            </a:r>
            <a:r>
              <a:rPr lang="pl-PL" dirty="0"/>
              <a:t>-PL"&gt;</a:t>
            </a:r>
          </a:p>
          <a:p>
            <a:pPr marL="0" indent="0">
              <a:buNone/>
            </a:pPr>
            <a:r>
              <a:rPr lang="pl-PL" dirty="0"/>
              <a:t>&lt;</a:t>
            </a:r>
            <a:r>
              <a:rPr lang="pl-PL" dirty="0" err="1"/>
              <a:t>head</a:t>
            </a:r>
            <a:r>
              <a:rPr lang="pl-PL" dirty="0"/>
              <a:t>&gt;</a:t>
            </a:r>
          </a:p>
          <a:p>
            <a:pPr marL="0" indent="0">
              <a:buNone/>
            </a:pPr>
            <a:r>
              <a:rPr lang="pl-PL" dirty="0"/>
              <a:t>&lt;meta </a:t>
            </a:r>
            <a:r>
              <a:rPr lang="pl-PL" dirty="0" err="1"/>
              <a:t>charset</a:t>
            </a:r>
            <a:r>
              <a:rPr lang="pl-PL" dirty="0"/>
              <a:t>="UTF-8"/&gt;</a:t>
            </a:r>
          </a:p>
          <a:p>
            <a:pPr marL="0" indent="0">
              <a:buNone/>
            </a:pPr>
            <a:r>
              <a:rPr lang="pl-PL" dirty="0"/>
              <a:t>&lt;style&gt;</a:t>
            </a:r>
          </a:p>
          <a:p>
            <a:pPr marL="0" indent="0">
              <a:buNone/>
            </a:pPr>
            <a:endParaRPr lang="pl-PL" dirty="0"/>
          </a:p>
          <a:p>
            <a:pPr marL="0" indent="0">
              <a:buNone/>
            </a:pPr>
            <a:r>
              <a:rPr lang="pl-PL" dirty="0"/>
              <a:t>	&lt;/style&gt;</a:t>
            </a:r>
          </a:p>
          <a:p>
            <a:pPr marL="0" indent="0">
              <a:buNone/>
            </a:pPr>
            <a:r>
              <a:rPr lang="pl-PL" dirty="0"/>
              <a:t>&lt;/</a:t>
            </a:r>
            <a:r>
              <a:rPr lang="pl-PL" dirty="0" err="1"/>
              <a:t>head</a:t>
            </a:r>
            <a:r>
              <a:rPr lang="pl-PL" dirty="0"/>
              <a:t>&gt;</a:t>
            </a:r>
          </a:p>
          <a:p>
            <a:pPr marL="0" indent="0">
              <a:buNone/>
            </a:pPr>
            <a:r>
              <a:rPr lang="pl-PL" dirty="0"/>
              <a:t>&lt;body&gt;</a:t>
            </a:r>
          </a:p>
          <a:p>
            <a:pPr marL="0" indent="0">
              <a:buNone/>
            </a:pPr>
            <a:r>
              <a:rPr lang="pl-PL" dirty="0"/>
              <a:t>&lt;</a:t>
            </a:r>
            <a:r>
              <a:rPr lang="pl-PL" dirty="0" err="1"/>
              <a:t>header</a:t>
            </a:r>
            <a:r>
              <a:rPr lang="pl-PL" dirty="0"/>
              <a:t> id="</a:t>
            </a:r>
            <a:r>
              <a:rPr lang="pl-PL" dirty="0" err="1"/>
              <a:t>naglowek</a:t>
            </a:r>
            <a:r>
              <a:rPr lang="pl-PL" dirty="0"/>
              <a:t>"&gt; Nagłówek </a:t>
            </a:r>
          </a:p>
          <a:p>
            <a:pPr marL="0" indent="0">
              <a:buNone/>
            </a:pPr>
            <a:r>
              <a:rPr lang="pl-PL" dirty="0"/>
              <a:t>	&lt;</a:t>
            </a:r>
            <a:r>
              <a:rPr lang="pl-PL" dirty="0" err="1"/>
              <a:t>nav</a:t>
            </a:r>
            <a:r>
              <a:rPr lang="pl-PL" dirty="0"/>
              <a:t>&gt;</a:t>
            </a:r>
          </a:p>
          <a:p>
            <a:pPr marL="0" indent="0">
              <a:buNone/>
            </a:pPr>
            <a:r>
              <a:rPr lang="pl-PL" dirty="0"/>
              <a:t>	menu nawigacja po stronie</a:t>
            </a:r>
          </a:p>
          <a:p>
            <a:pPr marL="0" indent="0">
              <a:buNone/>
            </a:pPr>
            <a:r>
              <a:rPr lang="pl-PL" dirty="0"/>
              <a:t>	&lt;/</a:t>
            </a:r>
            <a:r>
              <a:rPr lang="pl-PL" dirty="0" err="1"/>
              <a:t>nav</a:t>
            </a:r>
            <a:r>
              <a:rPr lang="pl-PL" dirty="0"/>
              <a:t>&gt;</a:t>
            </a:r>
          </a:p>
          <a:p>
            <a:pPr marL="0" indent="0">
              <a:buNone/>
            </a:pPr>
            <a:r>
              <a:rPr lang="pl-PL" dirty="0"/>
              <a:t>&lt;/</a:t>
            </a:r>
            <a:r>
              <a:rPr lang="pl-PL" dirty="0" err="1"/>
              <a:t>header</a:t>
            </a:r>
            <a:r>
              <a:rPr lang="pl-PL" dirty="0"/>
              <a:t>&gt;</a:t>
            </a:r>
          </a:p>
          <a:p>
            <a:pPr marL="0" indent="0">
              <a:buNone/>
            </a:pPr>
            <a:endParaRPr lang="pl-PL" dirty="0"/>
          </a:p>
        </p:txBody>
      </p:sp>
    </p:spTree>
    <p:extLst>
      <p:ext uri="{BB962C8B-B14F-4D97-AF65-F5344CB8AC3E}">
        <p14:creationId xmlns:p14="http://schemas.microsoft.com/office/powerpoint/2010/main" val="357680108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fontScale="70000" lnSpcReduction="20000"/>
          </a:bodyPr>
          <a:lstStyle/>
          <a:p>
            <a:pPr marL="0" indent="0">
              <a:buNone/>
            </a:pPr>
            <a:r>
              <a:rPr lang="pl-PL" dirty="0"/>
              <a:t>&lt;div id="ramka"&gt;</a:t>
            </a:r>
          </a:p>
          <a:p>
            <a:pPr marL="0" indent="0">
              <a:buNone/>
            </a:pPr>
            <a:r>
              <a:rPr lang="pl-PL" dirty="0"/>
              <a:t>	&lt;</a:t>
            </a:r>
            <a:r>
              <a:rPr lang="pl-PL" dirty="0" err="1"/>
              <a:t>section</a:t>
            </a:r>
            <a:r>
              <a:rPr lang="pl-PL" dirty="0"/>
              <a:t> </a:t>
            </a:r>
            <a:r>
              <a:rPr lang="pl-PL" dirty="0" err="1"/>
              <a:t>class</a:t>
            </a:r>
            <a:r>
              <a:rPr lang="pl-PL" dirty="0"/>
              <a:t>="kolumny" id="kol1"&gt;	</a:t>
            </a:r>
          </a:p>
          <a:p>
            <a:pPr marL="0" indent="0">
              <a:buNone/>
            </a:pPr>
            <a:r>
              <a:rPr lang="pl-PL" dirty="0"/>
              <a:t>		&lt;</a:t>
            </a:r>
            <a:r>
              <a:rPr lang="pl-PL" dirty="0" err="1"/>
              <a:t>article</a:t>
            </a:r>
            <a:r>
              <a:rPr lang="pl-PL" dirty="0"/>
              <a:t> </a:t>
            </a:r>
            <a:r>
              <a:rPr lang="pl-PL" dirty="0" err="1"/>
              <a:t>class</a:t>
            </a:r>
            <a:r>
              <a:rPr lang="pl-PL" dirty="0"/>
              <a:t>="art" id="k1a1"&gt;</a:t>
            </a:r>
          </a:p>
          <a:p>
            <a:pPr marL="0" indent="0">
              <a:buNone/>
            </a:pPr>
            <a:r>
              <a:rPr lang="pl-PL" dirty="0"/>
              <a:t>		A1 w K1</a:t>
            </a:r>
          </a:p>
          <a:p>
            <a:pPr marL="0" indent="0">
              <a:buNone/>
            </a:pPr>
            <a:r>
              <a:rPr lang="pl-PL" dirty="0"/>
              <a:t>		&lt;/</a:t>
            </a:r>
            <a:r>
              <a:rPr lang="pl-PL" dirty="0" err="1"/>
              <a:t>article</a:t>
            </a:r>
            <a:r>
              <a:rPr lang="pl-PL" dirty="0"/>
              <a:t>&gt;</a:t>
            </a:r>
          </a:p>
          <a:p>
            <a:pPr marL="0" indent="0">
              <a:buNone/>
            </a:pPr>
            <a:r>
              <a:rPr lang="pl-PL" dirty="0"/>
              <a:t>		&lt;</a:t>
            </a:r>
            <a:r>
              <a:rPr lang="pl-PL" dirty="0" err="1"/>
              <a:t>article</a:t>
            </a:r>
            <a:r>
              <a:rPr lang="pl-PL" dirty="0"/>
              <a:t> </a:t>
            </a:r>
            <a:r>
              <a:rPr lang="pl-PL" dirty="0" err="1"/>
              <a:t>class</a:t>
            </a:r>
            <a:r>
              <a:rPr lang="pl-PL" dirty="0"/>
              <a:t>="art" id="k1a2"&gt;</a:t>
            </a:r>
          </a:p>
          <a:p>
            <a:pPr marL="0" indent="0">
              <a:buNone/>
            </a:pPr>
            <a:r>
              <a:rPr lang="pl-PL" dirty="0"/>
              <a:t>		A2 w K1</a:t>
            </a:r>
          </a:p>
          <a:p>
            <a:pPr marL="0" indent="0">
              <a:buNone/>
            </a:pPr>
            <a:r>
              <a:rPr lang="pl-PL" dirty="0"/>
              <a:t>		&lt;/</a:t>
            </a:r>
            <a:r>
              <a:rPr lang="pl-PL" dirty="0" err="1"/>
              <a:t>article</a:t>
            </a:r>
            <a:r>
              <a:rPr lang="pl-PL" dirty="0"/>
              <a:t>&gt;</a:t>
            </a:r>
          </a:p>
          <a:p>
            <a:pPr marL="0" indent="0">
              <a:buNone/>
            </a:pPr>
            <a:r>
              <a:rPr lang="pl-PL" dirty="0"/>
              <a:t>		&lt;</a:t>
            </a:r>
            <a:r>
              <a:rPr lang="pl-PL" dirty="0" err="1"/>
              <a:t>article</a:t>
            </a:r>
            <a:r>
              <a:rPr lang="pl-PL" dirty="0"/>
              <a:t> </a:t>
            </a:r>
            <a:r>
              <a:rPr lang="pl-PL" dirty="0" err="1"/>
              <a:t>class</a:t>
            </a:r>
            <a:r>
              <a:rPr lang="pl-PL" dirty="0"/>
              <a:t>="art" id="k1a3"&gt;</a:t>
            </a:r>
          </a:p>
          <a:p>
            <a:pPr marL="0" indent="0">
              <a:buNone/>
            </a:pPr>
            <a:r>
              <a:rPr lang="pl-PL" dirty="0"/>
              <a:t>		A3 w K1</a:t>
            </a:r>
          </a:p>
          <a:p>
            <a:pPr marL="0" indent="0">
              <a:buNone/>
            </a:pPr>
            <a:r>
              <a:rPr lang="pl-PL" dirty="0"/>
              <a:t>		&lt;/</a:t>
            </a:r>
            <a:r>
              <a:rPr lang="pl-PL" dirty="0" err="1"/>
              <a:t>article</a:t>
            </a:r>
            <a:r>
              <a:rPr lang="pl-PL" dirty="0"/>
              <a:t>&gt;</a:t>
            </a:r>
          </a:p>
          <a:p>
            <a:pPr marL="0" indent="0">
              <a:buNone/>
            </a:pPr>
            <a:r>
              <a:rPr lang="pl-PL" dirty="0"/>
              <a:t>	&lt;/</a:t>
            </a:r>
            <a:r>
              <a:rPr lang="pl-PL" dirty="0" err="1"/>
              <a:t>section</a:t>
            </a:r>
            <a:r>
              <a:rPr lang="pl-PL" dirty="0"/>
              <a:t>&gt;</a:t>
            </a:r>
          </a:p>
        </p:txBody>
      </p:sp>
    </p:spTree>
    <p:extLst>
      <p:ext uri="{BB962C8B-B14F-4D97-AF65-F5344CB8AC3E}">
        <p14:creationId xmlns:p14="http://schemas.microsoft.com/office/powerpoint/2010/main" val="313792215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fontScale="77500" lnSpcReduction="20000"/>
          </a:bodyPr>
          <a:lstStyle/>
          <a:p>
            <a:pPr marL="0" indent="0">
              <a:buNone/>
            </a:pPr>
            <a:r>
              <a:rPr lang="en-US" dirty="0"/>
              <a:t>&lt;section class="</a:t>
            </a:r>
            <a:r>
              <a:rPr lang="en-US" dirty="0" err="1"/>
              <a:t>kolumny</a:t>
            </a:r>
            <a:r>
              <a:rPr lang="en-US" dirty="0"/>
              <a:t>" id="kol2"&gt;	</a:t>
            </a:r>
          </a:p>
          <a:p>
            <a:pPr marL="0" indent="0">
              <a:buNone/>
            </a:pPr>
            <a:r>
              <a:rPr lang="en-US" dirty="0"/>
              <a:t>		&lt;article class="art" id="k2a1"&gt;</a:t>
            </a:r>
          </a:p>
          <a:p>
            <a:pPr marL="0" indent="0">
              <a:buNone/>
            </a:pPr>
            <a:r>
              <a:rPr lang="en-US" dirty="0"/>
              <a:t>		A1 w K</a:t>
            </a:r>
            <a:r>
              <a:rPr lang="pl-PL" dirty="0"/>
              <a:t>2</a:t>
            </a:r>
            <a:endParaRPr lang="en-US" dirty="0"/>
          </a:p>
          <a:p>
            <a:pPr marL="0" indent="0">
              <a:buNone/>
            </a:pPr>
            <a:r>
              <a:rPr lang="en-US" dirty="0"/>
              <a:t>		&lt;/article&gt;</a:t>
            </a:r>
          </a:p>
          <a:p>
            <a:pPr marL="0" indent="0">
              <a:buNone/>
            </a:pPr>
            <a:r>
              <a:rPr lang="en-US" dirty="0"/>
              <a:t>		&lt;article class="art" id="k2a2"&gt;</a:t>
            </a:r>
          </a:p>
          <a:p>
            <a:pPr marL="0" indent="0">
              <a:buNone/>
            </a:pPr>
            <a:r>
              <a:rPr lang="en-US" dirty="0"/>
              <a:t>		A</a:t>
            </a:r>
            <a:r>
              <a:rPr lang="pl-PL" dirty="0"/>
              <a:t>2</a:t>
            </a:r>
            <a:r>
              <a:rPr lang="en-US" dirty="0"/>
              <a:t> w K</a:t>
            </a:r>
            <a:r>
              <a:rPr lang="pl-PL" dirty="0"/>
              <a:t>2</a:t>
            </a:r>
            <a:endParaRPr lang="en-US" dirty="0"/>
          </a:p>
          <a:p>
            <a:pPr marL="0" indent="0">
              <a:buNone/>
            </a:pPr>
            <a:r>
              <a:rPr lang="en-US" dirty="0"/>
              <a:t>		&lt;/article&gt;</a:t>
            </a:r>
          </a:p>
          <a:p>
            <a:pPr marL="0" indent="0">
              <a:buNone/>
            </a:pPr>
            <a:r>
              <a:rPr lang="en-US" dirty="0"/>
              <a:t>		&lt;article class="art" id="k2a3"&gt;</a:t>
            </a:r>
          </a:p>
          <a:p>
            <a:pPr marL="0" indent="0">
              <a:buNone/>
            </a:pPr>
            <a:r>
              <a:rPr lang="en-US" dirty="0"/>
              <a:t>		A</a:t>
            </a:r>
            <a:r>
              <a:rPr lang="pl-PL" dirty="0"/>
              <a:t>3</a:t>
            </a:r>
            <a:r>
              <a:rPr lang="en-US" dirty="0"/>
              <a:t> w K</a:t>
            </a:r>
            <a:r>
              <a:rPr lang="pl-PL" dirty="0"/>
              <a:t>2</a:t>
            </a:r>
            <a:endParaRPr lang="en-US" dirty="0"/>
          </a:p>
          <a:p>
            <a:pPr marL="0" indent="0">
              <a:buNone/>
            </a:pPr>
            <a:r>
              <a:rPr lang="en-US" dirty="0"/>
              <a:t>		&lt;/article&gt;</a:t>
            </a:r>
          </a:p>
          <a:p>
            <a:pPr marL="0" indent="0">
              <a:buNone/>
            </a:pPr>
            <a:r>
              <a:rPr lang="en-US" dirty="0"/>
              <a:t>	&lt;/section&gt;</a:t>
            </a:r>
            <a:endParaRPr lang="pl-PL" dirty="0"/>
          </a:p>
        </p:txBody>
      </p:sp>
    </p:spTree>
    <p:extLst>
      <p:ext uri="{BB962C8B-B14F-4D97-AF65-F5344CB8AC3E}">
        <p14:creationId xmlns:p14="http://schemas.microsoft.com/office/powerpoint/2010/main" val="316043920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fontScale="77500" lnSpcReduction="20000"/>
          </a:bodyPr>
          <a:lstStyle/>
          <a:p>
            <a:pPr marL="0" indent="0">
              <a:buNone/>
            </a:pPr>
            <a:r>
              <a:rPr lang="en-US" dirty="0"/>
              <a:t>	&lt;section class="</a:t>
            </a:r>
            <a:r>
              <a:rPr lang="en-US" dirty="0" err="1"/>
              <a:t>kolumny</a:t>
            </a:r>
            <a:r>
              <a:rPr lang="en-US" dirty="0"/>
              <a:t>" id="kol3"&gt;	</a:t>
            </a:r>
          </a:p>
          <a:p>
            <a:pPr marL="0" indent="0">
              <a:buNone/>
            </a:pPr>
            <a:r>
              <a:rPr lang="en-US" dirty="0"/>
              <a:t>		&lt;article class="art" id="k3a1"&gt;</a:t>
            </a:r>
          </a:p>
          <a:p>
            <a:pPr marL="0" indent="0">
              <a:buNone/>
            </a:pPr>
            <a:r>
              <a:rPr lang="en-US" dirty="0"/>
              <a:t>		A1 w K</a:t>
            </a:r>
            <a:r>
              <a:rPr lang="pl-PL" dirty="0"/>
              <a:t>3</a:t>
            </a:r>
            <a:endParaRPr lang="en-US" dirty="0"/>
          </a:p>
          <a:p>
            <a:pPr marL="0" indent="0">
              <a:buNone/>
            </a:pPr>
            <a:r>
              <a:rPr lang="en-US" dirty="0"/>
              <a:t>		&lt;/article&gt;</a:t>
            </a:r>
          </a:p>
          <a:p>
            <a:pPr marL="0" indent="0">
              <a:buNone/>
            </a:pPr>
            <a:r>
              <a:rPr lang="en-US" dirty="0"/>
              <a:t>		&lt;article class="art" id="k3a2"&gt;</a:t>
            </a:r>
          </a:p>
          <a:p>
            <a:pPr marL="0" indent="0">
              <a:buNone/>
            </a:pPr>
            <a:r>
              <a:rPr lang="en-US" dirty="0"/>
              <a:t>		A</a:t>
            </a:r>
            <a:r>
              <a:rPr lang="pl-PL" dirty="0"/>
              <a:t>2</a:t>
            </a:r>
            <a:r>
              <a:rPr lang="en-US" dirty="0"/>
              <a:t> w K</a:t>
            </a:r>
            <a:r>
              <a:rPr lang="pl-PL" dirty="0"/>
              <a:t>3</a:t>
            </a:r>
            <a:endParaRPr lang="en-US" dirty="0"/>
          </a:p>
          <a:p>
            <a:pPr marL="0" indent="0">
              <a:buNone/>
            </a:pPr>
            <a:r>
              <a:rPr lang="en-US" dirty="0"/>
              <a:t>		&lt;/article&gt;</a:t>
            </a:r>
          </a:p>
          <a:p>
            <a:pPr marL="0" indent="0">
              <a:buNone/>
            </a:pPr>
            <a:r>
              <a:rPr lang="en-US" dirty="0"/>
              <a:t>		&lt;article class="art" id="k3a3"&gt;</a:t>
            </a:r>
          </a:p>
          <a:p>
            <a:pPr marL="0" indent="0">
              <a:buNone/>
            </a:pPr>
            <a:r>
              <a:rPr lang="en-US" dirty="0"/>
              <a:t>		A</a:t>
            </a:r>
            <a:r>
              <a:rPr lang="pl-PL" dirty="0"/>
              <a:t>3</a:t>
            </a:r>
            <a:r>
              <a:rPr lang="en-US" dirty="0"/>
              <a:t> w K</a:t>
            </a:r>
            <a:r>
              <a:rPr lang="pl-PL" dirty="0"/>
              <a:t>3</a:t>
            </a:r>
            <a:endParaRPr lang="en-US" dirty="0"/>
          </a:p>
          <a:p>
            <a:pPr marL="0" indent="0">
              <a:buNone/>
            </a:pPr>
            <a:r>
              <a:rPr lang="en-US" dirty="0"/>
              <a:t>		&lt;/article&gt;</a:t>
            </a:r>
          </a:p>
          <a:p>
            <a:pPr marL="0" indent="0">
              <a:buNone/>
            </a:pPr>
            <a:r>
              <a:rPr lang="en-US" dirty="0"/>
              <a:t>	&lt;/section&gt;</a:t>
            </a:r>
            <a:endParaRPr lang="pl-PL" dirty="0"/>
          </a:p>
        </p:txBody>
      </p:sp>
    </p:spTree>
    <p:extLst>
      <p:ext uri="{BB962C8B-B14F-4D97-AF65-F5344CB8AC3E}">
        <p14:creationId xmlns:p14="http://schemas.microsoft.com/office/powerpoint/2010/main" val="189634235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a:bodyPr>
          <a:lstStyle/>
          <a:p>
            <a:pPr marL="0" indent="0">
              <a:buNone/>
            </a:pPr>
            <a:r>
              <a:rPr lang="en-US" dirty="0"/>
              <a:t>	</a:t>
            </a:r>
            <a:endParaRPr lang="pl-PL" dirty="0"/>
          </a:p>
        </p:txBody>
      </p:sp>
      <p:sp>
        <p:nvSpPr>
          <p:cNvPr id="4" name="Prostokąt 3">
            <a:extLst>
              <a:ext uri="{FF2B5EF4-FFF2-40B4-BE49-F238E27FC236}">
                <a16:creationId xmlns:a16="http://schemas.microsoft.com/office/drawing/2014/main" id="{C7C0F158-B910-43AC-B23A-16D82836104C}"/>
              </a:ext>
            </a:extLst>
          </p:cNvPr>
          <p:cNvSpPr/>
          <p:nvPr/>
        </p:nvSpPr>
        <p:spPr>
          <a:xfrm>
            <a:off x="2286000" y="2274838"/>
            <a:ext cx="4572000" cy="2308324"/>
          </a:xfrm>
          <a:prstGeom prst="rect">
            <a:avLst/>
          </a:prstGeom>
        </p:spPr>
        <p:txBody>
          <a:bodyPr>
            <a:spAutoFit/>
          </a:bodyPr>
          <a:lstStyle/>
          <a:p>
            <a:r>
              <a:rPr lang="pl-PL" dirty="0"/>
              <a:t>&lt;</a:t>
            </a:r>
            <a:r>
              <a:rPr lang="pl-PL" dirty="0" err="1"/>
              <a:t>footer</a:t>
            </a:r>
            <a:r>
              <a:rPr lang="pl-PL" dirty="0"/>
              <a:t> id="stopka"&gt; TO JEST STOPKA &lt;/</a:t>
            </a:r>
            <a:r>
              <a:rPr lang="pl-PL" dirty="0" err="1"/>
              <a:t>footer</a:t>
            </a:r>
            <a:r>
              <a:rPr lang="pl-PL" dirty="0"/>
              <a:t>&gt;</a:t>
            </a:r>
          </a:p>
          <a:p>
            <a:endParaRPr lang="pl-PL" dirty="0"/>
          </a:p>
          <a:p>
            <a:r>
              <a:rPr lang="pl-PL" dirty="0"/>
              <a:t>&lt;/div&gt;</a:t>
            </a:r>
          </a:p>
          <a:p>
            <a:endParaRPr lang="pl-PL" dirty="0"/>
          </a:p>
          <a:p>
            <a:endParaRPr lang="pl-PL" dirty="0"/>
          </a:p>
          <a:p>
            <a:r>
              <a:rPr lang="pl-PL" dirty="0"/>
              <a:t>&lt;/body&gt;</a:t>
            </a:r>
          </a:p>
          <a:p>
            <a:r>
              <a:rPr lang="pl-PL" dirty="0"/>
              <a:t>&lt;/</a:t>
            </a:r>
            <a:r>
              <a:rPr lang="pl-PL" dirty="0" err="1"/>
              <a:t>html</a:t>
            </a:r>
            <a:r>
              <a:rPr lang="pl-PL" dirty="0"/>
              <a:t>&gt;</a:t>
            </a:r>
          </a:p>
        </p:txBody>
      </p:sp>
    </p:spTree>
    <p:extLst>
      <p:ext uri="{BB962C8B-B14F-4D97-AF65-F5344CB8AC3E}">
        <p14:creationId xmlns:p14="http://schemas.microsoft.com/office/powerpoint/2010/main" val="122185074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normAutofit fontScale="90000"/>
          </a:bodyPr>
          <a:lstStyle/>
          <a:p>
            <a:r>
              <a:rPr lang="pl-PL" dirty="0"/>
              <a:t>Szablon strony – efekt działania – bez CSS</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a:bodyPr>
          <a:lstStyle/>
          <a:p>
            <a:pPr marL="0" indent="0">
              <a:buNone/>
            </a:pPr>
            <a:r>
              <a:rPr lang="en-US" dirty="0"/>
              <a:t>	</a:t>
            </a:r>
            <a:endParaRPr lang="pl-PL" dirty="0"/>
          </a:p>
        </p:txBody>
      </p:sp>
      <p:pic>
        <p:nvPicPr>
          <p:cNvPr id="4" name="Obraz 3">
            <a:extLst>
              <a:ext uri="{FF2B5EF4-FFF2-40B4-BE49-F238E27FC236}">
                <a16:creationId xmlns:a16="http://schemas.microsoft.com/office/drawing/2014/main" id="{ED41FD80-A2FF-4D34-8D14-BB37428DA19B}"/>
              </a:ext>
            </a:extLst>
          </p:cNvPr>
          <p:cNvPicPr>
            <a:picLocks noChangeAspect="1"/>
          </p:cNvPicPr>
          <p:nvPr/>
        </p:nvPicPr>
        <p:blipFill>
          <a:blip r:embed="rId2"/>
          <a:stretch>
            <a:fillRect/>
          </a:stretch>
        </p:blipFill>
        <p:spPr>
          <a:xfrm>
            <a:off x="1835696" y="1862931"/>
            <a:ext cx="3962400" cy="4000500"/>
          </a:xfrm>
          <a:prstGeom prst="rect">
            <a:avLst/>
          </a:prstGeom>
        </p:spPr>
      </p:pic>
    </p:spTree>
    <p:extLst>
      <p:ext uri="{BB962C8B-B14F-4D97-AF65-F5344CB8AC3E}">
        <p14:creationId xmlns:p14="http://schemas.microsoft.com/office/powerpoint/2010/main" val="69116948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a:bodyPr>
          <a:lstStyle/>
          <a:p>
            <a:pPr marL="0" indent="0">
              <a:buNone/>
            </a:pPr>
            <a:r>
              <a:rPr lang="pl-PL" dirty="0"/>
              <a:t>Dołączamy nasz styl:</a:t>
            </a:r>
          </a:p>
          <a:p>
            <a:pPr marL="0" indent="0">
              <a:buNone/>
            </a:pPr>
            <a:r>
              <a:rPr lang="en-US" dirty="0"/>
              <a:t>&lt;link </a:t>
            </a:r>
            <a:r>
              <a:rPr lang="en-US" dirty="0" err="1"/>
              <a:t>rel</a:t>
            </a:r>
            <a:r>
              <a:rPr lang="en-US" dirty="0"/>
              <a:t>="stylesheet" type="text/</a:t>
            </a:r>
            <a:r>
              <a:rPr lang="en-US" dirty="0" err="1"/>
              <a:t>css</a:t>
            </a:r>
            <a:r>
              <a:rPr lang="en-US" dirty="0"/>
              <a:t>" </a:t>
            </a:r>
            <a:r>
              <a:rPr lang="en-US" dirty="0" err="1"/>
              <a:t>href</a:t>
            </a:r>
            <a:r>
              <a:rPr lang="en-US" dirty="0"/>
              <a:t>="css25.css"&gt;</a:t>
            </a:r>
            <a:endParaRPr lang="pl-PL" dirty="0"/>
          </a:p>
        </p:txBody>
      </p:sp>
    </p:spTree>
    <p:extLst>
      <p:ext uri="{BB962C8B-B14F-4D97-AF65-F5344CB8AC3E}">
        <p14:creationId xmlns:p14="http://schemas.microsoft.com/office/powerpoint/2010/main" val="135984586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Szablon strony – plik CSS</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47500" lnSpcReduction="20000"/>
          </a:bodyPr>
          <a:lstStyle/>
          <a:p>
            <a:pPr marL="0" indent="0">
              <a:buNone/>
            </a:pPr>
            <a:r>
              <a:rPr lang="pl-PL" dirty="0"/>
              <a:t>*{</a:t>
            </a:r>
          </a:p>
          <a:p>
            <a:pPr marL="0" indent="0">
              <a:buNone/>
            </a:pPr>
            <a:r>
              <a:rPr lang="pl-PL" dirty="0"/>
              <a:t>	</a:t>
            </a:r>
            <a:r>
              <a:rPr lang="pl-PL" dirty="0" err="1"/>
              <a:t>margin</a:t>
            </a:r>
            <a:r>
              <a:rPr lang="pl-PL" dirty="0"/>
              <a:t>: 0px;</a:t>
            </a:r>
          </a:p>
          <a:p>
            <a:pPr marL="0" indent="0">
              <a:buNone/>
            </a:pPr>
            <a:r>
              <a:rPr lang="pl-PL" dirty="0"/>
              <a:t>	</a:t>
            </a:r>
            <a:r>
              <a:rPr lang="pl-PL" dirty="0" err="1"/>
              <a:t>padding</a:t>
            </a:r>
            <a:r>
              <a:rPr lang="pl-PL" dirty="0"/>
              <a:t>: 0px;</a:t>
            </a:r>
          </a:p>
          <a:p>
            <a:pPr marL="0" indent="0">
              <a:buNone/>
            </a:pPr>
            <a:r>
              <a:rPr lang="pl-PL" dirty="0"/>
              <a:t>}</a:t>
            </a:r>
          </a:p>
          <a:p>
            <a:pPr marL="0" indent="0">
              <a:buNone/>
            </a:pPr>
            <a:r>
              <a:rPr lang="pl-PL" dirty="0"/>
              <a:t>#ramka {</a:t>
            </a:r>
          </a:p>
          <a:p>
            <a:pPr marL="0" indent="0">
              <a:buNone/>
            </a:pPr>
            <a:r>
              <a:rPr lang="pl-PL" dirty="0"/>
              <a:t>	</a:t>
            </a:r>
            <a:r>
              <a:rPr lang="pl-PL" dirty="0" err="1"/>
              <a:t>width</a:t>
            </a:r>
            <a:r>
              <a:rPr lang="pl-PL" dirty="0"/>
              <a:t>: 1000px;</a:t>
            </a:r>
          </a:p>
          <a:p>
            <a:pPr marL="0" indent="0">
              <a:buNone/>
            </a:pPr>
            <a:r>
              <a:rPr lang="pl-PL" dirty="0"/>
              <a:t>	</a:t>
            </a:r>
            <a:r>
              <a:rPr lang="pl-PL" dirty="0" err="1"/>
              <a:t>margin-right</a:t>
            </a:r>
            <a:r>
              <a:rPr lang="pl-PL" dirty="0"/>
              <a:t>: auto;</a:t>
            </a:r>
          </a:p>
          <a:p>
            <a:pPr marL="0" indent="0">
              <a:buNone/>
            </a:pPr>
            <a:r>
              <a:rPr lang="pl-PL" dirty="0"/>
              <a:t>	</a:t>
            </a:r>
            <a:r>
              <a:rPr lang="pl-PL" dirty="0" err="1"/>
              <a:t>margin-left</a:t>
            </a:r>
            <a:r>
              <a:rPr lang="pl-PL" dirty="0"/>
              <a:t>: auto;</a:t>
            </a:r>
          </a:p>
          <a:p>
            <a:pPr marL="0" indent="0">
              <a:buNone/>
            </a:pPr>
            <a:r>
              <a:rPr lang="pl-PL" dirty="0"/>
              <a:t>}</a:t>
            </a:r>
          </a:p>
          <a:p>
            <a:pPr marL="0" indent="0">
              <a:buNone/>
            </a:pPr>
            <a:endParaRPr lang="pl-PL" dirty="0"/>
          </a:p>
          <a:p>
            <a:pPr marL="0" indent="0">
              <a:buNone/>
            </a:pPr>
            <a:r>
              <a:rPr lang="pl-PL" dirty="0"/>
              <a:t>.kolumny {</a:t>
            </a:r>
          </a:p>
          <a:p>
            <a:pPr marL="0" indent="0">
              <a:buNone/>
            </a:pPr>
            <a:r>
              <a:rPr lang="pl-PL" dirty="0"/>
              <a:t>	</a:t>
            </a:r>
            <a:r>
              <a:rPr lang="pl-PL" dirty="0" err="1"/>
              <a:t>float</a:t>
            </a:r>
            <a:r>
              <a:rPr lang="pl-PL" dirty="0"/>
              <a:t>: </a:t>
            </a:r>
            <a:r>
              <a:rPr lang="pl-PL" dirty="0" err="1"/>
              <a:t>left</a:t>
            </a:r>
            <a:r>
              <a:rPr lang="pl-PL" dirty="0"/>
              <a:t>; 	/*Każda z kolumn będzie dołączana</a:t>
            </a:r>
          </a:p>
          <a:p>
            <a:pPr marL="0" indent="0">
              <a:buNone/>
            </a:pPr>
            <a:r>
              <a:rPr lang="pl-PL" dirty="0"/>
              <a:t>					z lewej strony*/</a:t>
            </a:r>
          </a:p>
          <a:p>
            <a:pPr marL="0" indent="0">
              <a:buNone/>
            </a:pPr>
            <a:r>
              <a:rPr lang="pl-PL" dirty="0"/>
              <a:t>	</a:t>
            </a:r>
            <a:r>
              <a:rPr lang="pl-PL" dirty="0" err="1"/>
              <a:t>width</a:t>
            </a:r>
            <a:r>
              <a:rPr lang="pl-PL" dirty="0"/>
              <a:t>: 30%;</a:t>
            </a:r>
          </a:p>
          <a:p>
            <a:pPr marL="0" indent="0">
              <a:buNone/>
            </a:pPr>
            <a:r>
              <a:rPr lang="pl-PL" dirty="0"/>
              <a:t>	</a:t>
            </a:r>
            <a:r>
              <a:rPr lang="pl-PL" dirty="0" err="1"/>
              <a:t>margin</a:t>
            </a:r>
            <a:r>
              <a:rPr lang="pl-PL" dirty="0"/>
              <a:t>-top: 10px;</a:t>
            </a:r>
          </a:p>
          <a:p>
            <a:pPr marL="0" indent="0">
              <a:buNone/>
            </a:pPr>
            <a:r>
              <a:rPr lang="pl-PL" dirty="0"/>
              <a:t>	</a:t>
            </a:r>
            <a:r>
              <a:rPr lang="pl-PL" dirty="0" err="1"/>
              <a:t>margin-left</a:t>
            </a:r>
            <a:r>
              <a:rPr lang="pl-PL" dirty="0"/>
              <a:t>: 10px;</a:t>
            </a:r>
          </a:p>
          <a:p>
            <a:pPr marL="0" indent="0">
              <a:buNone/>
            </a:pPr>
            <a:r>
              <a:rPr lang="pl-PL" dirty="0"/>
              <a:t>	</a:t>
            </a:r>
            <a:r>
              <a:rPr lang="pl-PL" dirty="0" err="1"/>
              <a:t>margin-right</a:t>
            </a:r>
            <a:r>
              <a:rPr lang="pl-PL" dirty="0"/>
              <a:t>: 2%;</a:t>
            </a:r>
          </a:p>
          <a:p>
            <a:pPr marL="0" indent="0">
              <a:buNone/>
            </a:pPr>
            <a:r>
              <a:rPr lang="pl-PL" dirty="0"/>
              <a:t>	</a:t>
            </a:r>
            <a:r>
              <a:rPr lang="pl-PL" dirty="0" err="1"/>
              <a:t>margin-bottom</a:t>
            </a:r>
            <a:r>
              <a:rPr lang="pl-PL" dirty="0"/>
              <a:t>: 2%;</a:t>
            </a:r>
          </a:p>
          <a:p>
            <a:pPr marL="0" indent="0">
              <a:buNone/>
            </a:pPr>
            <a:r>
              <a:rPr lang="pl-PL" dirty="0"/>
              <a:t>}</a:t>
            </a:r>
          </a:p>
        </p:txBody>
      </p:sp>
    </p:spTree>
    <p:extLst>
      <p:ext uri="{BB962C8B-B14F-4D97-AF65-F5344CB8AC3E}">
        <p14:creationId xmlns:p14="http://schemas.microsoft.com/office/powerpoint/2010/main" val="4293673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Szablon strony – plik CSS</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62500" lnSpcReduction="20000"/>
          </a:bodyPr>
          <a:lstStyle/>
          <a:p>
            <a:pPr marL="0" indent="0">
              <a:buNone/>
            </a:pPr>
            <a:r>
              <a:rPr lang="pl-PL" dirty="0"/>
              <a:t>#stopka{</a:t>
            </a:r>
          </a:p>
          <a:p>
            <a:pPr marL="0" indent="0">
              <a:buNone/>
            </a:pPr>
            <a:r>
              <a:rPr lang="pl-PL" dirty="0"/>
              <a:t>	</a:t>
            </a:r>
            <a:r>
              <a:rPr lang="pl-PL" dirty="0" err="1"/>
              <a:t>clear</a:t>
            </a:r>
            <a:r>
              <a:rPr lang="pl-PL" dirty="0"/>
              <a:t>: </a:t>
            </a:r>
            <a:r>
              <a:rPr lang="pl-PL" dirty="0" err="1"/>
              <a:t>both</a:t>
            </a:r>
            <a:r>
              <a:rPr lang="pl-PL" dirty="0"/>
              <a:t>; 	/*</a:t>
            </a:r>
            <a:r>
              <a:rPr lang="pl-PL" dirty="0" err="1"/>
              <a:t>Podowduje</a:t>
            </a:r>
            <a:r>
              <a:rPr lang="pl-PL" dirty="0"/>
              <a:t> że stopka wyświetli </a:t>
            </a:r>
          </a:p>
          <a:p>
            <a:pPr marL="0" indent="0">
              <a:buNone/>
            </a:pPr>
            <a:r>
              <a:rPr lang="pl-PL" dirty="0"/>
              <a:t>					się od lewej krawędzi strony</a:t>
            </a:r>
          </a:p>
          <a:p>
            <a:pPr marL="0" indent="0">
              <a:buNone/>
            </a:pPr>
            <a:r>
              <a:rPr lang="pl-PL" dirty="0"/>
              <a:t>					a nie następna z lewej po </a:t>
            </a:r>
          </a:p>
          <a:p>
            <a:pPr marL="0" indent="0">
              <a:buNone/>
            </a:pPr>
            <a:r>
              <a:rPr lang="pl-PL" dirty="0"/>
              <a:t>					kolumnach*/</a:t>
            </a:r>
          </a:p>
          <a:p>
            <a:pPr marL="0" indent="0">
              <a:buNone/>
            </a:pPr>
            <a:r>
              <a:rPr lang="pl-PL" dirty="0"/>
              <a:t>	</a:t>
            </a:r>
            <a:r>
              <a:rPr lang="pl-PL" dirty="0" err="1"/>
              <a:t>width</a:t>
            </a:r>
            <a:r>
              <a:rPr lang="pl-PL" dirty="0"/>
              <a:t>: 100%;</a:t>
            </a:r>
          </a:p>
          <a:p>
            <a:pPr marL="0" indent="0">
              <a:buNone/>
            </a:pPr>
            <a:r>
              <a:rPr lang="pl-PL" dirty="0"/>
              <a:t>	</a:t>
            </a:r>
            <a:r>
              <a:rPr lang="pl-PL" dirty="0" err="1"/>
              <a:t>background-color</a:t>
            </a:r>
            <a:r>
              <a:rPr lang="pl-PL" dirty="0"/>
              <a:t>: #FCF;</a:t>
            </a:r>
          </a:p>
          <a:p>
            <a:pPr marL="0" indent="0">
              <a:buNone/>
            </a:pPr>
            <a:r>
              <a:rPr lang="pl-PL" dirty="0"/>
              <a:t>}</a:t>
            </a:r>
          </a:p>
          <a:p>
            <a:pPr marL="0" indent="0">
              <a:buNone/>
            </a:pPr>
            <a:r>
              <a:rPr lang="pl-PL" dirty="0" err="1"/>
              <a:t>section</a:t>
            </a:r>
            <a:r>
              <a:rPr lang="pl-PL" dirty="0"/>
              <a:t> {</a:t>
            </a:r>
          </a:p>
          <a:p>
            <a:pPr marL="0" indent="0">
              <a:buNone/>
            </a:pPr>
            <a:r>
              <a:rPr lang="pl-PL" dirty="0"/>
              <a:t>	</a:t>
            </a:r>
            <a:r>
              <a:rPr lang="pl-PL" dirty="0" err="1"/>
              <a:t>overflow</a:t>
            </a:r>
            <a:r>
              <a:rPr lang="pl-PL" dirty="0"/>
              <a:t>: </a:t>
            </a:r>
            <a:r>
              <a:rPr lang="pl-PL" dirty="0" err="1"/>
              <a:t>hidden</a:t>
            </a:r>
            <a:r>
              <a:rPr lang="pl-PL" dirty="0"/>
              <a:t>; /*ukrywa to co nie mieści się w kolumnie</a:t>
            </a:r>
          </a:p>
          <a:p>
            <a:pPr marL="0" indent="0">
              <a:buNone/>
            </a:pPr>
            <a:r>
              <a:rPr lang="pl-PL" dirty="0"/>
              <a:t>						zapobiegając zachodzeniu jednej kolumny</a:t>
            </a:r>
          </a:p>
          <a:p>
            <a:pPr marL="0" indent="0">
              <a:buNone/>
            </a:pPr>
            <a:r>
              <a:rPr lang="pl-PL" dirty="0"/>
              <a:t>						na drugą*/</a:t>
            </a:r>
          </a:p>
          <a:p>
            <a:pPr marL="0" indent="0">
              <a:buNone/>
            </a:pPr>
            <a:r>
              <a:rPr lang="pl-PL" dirty="0"/>
              <a:t>}</a:t>
            </a:r>
          </a:p>
        </p:txBody>
      </p:sp>
    </p:spTree>
    <p:extLst>
      <p:ext uri="{BB962C8B-B14F-4D97-AF65-F5344CB8AC3E}">
        <p14:creationId xmlns:p14="http://schemas.microsoft.com/office/powerpoint/2010/main" val="380861676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Szablon strony – plik CSS</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47500" lnSpcReduction="20000"/>
          </a:bodyPr>
          <a:lstStyle/>
          <a:p>
            <a:pPr marL="0" indent="0">
              <a:buNone/>
            </a:pPr>
            <a:r>
              <a:rPr lang="pl-PL" dirty="0"/>
              <a:t>#</a:t>
            </a:r>
            <a:r>
              <a:rPr lang="pl-PL" dirty="0" err="1"/>
              <a:t>naglowek</a:t>
            </a:r>
            <a:r>
              <a:rPr lang="pl-PL" dirty="0"/>
              <a:t> {</a:t>
            </a:r>
          </a:p>
          <a:p>
            <a:pPr marL="0" indent="0">
              <a:buNone/>
            </a:pPr>
            <a:r>
              <a:rPr lang="pl-PL" dirty="0"/>
              <a:t>	</a:t>
            </a:r>
            <a:r>
              <a:rPr lang="pl-PL" dirty="0" err="1"/>
              <a:t>width</a:t>
            </a:r>
            <a:r>
              <a:rPr lang="pl-PL" dirty="0"/>
              <a:t>: 100%;</a:t>
            </a:r>
          </a:p>
          <a:p>
            <a:pPr marL="0" indent="0">
              <a:buNone/>
            </a:pPr>
            <a:r>
              <a:rPr lang="pl-PL" dirty="0"/>
              <a:t>	</a:t>
            </a:r>
            <a:r>
              <a:rPr lang="pl-PL" dirty="0" err="1"/>
              <a:t>background-color</a:t>
            </a:r>
            <a:r>
              <a:rPr lang="pl-PL" dirty="0"/>
              <a:t>: #FCF;</a:t>
            </a:r>
          </a:p>
          <a:p>
            <a:pPr marL="0" indent="0">
              <a:buNone/>
            </a:pPr>
            <a:r>
              <a:rPr lang="pl-PL" dirty="0"/>
              <a:t>}</a:t>
            </a:r>
          </a:p>
          <a:p>
            <a:pPr marL="0" indent="0">
              <a:buNone/>
            </a:pPr>
            <a:endParaRPr lang="pl-PL" dirty="0"/>
          </a:p>
          <a:p>
            <a:pPr marL="0" indent="0">
              <a:buNone/>
            </a:pPr>
            <a:r>
              <a:rPr lang="pl-PL" dirty="0"/>
              <a:t>#kol1{</a:t>
            </a:r>
          </a:p>
          <a:p>
            <a:pPr marL="0" indent="0">
              <a:buNone/>
            </a:pPr>
            <a:r>
              <a:rPr lang="pl-PL" dirty="0"/>
              <a:t>	</a:t>
            </a:r>
            <a:r>
              <a:rPr lang="pl-PL" dirty="0" err="1"/>
              <a:t>float</a:t>
            </a:r>
            <a:r>
              <a:rPr lang="pl-PL" dirty="0"/>
              <a:t>: </a:t>
            </a:r>
            <a:r>
              <a:rPr lang="pl-PL" dirty="0" err="1"/>
              <a:t>left</a:t>
            </a:r>
            <a:r>
              <a:rPr lang="pl-PL" dirty="0"/>
              <a:t>;</a:t>
            </a:r>
          </a:p>
          <a:p>
            <a:pPr marL="0" indent="0">
              <a:buNone/>
            </a:pPr>
            <a:r>
              <a:rPr lang="pl-PL" dirty="0"/>
              <a:t>	</a:t>
            </a:r>
            <a:r>
              <a:rPr lang="pl-PL" dirty="0" err="1"/>
              <a:t>background-color</a:t>
            </a:r>
            <a:r>
              <a:rPr lang="pl-PL" dirty="0"/>
              <a:t>: #FCF;</a:t>
            </a:r>
          </a:p>
          <a:p>
            <a:pPr marL="0" indent="0">
              <a:buNone/>
            </a:pPr>
            <a:r>
              <a:rPr lang="pl-PL" dirty="0"/>
              <a:t>}</a:t>
            </a:r>
          </a:p>
          <a:p>
            <a:pPr marL="0" indent="0">
              <a:buNone/>
            </a:pPr>
            <a:endParaRPr lang="pl-PL" dirty="0"/>
          </a:p>
          <a:p>
            <a:pPr marL="0" indent="0">
              <a:buNone/>
            </a:pPr>
            <a:r>
              <a:rPr lang="pl-PL" dirty="0"/>
              <a:t>#kol2{</a:t>
            </a:r>
          </a:p>
          <a:p>
            <a:pPr marL="0" indent="0">
              <a:buNone/>
            </a:pPr>
            <a:r>
              <a:rPr lang="pl-PL" dirty="0"/>
              <a:t>	</a:t>
            </a:r>
            <a:r>
              <a:rPr lang="pl-PL" dirty="0" err="1"/>
              <a:t>float</a:t>
            </a:r>
            <a:r>
              <a:rPr lang="pl-PL" dirty="0"/>
              <a:t>: </a:t>
            </a:r>
            <a:r>
              <a:rPr lang="pl-PL" dirty="0" err="1"/>
              <a:t>left</a:t>
            </a:r>
            <a:r>
              <a:rPr lang="pl-PL" dirty="0"/>
              <a:t>;</a:t>
            </a:r>
          </a:p>
          <a:p>
            <a:pPr marL="0" indent="0">
              <a:buNone/>
            </a:pPr>
            <a:r>
              <a:rPr lang="pl-PL" dirty="0"/>
              <a:t>	</a:t>
            </a:r>
            <a:r>
              <a:rPr lang="pl-PL" dirty="0" err="1"/>
              <a:t>background-color</a:t>
            </a:r>
            <a:r>
              <a:rPr lang="pl-PL" dirty="0"/>
              <a:t>: #FCF;</a:t>
            </a:r>
          </a:p>
          <a:p>
            <a:pPr marL="0" indent="0">
              <a:buNone/>
            </a:pPr>
            <a:r>
              <a:rPr lang="pl-PL" dirty="0"/>
              <a:t>}</a:t>
            </a:r>
          </a:p>
          <a:p>
            <a:pPr marL="0" indent="0">
              <a:buNone/>
            </a:pPr>
            <a:endParaRPr lang="pl-PL" dirty="0"/>
          </a:p>
          <a:p>
            <a:pPr marL="0" indent="0">
              <a:buNone/>
            </a:pPr>
            <a:r>
              <a:rPr lang="pl-PL" dirty="0"/>
              <a:t>#kol3{</a:t>
            </a:r>
          </a:p>
          <a:p>
            <a:pPr marL="0" indent="0">
              <a:buNone/>
            </a:pPr>
            <a:r>
              <a:rPr lang="pl-PL" dirty="0"/>
              <a:t>	</a:t>
            </a:r>
            <a:r>
              <a:rPr lang="pl-PL" dirty="0" err="1"/>
              <a:t>float</a:t>
            </a:r>
            <a:r>
              <a:rPr lang="pl-PL" dirty="0"/>
              <a:t>: </a:t>
            </a:r>
            <a:r>
              <a:rPr lang="pl-PL" dirty="0" err="1"/>
              <a:t>left</a:t>
            </a:r>
            <a:r>
              <a:rPr lang="pl-PL" dirty="0"/>
              <a:t>;</a:t>
            </a:r>
          </a:p>
          <a:p>
            <a:pPr marL="0" indent="0">
              <a:buNone/>
            </a:pPr>
            <a:r>
              <a:rPr lang="pl-PL" dirty="0"/>
              <a:t>	</a:t>
            </a:r>
            <a:r>
              <a:rPr lang="pl-PL" dirty="0" err="1"/>
              <a:t>background-color</a:t>
            </a:r>
            <a:r>
              <a:rPr lang="pl-PL" dirty="0"/>
              <a:t>: #FCF;</a:t>
            </a:r>
          </a:p>
          <a:p>
            <a:pPr marL="0" indent="0">
              <a:buNone/>
            </a:pPr>
            <a:r>
              <a:rPr lang="pl-PL" dirty="0"/>
              <a:t>}</a:t>
            </a:r>
          </a:p>
          <a:p>
            <a:pPr marL="0" indent="0">
              <a:buNone/>
            </a:pPr>
            <a:endParaRPr lang="pl-PL" dirty="0"/>
          </a:p>
        </p:txBody>
      </p:sp>
    </p:spTree>
    <p:extLst>
      <p:ext uri="{BB962C8B-B14F-4D97-AF65-F5344CB8AC3E}">
        <p14:creationId xmlns:p14="http://schemas.microsoft.com/office/powerpoint/2010/main" val="11094169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BCD957F-9C38-4225-A839-F4C162076353}"/>
              </a:ext>
            </a:extLst>
          </p:cNvPr>
          <p:cNvSpPr>
            <a:spLocks noGrp="1"/>
          </p:cNvSpPr>
          <p:nvPr>
            <p:ph type="title"/>
          </p:nvPr>
        </p:nvSpPr>
        <p:spPr/>
        <p:txBody>
          <a:bodyPr/>
          <a:lstStyle/>
          <a:p>
            <a:r>
              <a:rPr lang="pl-PL" dirty="0"/>
              <a:t>Szablon strony</a:t>
            </a:r>
          </a:p>
        </p:txBody>
      </p:sp>
      <p:sp>
        <p:nvSpPr>
          <p:cNvPr id="3" name="Symbol zastępczy zawartości 2">
            <a:extLst>
              <a:ext uri="{FF2B5EF4-FFF2-40B4-BE49-F238E27FC236}">
                <a16:creationId xmlns:a16="http://schemas.microsoft.com/office/drawing/2014/main" id="{B3C8A54F-B851-40EF-AD58-268CACDADE01}"/>
              </a:ext>
            </a:extLst>
          </p:cNvPr>
          <p:cNvSpPr>
            <a:spLocks noGrp="1"/>
          </p:cNvSpPr>
          <p:nvPr>
            <p:ph idx="1"/>
          </p:nvPr>
        </p:nvSpPr>
        <p:spPr/>
        <p:txBody>
          <a:bodyPr>
            <a:normAutofit/>
          </a:bodyPr>
          <a:lstStyle/>
          <a:p>
            <a:pPr marL="0" indent="0">
              <a:buNone/>
            </a:pPr>
            <a:r>
              <a:rPr lang="en-US" dirty="0"/>
              <a:t>	</a:t>
            </a:r>
            <a:endParaRPr lang="pl-PL" dirty="0"/>
          </a:p>
        </p:txBody>
      </p:sp>
      <p:pic>
        <p:nvPicPr>
          <p:cNvPr id="4" name="Obraz 3">
            <a:extLst>
              <a:ext uri="{FF2B5EF4-FFF2-40B4-BE49-F238E27FC236}">
                <a16:creationId xmlns:a16="http://schemas.microsoft.com/office/drawing/2014/main" id="{C7202D3B-E9A3-4C0B-8AD7-9B9DD816689F}"/>
              </a:ext>
            </a:extLst>
          </p:cNvPr>
          <p:cNvPicPr>
            <a:picLocks noChangeAspect="1"/>
          </p:cNvPicPr>
          <p:nvPr/>
        </p:nvPicPr>
        <p:blipFill>
          <a:blip r:embed="rId2"/>
          <a:stretch>
            <a:fillRect/>
          </a:stretch>
        </p:blipFill>
        <p:spPr>
          <a:xfrm>
            <a:off x="457200" y="1617224"/>
            <a:ext cx="8428383" cy="4722535"/>
          </a:xfrm>
          <a:prstGeom prst="rect">
            <a:avLst/>
          </a:prstGeom>
        </p:spPr>
      </p:pic>
    </p:spTree>
    <p:extLst>
      <p:ext uri="{BB962C8B-B14F-4D97-AF65-F5344CB8AC3E}">
        <p14:creationId xmlns:p14="http://schemas.microsoft.com/office/powerpoint/2010/main" val="367027944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92500" lnSpcReduction="20000"/>
          </a:bodyPr>
          <a:lstStyle/>
          <a:p>
            <a:pPr marL="0" indent="0">
              <a:buNone/>
            </a:pPr>
            <a:r>
              <a:rPr lang="pl-PL" dirty="0"/>
              <a:t>Responsywny układ strony to taki który zmienia swoje atrybuty za pomocą stylów CSS w zależności od różnych zewnętrznych czynników. Najczęstszym czynnikiem wpływającym na wygląd strony jest szerokość okna przeglądarki. Dzięki zdefiniowaniu osobnych reguł dla różnych wielkości  okna przeglądarki.</a:t>
            </a:r>
          </a:p>
          <a:p>
            <a:pPr marL="0" indent="0">
              <a:buNone/>
            </a:pPr>
            <a:r>
              <a:rPr lang="pl-PL" dirty="0"/>
              <a:t>Responsywny układ strony pozwala za pomocą kodu HTML i CSS zmienić rozmiar zawartości strony, przesunąć określoną zawartość lub ją ukryć, tak aby strona wyglądała dobrze na dowolnym urządzeniu.</a:t>
            </a:r>
          </a:p>
        </p:txBody>
      </p:sp>
    </p:spTree>
    <p:extLst>
      <p:ext uri="{BB962C8B-B14F-4D97-AF65-F5344CB8AC3E}">
        <p14:creationId xmlns:p14="http://schemas.microsoft.com/office/powerpoint/2010/main" val="367152758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92500" lnSpcReduction="20000"/>
          </a:bodyPr>
          <a:lstStyle/>
          <a:p>
            <a:pPr marL="0" indent="0">
              <a:buNone/>
            </a:pPr>
            <a:r>
              <a:rPr lang="pl-PL" dirty="0"/>
              <a:t>W HTML za pomocą znacznika &lt;meta&gt; możliwe jest dołączenie </a:t>
            </a:r>
            <a:r>
              <a:rPr lang="pl-PL" dirty="0" err="1"/>
              <a:t>metatagu</a:t>
            </a:r>
            <a:r>
              <a:rPr lang="pl-PL" dirty="0"/>
              <a:t> </a:t>
            </a:r>
            <a:r>
              <a:rPr lang="pl-PL" dirty="0" err="1"/>
              <a:t>viewport</a:t>
            </a:r>
            <a:r>
              <a:rPr lang="pl-PL" dirty="0"/>
              <a:t> i przejęcie kontroli nad widocznym dla użytkownika obszarem wyświetlania strony internetowej. </a:t>
            </a:r>
          </a:p>
          <a:p>
            <a:pPr marL="0" indent="0">
              <a:buNone/>
            </a:pPr>
            <a:endParaRPr lang="pl-PL" dirty="0"/>
          </a:p>
          <a:p>
            <a:pPr marL="0" indent="0">
              <a:buNone/>
            </a:pPr>
            <a:r>
              <a:rPr lang="pl-PL" dirty="0"/>
              <a:t>&lt;meta </a:t>
            </a:r>
            <a:r>
              <a:rPr lang="pl-PL" dirty="0" err="1"/>
              <a:t>name</a:t>
            </a:r>
            <a:r>
              <a:rPr lang="pl-PL" dirty="0"/>
              <a:t>= ”</a:t>
            </a:r>
            <a:r>
              <a:rPr lang="pl-PL" dirty="0" err="1"/>
              <a:t>viewport</a:t>
            </a:r>
            <a:r>
              <a:rPr lang="pl-PL" dirty="0"/>
              <a:t>” </a:t>
            </a:r>
            <a:r>
              <a:rPr lang="pl-PL" dirty="0" err="1"/>
              <a:t>content</a:t>
            </a:r>
            <a:r>
              <a:rPr lang="pl-PL" dirty="0"/>
              <a:t>=”</a:t>
            </a:r>
            <a:r>
              <a:rPr lang="pl-PL" dirty="0" err="1"/>
              <a:t>width</a:t>
            </a:r>
            <a:r>
              <a:rPr lang="pl-PL" dirty="0"/>
              <a:t>=</a:t>
            </a:r>
            <a:r>
              <a:rPr lang="pl-PL" dirty="0" err="1"/>
              <a:t>device-width</a:t>
            </a:r>
            <a:r>
              <a:rPr lang="pl-PL" dirty="0"/>
              <a:t>, </a:t>
            </a:r>
            <a:r>
              <a:rPr lang="pl-PL" dirty="0" err="1"/>
              <a:t>initial-scale</a:t>
            </a:r>
            <a:r>
              <a:rPr lang="pl-PL" dirty="0"/>
              <a:t>=1.0”&gt;</a:t>
            </a:r>
          </a:p>
          <a:p>
            <a:pPr marL="0" indent="0">
              <a:buNone/>
            </a:pPr>
            <a:endParaRPr lang="pl-PL" dirty="0"/>
          </a:p>
          <a:p>
            <a:pPr marL="0" indent="0">
              <a:buNone/>
            </a:pPr>
            <a:endParaRPr lang="pl-PL" dirty="0"/>
          </a:p>
          <a:p>
            <a:pPr marL="0" indent="0">
              <a:buNone/>
            </a:pPr>
            <a:r>
              <a:rPr lang="pl-PL" dirty="0"/>
              <a:t>c</a:t>
            </a:r>
          </a:p>
          <a:p>
            <a:pPr marL="0" indent="0">
              <a:buNone/>
            </a:pPr>
            <a:endParaRPr lang="pl-PL" dirty="0"/>
          </a:p>
        </p:txBody>
      </p:sp>
    </p:spTree>
    <p:extLst>
      <p:ext uri="{BB962C8B-B14F-4D97-AF65-F5344CB8AC3E}">
        <p14:creationId xmlns:p14="http://schemas.microsoft.com/office/powerpoint/2010/main" val="151644165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lstStyle/>
          <a:p>
            <a:pPr marL="0" indent="0">
              <a:buNone/>
            </a:pPr>
            <a:r>
              <a:rPr lang="pl-PL" dirty="0" err="1"/>
              <a:t>width</a:t>
            </a:r>
            <a:r>
              <a:rPr lang="pl-PL" dirty="0"/>
              <a:t>=</a:t>
            </a:r>
            <a:r>
              <a:rPr lang="pl-PL" dirty="0" err="1"/>
              <a:t>device-width</a:t>
            </a:r>
            <a:r>
              <a:rPr lang="pl-PL" dirty="0"/>
              <a:t> – określa szerokość strony która powinna odpowiadać szerokości ekranu urządzenia, gdzie będzie wyświetlana strona</a:t>
            </a:r>
          </a:p>
          <a:p>
            <a:pPr marL="0" indent="0">
              <a:buNone/>
            </a:pPr>
            <a:endParaRPr lang="pl-PL" dirty="0"/>
          </a:p>
          <a:p>
            <a:pPr marL="0" indent="0">
              <a:buNone/>
            </a:pPr>
            <a:r>
              <a:rPr lang="pl-PL" dirty="0" err="1"/>
              <a:t>initial-scale</a:t>
            </a:r>
            <a:r>
              <a:rPr lang="pl-PL" dirty="0"/>
              <a:t>=1.0 – ustawia początkowy poziom powiększenia gdy strona otwierana jest przez </a:t>
            </a:r>
            <a:r>
              <a:rPr lang="pl-PL" dirty="0" err="1"/>
              <a:t>przglądarkę</a:t>
            </a:r>
            <a:r>
              <a:rPr lang="pl-PL" dirty="0"/>
              <a:t>.</a:t>
            </a:r>
          </a:p>
        </p:txBody>
      </p:sp>
    </p:spTree>
    <p:extLst>
      <p:ext uri="{BB962C8B-B14F-4D97-AF65-F5344CB8AC3E}">
        <p14:creationId xmlns:p14="http://schemas.microsoft.com/office/powerpoint/2010/main" val="31677123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lstStyle/>
          <a:p>
            <a:pPr marL="0" indent="0">
              <a:buNone/>
            </a:pPr>
            <a:r>
              <a:rPr lang="pl-PL" dirty="0"/>
              <a:t>W specyfikacji CSS3 rozbudowane zostały </a:t>
            </a:r>
            <a:r>
              <a:rPr lang="pl-PL" dirty="0" err="1"/>
              <a:t>queries</a:t>
            </a:r>
            <a:r>
              <a:rPr lang="pl-PL" dirty="0"/>
              <a:t> media. Dodając regułę @media, spowodujemy włączenie określonych atrybutów stylów CSS tylko wtedy gdy spełnione zostaną określone warunki.</a:t>
            </a:r>
          </a:p>
          <a:p>
            <a:pPr marL="0" indent="0">
              <a:buNone/>
            </a:pPr>
            <a:endParaRPr lang="pl-PL" dirty="0"/>
          </a:p>
          <a:p>
            <a:pPr marL="0" indent="0">
              <a:buNone/>
            </a:pPr>
            <a:r>
              <a:rPr lang="pl-PL" dirty="0"/>
              <a:t>Przykład: </a:t>
            </a:r>
            <a:r>
              <a:rPr lang="pl-PL" dirty="0">
                <a:hlinkClick r:id="rId2" action="ppaction://hlinkfile"/>
              </a:rPr>
              <a:t>C:\xampp\htdocs\CSS\29.html</a:t>
            </a:r>
            <a:endParaRPr lang="pl-PL" dirty="0"/>
          </a:p>
        </p:txBody>
      </p:sp>
    </p:spTree>
    <p:extLst>
      <p:ext uri="{BB962C8B-B14F-4D97-AF65-F5344CB8AC3E}">
        <p14:creationId xmlns:p14="http://schemas.microsoft.com/office/powerpoint/2010/main" val="394752485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normAutofit fontScale="32500" lnSpcReduction="20000"/>
          </a:bodyPr>
          <a:lstStyle/>
          <a:p>
            <a:pPr marL="0" indent="0">
              <a:buNone/>
            </a:pPr>
            <a:r>
              <a:rPr lang="pl-PL" dirty="0"/>
              <a:t>&lt;!DOCTYPE </a:t>
            </a:r>
            <a:r>
              <a:rPr lang="pl-PL" dirty="0" err="1"/>
              <a:t>html</a:t>
            </a:r>
            <a:r>
              <a:rPr lang="pl-PL" dirty="0"/>
              <a:t>&gt; &lt;!--12.html--&gt;</a:t>
            </a:r>
          </a:p>
          <a:p>
            <a:pPr marL="0" indent="0">
              <a:buNone/>
            </a:pPr>
            <a:r>
              <a:rPr lang="pl-PL" dirty="0"/>
              <a:t>&lt;</a:t>
            </a:r>
            <a:r>
              <a:rPr lang="pl-PL" dirty="0" err="1"/>
              <a:t>html</a:t>
            </a:r>
            <a:r>
              <a:rPr lang="pl-PL" dirty="0"/>
              <a:t> </a:t>
            </a:r>
            <a:r>
              <a:rPr lang="pl-PL" dirty="0" err="1"/>
              <a:t>lang</a:t>
            </a:r>
            <a:r>
              <a:rPr lang="pl-PL" dirty="0"/>
              <a:t>="</a:t>
            </a:r>
            <a:r>
              <a:rPr lang="pl-PL" dirty="0" err="1"/>
              <a:t>pl</a:t>
            </a:r>
            <a:r>
              <a:rPr lang="pl-PL" dirty="0"/>
              <a:t>-PL"&gt;</a:t>
            </a:r>
          </a:p>
          <a:p>
            <a:pPr marL="0" indent="0">
              <a:buNone/>
            </a:pPr>
            <a:r>
              <a:rPr lang="pl-PL" dirty="0"/>
              <a:t>&lt;</a:t>
            </a:r>
            <a:r>
              <a:rPr lang="pl-PL" dirty="0" err="1"/>
              <a:t>head</a:t>
            </a:r>
            <a:r>
              <a:rPr lang="pl-PL" dirty="0"/>
              <a:t>&gt;</a:t>
            </a:r>
          </a:p>
          <a:p>
            <a:pPr marL="0" indent="0">
              <a:buNone/>
            </a:pPr>
            <a:r>
              <a:rPr lang="pl-PL" dirty="0"/>
              <a:t>&lt;meta </a:t>
            </a:r>
            <a:r>
              <a:rPr lang="pl-PL" dirty="0" err="1"/>
              <a:t>charset</a:t>
            </a:r>
            <a:r>
              <a:rPr lang="pl-PL" dirty="0"/>
              <a:t>="UTF-8"/&gt;</a:t>
            </a:r>
          </a:p>
          <a:p>
            <a:pPr marL="0" indent="0">
              <a:buNone/>
            </a:pPr>
            <a:r>
              <a:rPr lang="pl-PL" dirty="0"/>
              <a:t>&lt;meta </a:t>
            </a:r>
            <a:r>
              <a:rPr lang="pl-PL" dirty="0" err="1"/>
              <a:t>name</a:t>
            </a:r>
            <a:r>
              <a:rPr lang="pl-PL" dirty="0"/>
              <a:t>="</a:t>
            </a:r>
            <a:r>
              <a:rPr lang="pl-PL" dirty="0" err="1"/>
              <a:t>viewport</a:t>
            </a:r>
            <a:r>
              <a:rPr lang="pl-PL" dirty="0"/>
              <a:t>" </a:t>
            </a:r>
            <a:r>
              <a:rPr lang="pl-PL" dirty="0" err="1"/>
              <a:t>content</a:t>
            </a:r>
            <a:r>
              <a:rPr lang="pl-PL" dirty="0"/>
              <a:t>="</a:t>
            </a:r>
            <a:r>
              <a:rPr lang="pl-PL" dirty="0" err="1"/>
              <a:t>width</a:t>
            </a:r>
            <a:r>
              <a:rPr lang="pl-PL" dirty="0"/>
              <a:t>=</a:t>
            </a:r>
            <a:r>
              <a:rPr lang="pl-PL" dirty="0" err="1"/>
              <a:t>device-width</a:t>
            </a:r>
            <a:r>
              <a:rPr lang="pl-PL" dirty="0"/>
              <a:t>, </a:t>
            </a:r>
            <a:r>
              <a:rPr lang="pl-PL" dirty="0" err="1"/>
              <a:t>initial-scale</a:t>
            </a:r>
            <a:r>
              <a:rPr lang="pl-PL" dirty="0"/>
              <a:t>=1.0"&gt;</a:t>
            </a:r>
          </a:p>
          <a:p>
            <a:pPr marL="0" indent="0">
              <a:buNone/>
            </a:pPr>
            <a:r>
              <a:rPr lang="pl-PL" dirty="0"/>
              <a:t>&lt;style&gt;</a:t>
            </a:r>
          </a:p>
          <a:p>
            <a:pPr marL="0" indent="0">
              <a:buNone/>
            </a:pPr>
            <a:r>
              <a:rPr lang="pl-PL" dirty="0"/>
              <a:t>body{</a:t>
            </a:r>
          </a:p>
          <a:p>
            <a:pPr marL="0" indent="0">
              <a:buNone/>
            </a:pPr>
            <a:r>
              <a:rPr lang="pl-PL" dirty="0"/>
              <a:t>	</a:t>
            </a:r>
            <a:r>
              <a:rPr lang="pl-PL" dirty="0" err="1"/>
              <a:t>background-color</a:t>
            </a:r>
            <a:r>
              <a:rPr lang="pl-PL" dirty="0"/>
              <a:t>: red;</a:t>
            </a:r>
          </a:p>
          <a:p>
            <a:pPr marL="0" indent="0">
              <a:buNone/>
            </a:pPr>
            <a:r>
              <a:rPr lang="pl-PL" dirty="0"/>
              <a:t>	}</a:t>
            </a:r>
          </a:p>
          <a:p>
            <a:pPr marL="0" indent="0">
              <a:buNone/>
            </a:pPr>
            <a:endParaRPr lang="pl-PL" dirty="0"/>
          </a:p>
          <a:p>
            <a:pPr marL="0" indent="0">
              <a:buNone/>
            </a:pPr>
            <a:r>
              <a:rPr lang="pl-PL" dirty="0"/>
              <a:t>@media </a:t>
            </a:r>
            <a:r>
              <a:rPr lang="pl-PL" dirty="0" err="1"/>
              <a:t>only</a:t>
            </a:r>
            <a:r>
              <a:rPr lang="pl-PL" dirty="0"/>
              <a:t> </a:t>
            </a:r>
            <a:r>
              <a:rPr lang="pl-PL" dirty="0" err="1"/>
              <a:t>screen</a:t>
            </a:r>
            <a:r>
              <a:rPr lang="pl-PL" dirty="0"/>
              <a:t> and (max-</a:t>
            </a:r>
            <a:r>
              <a:rPr lang="pl-PL" dirty="0" err="1"/>
              <a:t>width</a:t>
            </a:r>
            <a:r>
              <a:rPr lang="pl-PL" dirty="0"/>
              <a:t>: 500px){</a:t>
            </a:r>
          </a:p>
          <a:p>
            <a:pPr marL="0" indent="0">
              <a:buNone/>
            </a:pPr>
            <a:r>
              <a:rPr lang="pl-PL" dirty="0"/>
              <a:t>	body{</a:t>
            </a:r>
          </a:p>
          <a:p>
            <a:pPr marL="0" indent="0">
              <a:buNone/>
            </a:pPr>
            <a:r>
              <a:rPr lang="pl-PL" dirty="0"/>
              <a:t>		</a:t>
            </a:r>
            <a:r>
              <a:rPr lang="pl-PL" dirty="0" err="1"/>
              <a:t>background-color</a:t>
            </a:r>
            <a:r>
              <a:rPr lang="pl-PL" dirty="0"/>
              <a:t>: </a:t>
            </a:r>
            <a:r>
              <a:rPr lang="pl-PL" dirty="0" err="1"/>
              <a:t>blue</a:t>
            </a:r>
            <a:r>
              <a:rPr lang="pl-PL" dirty="0"/>
              <a:t>;</a:t>
            </a:r>
          </a:p>
          <a:p>
            <a:pPr marL="0" indent="0">
              <a:buNone/>
            </a:pPr>
            <a:r>
              <a:rPr lang="pl-PL" dirty="0"/>
              <a:t>		}</a:t>
            </a:r>
          </a:p>
          <a:p>
            <a:pPr marL="0" indent="0">
              <a:buNone/>
            </a:pPr>
            <a:r>
              <a:rPr lang="pl-PL" dirty="0"/>
              <a:t>}</a:t>
            </a:r>
          </a:p>
          <a:p>
            <a:pPr marL="0" indent="0">
              <a:buNone/>
            </a:pPr>
            <a:r>
              <a:rPr lang="pl-PL" dirty="0"/>
              <a:t>	&lt;/style&gt;</a:t>
            </a:r>
          </a:p>
          <a:p>
            <a:pPr marL="0" indent="0">
              <a:buNone/>
            </a:pPr>
            <a:r>
              <a:rPr lang="pl-PL" dirty="0"/>
              <a:t>&lt;/</a:t>
            </a:r>
            <a:r>
              <a:rPr lang="pl-PL" dirty="0" err="1"/>
              <a:t>head</a:t>
            </a:r>
            <a:r>
              <a:rPr lang="pl-PL" dirty="0"/>
              <a:t>&gt;</a:t>
            </a:r>
          </a:p>
          <a:p>
            <a:pPr marL="0" indent="0">
              <a:buNone/>
            </a:pPr>
            <a:r>
              <a:rPr lang="pl-PL" dirty="0"/>
              <a:t>&lt;body&gt;</a:t>
            </a:r>
          </a:p>
          <a:p>
            <a:pPr marL="0" indent="0">
              <a:buNone/>
            </a:pPr>
            <a:endParaRPr lang="pl-PL" dirty="0"/>
          </a:p>
          <a:p>
            <a:pPr marL="0" indent="0">
              <a:buNone/>
            </a:pPr>
            <a:r>
              <a:rPr lang="pl-PL" dirty="0"/>
              <a:t>&lt;p&gt;NASTĄPI ZMIANA KOLORU TŁA &lt;/p&gt;</a:t>
            </a:r>
          </a:p>
          <a:p>
            <a:pPr marL="0" indent="0">
              <a:buNone/>
            </a:pPr>
            <a:endParaRPr lang="pl-PL" dirty="0"/>
          </a:p>
          <a:p>
            <a:pPr marL="0" indent="0">
              <a:buNone/>
            </a:pPr>
            <a:r>
              <a:rPr lang="pl-PL" dirty="0"/>
              <a:t>&lt;/div&gt;</a:t>
            </a:r>
          </a:p>
          <a:p>
            <a:pPr marL="0" indent="0">
              <a:buNone/>
            </a:pPr>
            <a:endParaRPr lang="pl-PL" dirty="0"/>
          </a:p>
          <a:p>
            <a:pPr marL="0" indent="0">
              <a:buNone/>
            </a:pPr>
            <a:r>
              <a:rPr lang="pl-PL" dirty="0"/>
              <a:t>&lt;/body&gt;</a:t>
            </a:r>
          </a:p>
          <a:p>
            <a:pPr marL="0" indent="0">
              <a:buNone/>
            </a:pPr>
            <a:r>
              <a:rPr lang="pl-PL" dirty="0"/>
              <a:t>&lt;/</a:t>
            </a:r>
            <a:r>
              <a:rPr lang="pl-PL" dirty="0" err="1"/>
              <a:t>html</a:t>
            </a:r>
            <a:r>
              <a:rPr lang="pl-PL" dirty="0"/>
              <a:t>&gt;</a:t>
            </a:r>
          </a:p>
        </p:txBody>
      </p:sp>
    </p:spTree>
    <p:extLst>
      <p:ext uri="{BB962C8B-B14F-4D97-AF65-F5344CB8AC3E}">
        <p14:creationId xmlns:p14="http://schemas.microsoft.com/office/powerpoint/2010/main" val="262175171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lstStyle/>
          <a:p>
            <a:pPr marL="0" indent="0">
              <a:buNone/>
            </a:pPr>
            <a:r>
              <a:rPr lang="pl-PL" dirty="0"/>
              <a:t>Efektem działania powyższego kodu jest zmiana koloru tła strony gdy rozdzielczość okna przeglądarki zmniejszy się poniżej 500px.</a:t>
            </a:r>
          </a:p>
          <a:p>
            <a:pPr marL="0" indent="0">
              <a:buNone/>
            </a:pPr>
            <a:r>
              <a:rPr lang="pl-PL" dirty="0"/>
              <a:t>Strony wyświetlane na telefonach komórkowych powinny mieć inny układ niż strony wyświetlane na </a:t>
            </a:r>
            <a:r>
              <a:rPr lang="pl-PL"/>
              <a:t>ekranach monitorów.</a:t>
            </a:r>
          </a:p>
        </p:txBody>
      </p:sp>
    </p:spTree>
    <p:extLst>
      <p:ext uri="{BB962C8B-B14F-4D97-AF65-F5344CB8AC3E}">
        <p14:creationId xmlns:p14="http://schemas.microsoft.com/office/powerpoint/2010/main" val="234562702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lstStyle/>
          <a:p>
            <a:endParaRPr lang="pl-PL"/>
          </a:p>
        </p:txBody>
      </p:sp>
    </p:spTree>
    <p:extLst>
      <p:ext uri="{BB962C8B-B14F-4D97-AF65-F5344CB8AC3E}">
        <p14:creationId xmlns:p14="http://schemas.microsoft.com/office/powerpoint/2010/main" val="369465747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221EA5-2519-48C6-ABBE-95828383E16C}"/>
              </a:ext>
            </a:extLst>
          </p:cNvPr>
          <p:cNvSpPr>
            <a:spLocks noGrp="1"/>
          </p:cNvSpPr>
          <p:nvPr>
            <p:ph type="title"/>
          </p:nvPr>
        </p:nvSpPr>
        <p:spPr/>
        <p:txBody>
          <a:bodyPr/>
          <a:lstStyle/>
          <a:p>
            <a:r>
              <a:rPr lang="pl-PL" dirty="0"/>
              <a:t>Responsywny układ strony</a:t>
            </a:r>
          </a:p>
        </p:txBody>
      </p:sp>
      <p:sp>
        <p:nvSpPr>
          <p:cNvPr id="3" name="Symbol zastępczy zawartości 2">
            <a:extLst>
              <a:ext uri="{FF2B5EF4-FFF2-40B4-BE49-F238E27FC236}">
                <a16:creationId xmlns:a16="http://schemas.microsoft.com/office/drawing/2014/main" id="{3C93B7A5-A89E-4EB5-924F-62826E1A3A7E}"/>
              </a:ext>
            </a:extLst>
          </p:cNvPr>
          <p:cNvSpPr>
            <a:spLocks noGrp="1"/>
          </p:cNvSpPr>
          <p:nvPr>
            <p:ph idx="1"/>
          </p:nvPr>
        </p:nvSpPr>
        <p:spPr/>
        <p:txBody>
          <a:bodyPr/>
          <a:lstStyle/>
          <a:p>
            <a:endParaRPr lang="pl-PL"/>
          </a:p>
        </p:txBody>
      </p:sp>
    </p:spTree>
    <p:extLst>
      <p:ext uri="{BB962C8B-B14F-4D97-AF65-F5344CB8AC3E}">
        <p14:creationId xmlns:p14="http://schemas.microsoft.com/office/powerpoint/2010/main" val="839067735"/>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1990</TotalTime>
  <Words>7150</Words>
  <Application>Microsoft Office PowerPoint</Application>
  <PresentationFormat>Pokaz na ekranie (4:3)</PresentationFormat>
  <Paragraphs>979</Paragraphs>
  <Slides>159</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159</vt:i4>
      </vt:variant>
    </vt:vector>
  </HeadingPairs>
  <TitlesOfParts>
    <vt:vector size="163" baseType="lpstr">
      <vt:lpstr>Arial</vt:lpstr>
      <vt:lpstr>Calibri</vt:lpstr>
      <vt:lpstr>Wingdings</vt:lpstr>
      <vt:lpstr>Motyw pakietu Office</vt:lpstr>
      <vt:lpstr>Kaskadowe arkusze stylów CSS</vt:lpstr>
      <vt:lpstr>CSS - wprowadzenie</vt:lpstr>
      <vt:lpstr>Cechy języka CSS</vt:lpstr>
      <vt:lpstr>Podstawowa składnia kaskadowego arkusza stylów</vt:lpstr>
      <vt:lpstr>Podstawowa składnia kaskadowego arkusza stylów</vt:lpstr>
      <vt:lpstr>Reguły obowiązujące w składni kaskadowych arkuszy stylów</vt:lpstr>
      <vt:lpstr>Sposoby dołączania stylów</vt:lpstr>
      <vt:lpstr>Styl lokalny</vt:lpstr>
      <vt:lpstr>Znacznik span</vt:lpstr>
      <vt:lpstr>Znacznik div</vt:lpstr>
      <vt:lpstr>Wewnętrzny arkusz stylów</vt:lpstr>
      <vt:lpstr>Wewnętrzny arkusz stylów</vt:lpstr>
      <vt:lpstr>Zewnętrzny arkusz stylów</vt:lpstr>
      <vt:lpstr>Zewnętrzny arkusz stylów – przykład dołączenia stylu</vt:lpstr>
      <vt:lpstr>Zewnętrzny arkusz stylów – przykład pliku css</vt:lpstr>
      <vt:lpstr>Import arkusza stylów</vt:lpstr>
      <vt:lpstr>Kaskadowość arkuszy stylów</vt:lpstr>
      <vt:lpstr>Zmiana kaskadowości stylów</vt:lpstr>
      <vt:lpstr>Kaskadowość - przykład</vt:lpstr>
      <vt:lpstr>Zmiana kaskadowości - przykład</vt:lpstr>
      <vt:lpstr>Dziedziczenie w CSS</vt:lpstr>
      <vt:lpstr>Dziedziczenie – przykład</vt:lpstr>
      <vt:lpstr>Wartości stosowane w stylach CSS</vt:lpstr>
      <vt:lpstr>Wartości stosowane w stylach CSS</vt:lpstr>
      <vt:lpstr>Wartości stosowane w stylach CSS</vt:lpstr>
      <vt:lpstr>Wartości stosowane w stylach CSS</vt:lpstr>
      <vt:lpstr>Wartości kolorów w CSS</vt:lpstr>
      <vt:lpstr>Sposoby podawania kolorów w CSS</vt:lpstr>
      <vt:lpstr>Sposoby podawania kolorów w CSS</vt:lpstr>
      <vt:lpstr>Selektor uniwersalny</vt:lpstr>
      <vt:lpstr>Selektor potomka</vt:lpstr>
      <vt:lpstr>Selektor potomka - przykład</vt:lpstr>
      <vt:lpstr>Selektor potomka - przykład</vt:lpstr>
      <vt:lpstr>Selektor potomka - przykład</vt:lpstr>
      <vt:lpstr>Selektor dziecka</vt:lpstr>
      <vt:lpstr>Selektor dziecka - przykład</vt:lpstr>
      <vt:lpstr>Selektor dziecka - przykład</vt:lpstr>
      <vt:lpstr>Selektor sąsiadującego brata</vt:lpstr>
      <vt:lpstr>Selektor sąsiadującego brata - przykład</vt:lpstr>
      <vt:lpstr>Selektor sąsiadującego brata - przykład</vt:lpstr>
      <vt:lpstr>Selektor braci</vt:lpstr>
      <vt:lpstr>Selektor braci - przykład</vt:lpstr>
      <vt:lpstr>Selektor braci - przykład</vt:lpstr>
      <vt:lpstr>Selektory atrybutów</vt:lpstr>
      <vt:lpstr>Prezentacja programu PowerPoint</vt:lpstr>
      <vt:lpstr>Selektor atrybutów – efekt działania</vt:lpstr>
      <vt:lpstr>Selektor klasy</vt:lpstr>
      <vt:lpstr>Prezentacja programu PowerPoint</vt:lpstr>
      <vt:lpstr>Prezentacja programu PowerPoint</vt:lpstr>
      <vt:lpstr>Selektor klasy - zalety</vt:lpstr>
      <vt:lpstr>Selektor indentyfikatora</vt:lpstr>
      <vt:lpstr>Prezentacja programu PowerPoint</vt:lpstr>
      <vt:lpstr>Prezentacja programu PowerPoint</vt:lpstr>
      <vt:lpstr>Selektor pseudoklasy</vt:lpstr>
      <vt:lpstr>Selektor pseudoklasy</vt:lpstr>
      <vt:lpstr>Selektor pseudoklasy 13.html </vt:lpstr>
      <vt:lpstr>Inne selektory pseudoklasy</vt:lpstr>
      <vt:lpstr>Przykłady – selektory pseudoklasy przykład</vt:lpstr>
      <vt:lpstr>Przykłady – selektory pseudoklasy</vt:lpstr>
      <vt:lpstr>Przykłady – selektory pseudoklasy</vt:lpstr>
      <vt:lpstr>Przykłady – selektory pseudoklasy</vt:lpstr>
      <vt:lpstr>Formatowanie czcionki - CSS</vt:lpstr>
      <vt:lpstr>Formatowanie czcionki - CSS</vt:lpstr>
      <vt:lpstr>Wielkość czcionki</vt:lpstr>
      <vt:lpstr>Wielkość czcionki</vt:lpstr>
      <vt:lpstr>Wielkość czcionki</vt:lpstr>
      <vt:lpstr>Styl czcionki</vt:lpstr>
      <vt:lpstr>Wariant czcionki</vt:lpstr>
      <vt:lpstr>Waga czcionki</vt:lpstr>
      <vt:lpstr>Właściwość font</vt:lpstr>
      <vt:lpstr>Formatowanie tekstu</vt:lpstr>
      <vt:lpstr>Formatowanie tekstu</vt:lpstr>
      <vt:lpstr>Formatowanie tekstu</vt:lpstr>
      <vt:lpstr>Formatowanie tekstu</vt:lpstr>
      <vt:lpstr>Formatowanie tekstu</vt:lpstr>
      <vt:lpstr>Formatowanie tekstu – białe znaki</vt:lpstr>
      <vt:lpstr>Formatowanie tekstu – białe znaki</vt:lpstr>
      <vt:lpstr>Formatowanie tekstu – białe znaki</vt:lpstr>
      <vt:lpstr>Tło i kolor</vt:lpstr>
      <vt:lpstr>Tło i kolor</vt:lpstr>
      <vt:lpstr>Tło i kolor</vt:lpstr>
      <vt:lpstr>Tło i kolor</vt:lpstr>
      <vt:lpstr>Tło i kolor</vt:lpstr>
      <vt:lpstr>Tło i kolor</vt:lpstr>
      <vt:lpstr>Model blokowy CSS</vt:lpstr>
      <vt:lpstr>Model blokowy CSS</vt:lpstr>
      <vt:lpstr>Model blokowy CSS</vt:lpstr>
      <vt:lpstr>Model blokowy CSS</vt:lpstr>
      <vt:lpstr>Model blokowy CSS</vt:lpstr>
      <vt:lpstr>Model blokowy CSS</vt:lpstr>
      <vt:lpstr>Model blokowy CSS</vt:lpstr>
      <vt:lpstr>Model blokowy CSS</vt:lpstr>
      <vt:lpstr>Model blokowy CSS</vt:lpstr>
      <vt:lpstr>Model blokowy CSS – marginesy zewnętrzne</vt:lpstr>
      <vt:lpstr>Model blokowy CSS – marginesy zewnętrzne</vt:lpstr>
      <vt:lpstr>Model blokowy CSS – marginesy zewnętrzne</vt:lpstr>
      <vt:lpstr>Model blokowy CSS – marginesy wewnętrzne</vt:lpstr>
      <vt:lpstr>Model blokowy CSS – marginesy wewnętrzne</vt:lpstr>
      <vt:lpstr>Model blokowy CSS – marginesy wewnętrzne</vt:lpstr>
      <vt:lpstr>Model blokowy CSS – obrys</vt:lpstr>
      <vt:lpstr>Model blokowy CSS – obrys</vt:lpstr>
      <vt:lpstr>Model blokowy CSS – obrys</vt:lpstr>
      <vt:lpstr>Atrybuty związane z rozmiarem elementów</vt:lpstr>
      <vt:lpstr>Atrybuty związane z rozmiarem elementów</vt:lpstr>
      <vt:lpstr>Atrybuty związane z rozmiarem elementów</vt:lpstr>
      <vt:lpstr>Atrybuty związane z rozmiarem elementów</vt:lpstr>
      <vt:lpstr>Formatowanie list - CSS</vt:lpstr>
      <vt:lpstr>Formatowanie list - zdjęcie</vt:lpstr>
      <vt:lpstr>Tabele – formatowanie w CSS</vt:lpstr>
      <vt:lpstr>Tabele – formatowanie w CSS</vt:lpstr>
      <vt:lpstr>Tabele – formatowanie w CSS</vt:lpstr>
      <vt:lpstr>Tabele – formatowanie w CSS</vt:lpstr>
      <vt:lpstr>Tabele – formatowanie w CSS</vt:lpstr>
      <vt:lpstr>Tabele – formatowanie w CSS</vt:lpstr>
      <vt:lpstr>Tabele – formatowanie w CSS</vt:lpstr>
      <vt:lpstr>Pozycjonowanie w CSS</vt:lpstr>
      <vt:lpstr>Pozycjonowanie w CSS</vt:lpstr>
      <vt:lpstr>Pozycjonowanie w CSS</vt:lpstr>
      <vt:lpstr>Pozycjonowanie w CSS</vt:lpstr>
      <vt:lpstr>Pozycjonowanie w CSS</vt:lpstr>
      <vt:lpstr>Pozycjonowanie w CSS</vt:lpstr>
      <vt:lpstr>Pozycjonowanie w CSS</vt:lpstr>
      <vt:lpstr>Pozycjonowanie w CSS</vt:lpstr>
      <vt:lpstr>Przezroczystość w CSS</vt:lpstr>
      <vt:lpstr>Pozycjonowanie w CSS – 24.html</vt:lpstr>
      <vt:lpstr>Pozycjonowanie w CSS</vt:lpstr>
      <vt:lpstr>Pozycjonowanie w CSS</vt:lpstr>
      <vt:lpstr>Pozycjonowanie w CSS</vt:lpstr>
      <vt:lpstr>Sposoby wyświetlania elementów w CSS</vt:lpstr>
      <vt:lpstr>Sposoby wyświetlania elementów w CSS</vt:lpstr>
      <vt:lpstr>Sposoby wyświetlania elementów w CSS</vt:lpstr>
      <vt:lpstr>Menu rozwijane</vt:lpstr>
      <vt:lpstr>Menu rozwijane</vt:lpstr>
      <vt:lpstr>Menu rozwijane</vt:lpstr>
      <vt:lpstr>Menu rozwijane</vt:lpstr>
      <vt:lpstr>Menu rozwijane</vt:lpstr>
      <vt:lpstr>Menu rozwijane</vt:lpstr>
      <vt:lpstr>Menu rozwijane</vt:lpstr>
      <vt:lpstr>Szablon strony</vt:lpstr>
      <vt:lpstr>Szablon strony</vt:lpstr>
      <vt:lpstr>Szablon strony</vt:lpstr>
      <vt:lpstr>Szablon strony</vt:lpstr>
      <vt:lpstr>Szablon strony</vt:lpstr>
      <vt:lpstr>Szablon strony</vt:lpstr>
      <vt:lpstr>Szablon strony</vt:lpstr>
      <vt:lpstr>Szablon strony – efekt działania – bez CSS</vt:lpstr>
      <vt:lpstr>Szablon strony</vt:lpstr>
      <vt:lpstr>Szablon strony – plik CSS</vt:lpstr>
      <vt:lpstr>Szablon strony – plik CSS</vt:lpstr>
      <vt:lpstr>Szablon strony – plik CSS</vt:lpstr>
      <vt:lpstr>Szablon strony</vt:lpstr>
      <vt:lpstr>Responsywny układ strony</vt:lpstr>
      <vt:lpstr>Responsywny układ strony</vt:lpstr>
      <vt:lpstr>Responsywny układ strony</vt:lpstr>
      <vt:lpstr>Responsywny układ strony</vt:lpstr>
      <vt:lpstr>Responsywny układ strony</vt:lpstr>
      <vt:lpstr>Responsywny układ strony</vt:lpstr>
      <vt:lpstr>Responsywny układ strony</vt:lpstr>
      <vt:lpstr>Responsywny układ strony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Kaskadowe arkusze stylów CSS</dc:title>
  <dc:creator>Komp</dc:creator>
  <cp:lastModifiedBy>Mariusz Gogola</cp:lastModifiedBy>
  <cp:revision>207</cp:revision>
  <dcterms:created xsi:type="dcterms:W3CDTF">2018-11-06T10:49:06Z</dcterms:created>
  <dcterms:modified xsi:type="dcterms:W3CDTF">2024-10-07T13:32:00Z</dcterms:modified>
</cp:coreProperties>
</file>